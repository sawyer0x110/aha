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面积</c:v>
                </c:pt>
              </c:strCache>
            </c:strRef>
          </c:tx>
          <c:spPr>
            <a:solidFill>
              <a:srgbClr val="B11F4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格陵兰</c:v>
                  </c:pt>
                  <c:pt idx="1">
                    <c:v>非洲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2.166086</c:v>
                </c:pt>
                <c:pt idx="1">
                  <c:v>30.365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面积</c:v>
                </c:pt>
              </c:strCache>
            </c:strRef>
          </c:tx>
          <c:spPr>
            <a:solidFill>
              <a:srgbClr val="B11F4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格陵兰</c:v>
                  </c:pt>
                  <c:pt idx="1">
                    <c:v>非洲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2.166086</c:v>
                </c:pt>
                <c:pt idx="1">
                  <c:v>30.365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按引用的面积统计，非洲约为格陵兰的 14 倍。墨卡托地图越靠近两极放大越严重，因此看轮廓容易误判面积比例。
讲解重点：先区分对象与表示，再沿图中的关系解释变化。研究日期与版本沿用封存档案。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引用资料给出格陵兰 2,166,086 km²、非洲约 30,365,000 km²。它们支持约 14 倍的比较，而非轮廓装箱；本次研究未核验格陵兰官方 PDF 的正文。
材料支持：c-area
PROJ · spherical Mercator equations: https://raw.githubusercontent.com/OSGeo/PROJ/9.9/docs/source/operations/projections/merc.rst
Britannica · Africa: https://www.britannica.com/place/Africa
IndexMundi · Greenland area (2021 source page): https://www.indexmundi.com/greenland/area.html
Esri · Mercator properties: https://pro.arcgis.com/en/pro-app/3.6/help/mapping/properties/mercator.htm
Natural Earth · public-domain boundaries: https://www.naturalearthdata.com/about/terms-of-use/
Esri · Equal Earth: https://doc.esri.com/en/arcgis-pro/latest/help/mapping/properties/equal-earth.html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球面上的经线向两极汇聚，墨卡托图上的经线却始终等距，因此高纬地区东西方向被放大。为了保持局部角度，南北方向也要按相同的局部倍率拉伸。
材料支持：c-bridge, c-cause
PROJ · spherical Mercator equations: https://raw.githubusercontent.com/OSGeo/PROJ/9.9/docs/source/operations/projections/merc.rst
Britannica · Africa: https://www.britannica.com/place/Africa
IndexMundi · Greenland area (2021 source page): https://www.indexmundi.com/greenland/area.html
Esri · Mercator properties: https://pro.arcgis.com/en/pro-app/3.6/help/mapping/properties/mercator.htm
Natural Earth · public-domain boundaries: https://www.naturalearthdata.com/about/terms-of-use/
Esri · Equal Earth: https://doc.esri.com/en/arcgis-pro/latest/help/mapping/properties/equal-earth.html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以赤道比例为 1 的球面墨卡托为例，微小区域的线性倍率是纬度余弦的倒数，面积倍率是其平方。格陵兰跨越多个纬度，不能把局部四倍当成整国倍率。
材料支持：c-scale
PROJ · spherical Mercator equations: https://raw.githubusercontent.com/OSGeo/PROJ/9.9/docs/source/operations/projections/merc.rst
Britannica · Africa: https://www.britannica.com/place/Africa
IndexMundi · Greenland area (2021 source page): https://www.indexmundi.com/greenland/area.html
Esri · Mercator properties: https://pro.arcgis.com/en/pro-app/3.6/help/mapping/properties/mercator.htm
Natural Earth · public-domain boundaries: https://www.naturalearthdata.com/about/terms-of-use/
Esri · Equal Earth: https://doc.esri.com/en/arcgis-pro/latest/help/mapping/properties/equal-earth.html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对边界的所有顶点施加同一个三维旋转：球面面积保持不变，固定墨卡托图上的轮廓却会改变。Natural Earth 1:1.1 亿边界是公共领域概化数据，不是精密测量。
材料支持：c-motion, c-resource
PROJ · spherical Mercator equations: https://raw.githubusercontent.com/OSGeo/PROJ/9.9/docs/source/operations/projections/merc.rst
Britannica · Africa: https://www.britannica.com/place/Africa
IndexMundi · Greenland area (2021 source page): https://www.indexmundi.com/greenland/area.html
Esri · Mercator properties: https://pro.arcgis.com/en/pro-app/3.6/help/mapping/properties/mercator.htm
Natural Earth · public-domain boundaries: https://www.naturalearthdata.com/about/terms-of-use/
Esri · Equal Earth: https://doc.esri.com/en/arcgis-pro/latest/help/mapping/properties/equal-earth.html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墨卡托保留局部角度，把恒定罗盘航向的恒向线画成直线，但它通常不是最短路线；两极在无穷远，有限地图必须裁切。Equal Earth 保面积比例，却不保所有形状、角度和距离。
材料支持：c-navigation, c-poles, c-equal
PROJ · spherical Mercator equations: https://raw.githubusercontent.com/OSGeo/PROJ/9.9/docs/source/operations/projections/merc.rst
Britannica · Africa: https://www.britannica.com/place/Africa
IndexMundi · Greenland area (2021 source page): https://www.indexmundi.com/greenland/area.html
Esri · Mercator properties: https://pro.arcgis.com/en/pro-app/3.6/help/mapping/properties/mercator.htm
Natural Earth · public-domain boundaries: https://www.naturalearthdata.com/about/terms-of-use/
Esri · Equal Earth: https://doc.esri.com/en/arcgis-pro/latest/help/mapping/properties/equal-earth.html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用一个条件不同的新情形检查自己的解释，但本作品没有执行真人理解测试。
PROJ · spherical Mercator equations: https://raw.githubusercontent.com/OSGeo/PROJ/9.9/docs/source/operations/projections/merc.rst
Britannica · Africa: https://www.britannica.com/place/Africa
IndexMundi · Greenland area (2021 source page): https://www.indexmundi.com/greenland/area.html
Esri · Mercator properties: https://pro.arcgis.com/en/pro-app/3.6/help/mapping/properties/mercator.htm
Natural Earth · public-domain boundaries: https://www.naturalearthdata.com/about/terms-of-use/
Esri · Equal Earth: https://doc.esri.com/en/arcgis-pro/latest/help/mapping/properties/equal-earth.html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墨卡托地图为什么把格陵兰放大了？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62910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研究快照：2026-09-16 / 17；本作品不冒充新实测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018520" y="625449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按引用的面积统计，非洲约为格陵兰的 14 倍。墨卡托地图越靠近两极放大越严重，因此看轮廓容易误判面积比例。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68680" y="2606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面积／百万平方千米</a:t>
            </a:r>
            <a:endParaRPr lang="en-US" sz="1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77240" y="2743200"/>
          <a:ext cx="73152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458200" y="31089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11F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14 倍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8458200" y="4069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统计面积比较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不是轮廓装箱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640080" y="546811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球面墨卡托；局部倍率不是整国倍率。概化边界的计算面积不替代统计面积。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14 倍，不是装进 14 个轮廓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62910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 / Britannica / IndexMundi / Esri / Natural Earth / Esri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018520" y="625449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463040"/>
            <a:ext cx="107899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引用资料给出格陵兰 2,166,086 km²、非洲约 30,365,000 km²。它们支持约 14 倍的比较，而非轮廓装箱；本次研究未核验格陵兰官方 PDF 的正文。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68680" y="2606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面积／百万平方千米</a:t>
            </a:r>
            <a:endParaRPr lang="en-US" sz="1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77240" y="2743200"/>
          <a:ext cx="73152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458200" y="31089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11F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14 倍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8458200" y="4069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统计面积比较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不是轮廓装箱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640080" y="546811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球面墨卡托；局部倍率不是整国倍率。概化边界的计算面积不替代统计面积。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同样的经度间隔，不是同样的地面距离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62910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 / Britannica / IndexMundi / Esri / Natural Earth / Esri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018520" y="625449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463040"/>
            <a:ext cx="107899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球面上的经线向两极汇聚，墨卡托图上的经线却始终等距，因此高纬地区东西方向被放大。为了保持局部角度，南北方向也要按相同的局部倍率拉伸。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2926080"/>
            <a:ext cx="4389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1919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2999232"/>
            <a:ext cx="409651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球面：经线汇聚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492240" y="2926080"/>
            <a:ext cx="4663440" cy="777240"/>
          </a:xfrm>
          <a:prstGeom prst="rect">
            <a:avLst/>
          </a:prstGeom>
          <a:solidFill>
            <a:srgbClr val="F4E3E8"/>
          </a:solidFill>
          <a:ln w="12700">
            <a:solidFill>
              <a:srgbClr val="91919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38544" y="2999232"/>
            <a:ext cx="437083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墨卡托：经线等距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394960" y="3310128"/>
            <a:ext cx="868680" cy="0"/>
          </a:xfrm>
          <a:prstGeom prst="line">
            <a:avLst/>
          </a:prstGeom>
          <a:noFill/>
          <a:ln w="31750">
            <a:solidFill>
              <a:srgbClr val="B11F4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1005840" y="40233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同样经度差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高纬地面距离更短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6675120" y="40233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东西拉伸更多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南北同倍率以保局部角度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640080" y="546811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球面墨卡托；局部倍率不是整国倍率。概化边界的计算面积不替代统计面积。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60° 附近：两方向各两倍，面积四倍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62910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 / Britannica / IndexMundi / Esri / Natural Earth / Esri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018520" y="625449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463040"/>
            <a:ext cx="107899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以赤道比例为 1 的球面墨卡托为例，微小区域的线性倍率是纬度余弦的倒数，面积倍率是其平方。格陵兰跨越多个纬度，不能把局部四倍当成整国倍率。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280160" y="3337560"/>
            <a:ext cx="960120" cy="960120"/>
          </a:xfrm>
          <a:prstGeom prst="rect">
            <a:avLst/>
          </a:prstGeom>
          <a:solidFill>
            <a:srgbClr val="F4E3E8"/>
          </a:solidFill>
          <a:ln w="12700">
            <a:solidFill>
              <a:srgbClr val="91919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5262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赤道：1 × 1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83280" y="3822192"/>
            <a:ext cx="1188720" cy="0"/>
          </a:xfrm>
          <a:prstGeom prst="line">
            <a:avLst/>
          </a:prstGeom>
          <a:noFill/>
          <a:ln w="31750">
            <a:solidFill>
              <a:srgbClr val="B11F4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486400" y="2834640"/>
            <a:ext cx="1920240" cy="1920240"/>
          </a:xfrm>
          <a:prstGeom prst="rect">
            <a:avLst/>
          </a:prstGeom>
          <a:solidFill>
            <a:srgbClr val="F4E3E8"/>
          </a:solidFill>
          <a:ln w="12700">
            <a:solidFill>
              <a:srgbClr val="91919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12080" y="48920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60°：2 × 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29600" y="33832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局部面积 4 倍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40080" y="546811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球面墨卡托；局部倍率不是整国倍率。概化边界的计算面积不替代统计面积。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在球面上移动土地，而不是缩小图片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62910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 / Britannica / IndexMundi / Esri / Natural Earth / Esri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018520" y="625449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463040"/>
            <a:ext cx="107899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对边界的所有顶点施加同一个三维旋转：球面面积保持不变，固定墨卡托图上的轮廓却会改变。Natural Earth 1:1.1 亿边界是公共领域概化数据，不是精密测量。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2971800"/>
            <a:ext cx="42062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1919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3044952"/>
            <a:ext cx="391363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同一个球面区域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5212080" y="3355848"/>
            <a:ext cx="914400" cy="0"/>
          </a:xfrm>
          <a:prstGeom prst="line">
            <a:avLst/>
          </a:prstGeom>
          <a:noFill/>
          <a:ln w="31750">
            <a:solidFill>
              <a:srgbClr val="B11F4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309360" y="2971800"/>
            <a:ext cx="4846320" cy="777240"/>
          </a:xfrm>
          <a:prstGeom prst="rect">
            <a:avLst/>
          </a:prstGeom>
          <a:solidFill>
            <a:srgbClr val="F4E3E8"/>
          </a:solidFill>
          <a:ln w="12700">
            <a:solidFill>
              <a:srgbClr val="91919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55664" y="3044952"/>
            <a:ext cx="455371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统一三维旋转</a:t>
            </a:r>
            <a:endParaRPr lang="en-US" sz="2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4069080"/>
          <a:ext cx="10332720" cy="914400"/>
        </p:xfrm>
        <a:graphic>
          <a:graphicData uri="http://schemas.openxmlformats.org/drawingml/2006/table">
            <a:tbl>
              <a:tblPr/>
              <a:tblGrid>
                <a:gridCol w="5166360"/>
                <a:gridCol w="5166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保持不变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重新投影后改变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球面土地面积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固定墨卡托图上的面积与轮廓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40080" y="546811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球面墨卡托；局部倍率不是整国倍率。概化边界的计算面积不替代统计面积。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先问地图要保留什么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62910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 / Britannica / IndexMundi / Esri / Natural Earth / Esri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018520" y="625449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463040"/>
            <a:ext cx="107899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墨卡托保留局部角度，把恒定罗盘航向的恒向线画成直线，但它通常不是最短路线；两极在无穷远，有限地图必须裁切。Equal Earth 保面积比例，却不保所有形状、角度和距离。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971800"/>
          <a:ext cx="10698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  <a:gridCol w="4114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投影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保留的性质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不能据此保证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普通墨卡托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局部角度；恒向线为直线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面积；最短路线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Equal Earth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区域面积比例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424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所有形状、角度、距离</a:t>
                      </a:r>
                      <a:endParaRPr lang="en-US" sz="1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46304" marR="146304" marT="109728" marB="109728" anchor="ctr">
                    <a:lnL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191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46811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球面墨卡托；局部倍率不是整国倍率。概化边界的计算面积不替代统计面积。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回到最初的问题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62910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完整依据与来源范围见同目录 research/report.md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018520" y="625449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按引用的面积统计，非洲约为格陵兰的 14 倍。墨卡托地图越靠近两极放大越严重，因此看轮廓容易误判面积比例。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77240" y="3017520"/>
            <a:ext cx="10607040" cy="777240"/>
          </a:xfrm>
          <a:prstGeom prst="rect">
            <a:avLst/>
          </a:prstGeom>
          <a:solidFill>
            <a:srgbClr val="F4E3E8"/>
          </a:solidFill>
          <a:ln w="12700">
            <a:solidFill>
              <a:srgbClr val="91919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23544" y="3090672"/>
            <a:ext cx="1031443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把土地面积与地图上的面积分开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68680" y="416052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424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球面墨卡托；局部倍率不是整国倍率。概化边界的计算面积不替代统计面积。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" y="53035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5C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来源：PROJ；Britannica；IndexMundi；Esri；Natural Earth；Esri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墨卡托地图为什么把格陵兰放大了？</dc:title>
  <dc:subject>墨卡托地图为什么把格陵兰放大了？</dc:subject>
  <dc:creator>Aha</dc:creator>
  <cp:lastModifiedBy>Aha</cp:lastModifiedBy>
  <cp:revision>1</cp:revision>
  <dcterms:created xsi:type="dcterms:W3CDTF">2026-09-22T09:46:59Z</dcterms:created>
  <dcterms:modified xsi:type="dcterms:W3CDTF">2026-09-22T09:46:59Z</dcterms:modified>
</cp:coreProperties>
</file>