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面积（百万平方公里）</c:v>
                </c:pt>
              </c:strCache>
            </c:strRef>
          </c:tx>
          <c:spPr>
            <a:solidFill>
              <a:srgbClr val="176C70"/>
            </a:solidFill>
            <a:effectLst/>
          </c:spPr>
          <c:invertIfNegative val="0"/>
          <c:dLbls>
            <c:numFmt formatCode="0.##" sourceLinked="0"/>
            <c:txPr>
              <a:bodyPr/>
              <a:lstStyle/>
              <a:p>
                <a:pPr>
                  <a:defRPr b="0" i="0" strike="noStrike" sz="1800" u="none">
                    <a:solidFill>
                      <a:srgbClr val="183D4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格陵兰</c:v>
                  </c:pt>
                  <c:pt idx="1">
                    <c:v>非洲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2.17</c:v>
                </c:pt>
                <c:pt idx="1">
                  <c:v>30.4</c:v>
                </c:pt>
              </c:numCache>
            </c:numRef>
          </c:val>
        </c:ser>
        <c:dLbls>
          <c:numFmt formatCode="0.##" sourceLinked="0"/>
          <c:txPr>
            <a:bodyPr/>
            <a:lstStyle/>
            <a:p>
              <a:pPr>
                <a:defRPr b="0" i="0" strike="noStrike" sz="1800" u="none">
                  <a:solidFill>
                    <a:srgbClr val="183D4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92A7A2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rgbClr val="183D43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12700" cap="flat">
              <a:solidFill>
                <a:srgbClr val="D5DE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92A7A2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2696B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问听众：图上占据的面积，是否就是地球上的真实面积？直接回答不是。本作品针对普通墨卡托的高纬放大，不把现象推广到所有世界地图。下一页用共同坐标轴比较公布面积。不要把“14倍”解释成14个轮廓可以无重叠装进非洲。
来源（研究材料所列）：
Esri ArcGIS Pro 3.6: Mercator
https://pro.arcgis.com/en/pro-app/3.6/help/mapping/properties/mercator.htm
IndexMundi: Greenland Area
https://www.indexmundi.com/greenland/area.html
Britannica: Africa
https://www.britannica.com/place/Africa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指共同的零点，再比较两条柱的长度；不能用图上轮廓的大小代替真实面积。图中约数为2.17与30.4百万平方公里。冻结材料原值分别为2,166,086和约30,365,000平方公里，比值约14.018，因此只讲约14倍。两者均在同一条从零开始的线性坐标轴上比较。材料中的官方格陵兰2026 PDF正文提取失败，不能声称官方正文已核验；详见第7页。
来源（研究材料所列）：
IndexMundi: Greenland Area
https://www.indexmundi.com/greenland/area.html
Britannica: Africa
https://www.britannica.com/place/Africa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左侧球面讲起：经线向极点汇聚，因此相同经度差对应的东西距离变短。右图把经线仍画为等距直线，相对于地球上的距离，高纬的东西方向就放大更多。墨卡托为保持局部角度，南北方向必须匹配这一放大。两幅图均为原生形状的定性关系示意，不是真实地理底图，不可读取纬度数值或测量面积。右图仅示意北半球一段；纬线位置未按实际投影坐标计算。
来源（研究材料所列）：
PROJ: Mercator documentation
https://raw.githubusercontent.com/OSGeo/PROJ/9.9/docs/source/operations/projections/merc.rst
Esri ArcGIS Pro 3.6: Mercator
https://pro.arcgis.com/en/pro-app/3.6/help/mapping/properties/mercator.htm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指赤道基准的1份，再指右侧2乘2的四格。这里比较的是同样大小的微小地表区域投影后的局部尺度。球面墨卡托的局部线性倍率为纬度余弦的倒数，局部面积倍率为其平方；60度的余弦为二分之一。这是从冻结材料中的PROJ公式推导的数学例子，不是实测整个国家的倍率。非洲同样跨越不同纬度，也不能用单个纬度代表整个大陆。
来源（研究材料所列）：
PROJ: Mercator documentation
https://raw.githubusercontent.com/OSGeo/PROJ/9.9/docs/source/operations/projections/merc.rst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投影描述为画错了，而应询问它优先保留了什么。局部保角只针对无穷小范围，并不是整个大陆的形状和面积都不变。恒向线是保持罗盘航向的路线，但通常不是最短路线，本页不是实际航海指导。两极在墨卡托公式中对应无穷远，因此实际有限画面需要裁切；本作品不指定通用的裁切纬度。冻结材料还指出Web Mercator把椭球纬度代入球面公式，严格性质不同于普通椭球墨卡托，不能直接混用其保角结论。
来源（研究材料所列）：
Esri ArcGIS Pro 3.6: Mercator
https://pro.arcgis.com/en/pro-app/3.6/help/mapping/properties/mercator.htm
PROJ: Mercator documentation
https://raw.githubusercontent.com/OSGeo/PROJ/9.9/docs/source/operations/projections/merc.rst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按行讲，不逐格朗读：面积行回答本次问题，角度行解释墨卡托为何仍有用途，最后一行提醒所有平面投影都要取舍。Equal Earth的等面积属性保留面积比例，但不能推导出形状、角度、方向或距离也准确。最后回到格陵兰与非洲：比较谁的真实面积更大，应读面积数据或使用等面积投影，而不是用墨卡托图上的面积判断。
来源（研究材料所列）：
Britannica: Map projections
https://www.britannica.com/science/map/Map-projections
Esri: Equal Earth
https://doc.esri.com/en/arcgis-pro/latest/help/mapping/properties/equal-earth.html
Esri ArcGIS Pro 3.6: Mercator
https://pro.arcgis.com/en/pro-app/3.6/help/mapping/properties/mercator.htm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尾请听众完整说出两个结论：一是格陵兰在普通墨卡托上被高纬放大；二是非洲的真实面积约为格陵兰的14倍。接着用任务选择地图：若关注面积比例，等面积投影比墨卡托合适，但并非全能。官方PDF正文缺口以及来源测量口径差异决定了这里应使用约数。若听众把“14倍”理解为轮廓装箱，回到第2页的同尺度条形图，强调比较的是公布面积之比。
来源（研究材料所列）：
IndexMundi: Greenland Area
https://www.indexmundi.com/greenland/area.html
Britannica: Africa
https://www.britannica.com/place/Africa
PROJ: Mercator documentation
https://raw.githubusercontent.com/OSGeo/PROJ/9.9/docs/source/operations/projections/merc.rst
Esri ArcGIS Pro 3.6: Mercator
https://pro.arcgis.com/en/pro-app/3.6/help/mapping/properties/mercator.htm
Britannica: Map projections
https://www.britannica.com/science/map/Map-projections
Esri: Equal Earth
https://doc.esri.com/en/arcgis-pro/latest/help/mapping/properties/equal-earth.html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spc="110" kern="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读懂世界地图 · 先把“看起来”与“实际”分开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格陵兰为什么在某些世界地图上显得巨大？</a:t>
            </a:r>
            <a:endParaRPr lang="zh-CN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4593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 9.9 墨卡托公式；Esri ArcGIS Pro 3.6《墨卡托》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6336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7</a:t>
            </a:r>
            <a:endParaRPr lang="zh-CN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629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31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因为墨卡托投影越靠近两极，</a:t>
            </a:r>
            <a:endParaRPr lang="zh-CN" sz="3100" dirty="0"/>
          </a:p>
          <a:p>
            <a:pPr indent="0" marL="0">
              <a:buNone/>
            </a:pPr>
            <a:r>
              <a:rPr lang="zh-CN" altLang="en-US" sz="31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放大越严重。</a:t>
            </a:r>
            <a:endParaRPr lang="zh-CN" sz="31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6675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格陵兰位于高纬度，所以纸上的面积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会显得不成比例；这不是所有地图的共同问题。</a:t>
            </a:r>
            <a:endParaRPr lang="zh-CN" sz="2200" dirty="0"/>
          </a:p>
        </p:txBody>
      </p:sp>
      <p:sp>
        <p:nvSpPr>
          <p:cNvPr id="8" name="Shape 6"/>
          <p:cNvSpPr/>
          <p:nvPr/>
        </p:nvSpPr>
        <p:spPr>
          <a:xfrm>
            <a:off x="7909560" y="2011680"/>
            <a:ext cx="3611880" cy="3429000"/>
          </a:xfrm>
          <a:prstGeom prst="rect">
            <a:avLst/>
          </a:prstGeom>
          <a:solidFill>
            <a:srgbClr val="183D43"/>
          </a:solidFill>
          <a:ln w="12700">
            <a:solidFill>
              <a:srgbClr val="183D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0" y="23500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真实面积相比</a:t>
            </a:r>
            <a:endParaRPr lang="zh-CN" sz="2000" dirty="0"/>
          </a:p>
        </p:txBody>
      </p:sp>
      <p:sp>
        <p:nvSpPr>
          <p:cNvPr id="10" name="Text 8"/>
          <p:cNvSpPr/>
          <p:nvPr/>
        </p:nvSpPr>
        <p:spPr>
          <a:xfrm>
            <a:off x="8229600" y="3026664"/>
            <a:ext cx="29718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4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约14倍</a:t>
            </a:r>
            <a:endParaRPr lang="zh-CN" sz="4700" dirty="0"/>
          </a:p>
        </p:txBody>
      </p:sp>
      <p:sp>
        <p:nvSpPr>
          <p:cNvPr id="11" name="Text 9"/>
          <p:cNvSpPr/>
          <p:nvPr/>
        </p:nvSpPr>
        <p:spPr>
          <a:xfrm>
            <a:off x="8229600" y="4261104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非洲 ÷ 格陵兰</a:t>
            </a:r>
            <a:endParaRPr lang="zh-CN" sz="2200" dirty="0"/>
          </a:p>
        </p:txBody>
      </p:sp>
      <p:sp>
        <p:nvSpPr>
          <p:cNvPr id="12" name="Text 10"/>
          <p:cNvSpPr/>
          <p:nvPr/>
        </p:nvSpPr>
        <p:spPr>
          <a:xfrm>
            <a:off x="640080" y="551383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5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面积来源：IndexMundi、Britannica；使用约数。</a:t>
            </a:r>
            <a:endParaRPr lang="zh-CN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spc="110" kern="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真实面积 · 同一尺度才可比较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非洲的真实面积约为格陵兰的14倍</a:t>
            </a:r>
            <a:endParaRPr lang="zh-CN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4593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IndexMundi《格陵兰面积》（页面更新于2021年）；Britannica《非洲》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6336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7</a:t>
            </a:r>
            <a:endParaRPr lang="zh-CN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56232"/>
            <a:ext cx="7132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面积（百万平方公里，约数）</a:t>
            </a:r>
            <a:endParaRPr lang="zh-CN" sz="1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640080" y="2450592"/>
          <a:ext cx="736092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339328" y="2249424"/>
            <a:ext cx="3200400" cy="3584448"/>
          </a:xfrm>
          <a:prstGeom prst="rect">
            <a:avLst/>
          </a:prstGeom>
          <a:solidFill>
            <a:srgbClr val="F0E0D0"/>
          </a:solidFill>
          <a:ln w="12700">
            <a:solidFill>
              <a:srgbClr val="F0E0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13648" y="25603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A04C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读数的边界</a:t>
            </a:r>
            <a:endParaRPr lang="zh-CN" sz="2300" dirty="0"/>
          </a:p>
        </p:txBody>
      </p:sp>
      <p:sp>
        <p:nvSpPr>
          <p:cNvPr id="10" name="Text 7"/>
          <p:cNvSpPr/>
          <p:nvPr/>
        </p:nvSpPr>
        <p:spPr>
          <a:xfrm>
            <a:off x="8613648" y="3227832"/>
            <a:ext cx="26517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格陵兰总面积包括冰盖，</a:t>
            </a:r>
            <a:endParaRPr lang="zh-CN" sz="1900" dirty="0"/>
          </a:p>
          <a:p>
            <a:pPr indent="0" marL="0">
              <a:buNone/>
            </a:pPr>
            <a:r>
              <a:rPr lang="zh-CN" altLang="en-US" sz="19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不是只算无冰区。</a:t>
            </a:r>
            <a:endParaRPr lang="zh-CN" sz="1900" dirty="0"/>
          </a:p>
          <a:p>
            <a:pPr indent="0" marL="0">
              <a:buNone/>
            </a:pPr>
            <a:endParaRPr lang="zh-CN" sz="1900" dirty="0"/>
          </a:p>
          <a:p>
            <a:pPr indent="0" marL="0">
              <a:buNone/>
            </a:pPr>
            <a:r>
              <a:rPr lang="zh-CN" altLang="en-US" sz="19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两地数字并非出自</a:t>
            </a:r>
            <a:endParaRPr lang="zh-CN" sz="1900" dirty="0"/>
          </a:p>
          <a:p>
            <a:pPr indent="0" marL="0">
              <a:buNone/>
            </a:pPr>
            <a:r>
              <a:rPr lang="zh-CN" altLang="en-US" sz="19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统一的测量流程。</a:t>
            </a:r>
            <a:endParaRPr lang="zh-CN" sz="1900" dirty="0"/>
          </a:p>
        </p:txBody>
      </p:sp>
      <p:sp>
        <p:nvSpPr>
          <p:cNvPr id="11" name="Text 8"/>
          <p:cNvSpPr/>
          <p:nvPr/>
        </p:nvSpPr>
        <p:spPr>
          <a:xfrm>
            <a:off x="8613648" y="5084064"/>
            <a:ext cx="265176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b="1" dirty="0">
                <a:solidFill>
                  <a:srgbClr val="A04C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“约14倍”是面积比，</a:t>
            </a:r>
            <a:endParaRPr lang="zh-CN" sz="1700" dirty="0"/>
          </a:p>
          <a:p>
            <a:pPr indent="0" marL="0">
              <a:buNone/>
            </a:pPr>
            <a:r>
              <a:rPr lang="zh-CN" altLang="en-US" sz="1700" b="1" dirty="0">
                <a:solidFill>
                  <a:srgbClr val="A04C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不是轮廓装箱结论。</a:t>
            </a:r>
            <a:endParaRPr lang="zh-CN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spc="110" kern="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投影机制 · 从球面到平面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经线在球面汇聚，在墨卡托图上却保持等距</a:t>
            </a:r>
            <a:endParaRPr lang="zh-CN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4593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 9.9 墨卡托公式；Esri ArcGIS Pro 3.6《墨卡托》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6336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7</a:t>
            </a:r>
            <a:endParaRPr lang="zh-CN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8928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球面：同一经度差，越往高纬越窄</a:t>
            </a:r>
            <a:endParaRPr lang="zh-CN" sz="2100" dirty="0"/>
          </a:p>
        </p:txBody>
      </p:sp>
      <p:sp>
        <p:nvSpPr>
          <p:cNvPr id="7" name="Text 5"/>
          <p:cNvSpPr/>
          <p:nvPr/>
        </p:nvSpPr>
        <p:spPr>
          <a:xfrm>
            <a:off x="6492240" y="1892808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图上：经线等距，高纬就被拉宽</a:t>
            </a:r>
            <a:endParaRPr lang="zh-CN" sz="2100" dirty="0"/>
          </a:p>
        </p:txBody>
      </p:sp>
      <p:sp>
        <p:nvSpPr>
          <p:cNvPr id="8" name="Shape 6"/>
          <p:cNvSpPr/>
          <p:nvPr/>
        </p:nvSpPr>
        <p:spPr>
          <a:xfrm>
            <a:off x="1124712" y="2642616"/>
            <a:ext cx="3108960" cy="2743200"/>
          </a:xfrm>
          <a:prstGeom prst="ellipse">
            <a:avLst/>
          </a:prstGeom>
          <a:solidFill>
            <a:srgbClr val="DCECE6"/>
          </a:solidFill>
          <a:ln w="25400">
            <a:solidFill>
              <a:srgbClr val="176C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65376" y="2642616"/>
            <a:ext cx="1627632" cy="2743200"/>
          </a:xfrm>
          <a:prstGeom prst="ellipse">
            <a:avLst/>
          </a:prstGeom>
          <a:solidFill>
            <a:srgbClr val="DCECE6">
              <a:alpha val="0"/>
            </a:srgbClr>
          </a:solidFill>
          <a:ln w="25400">
            <a:solidFill>
              <a:srgbClr val="176C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79192" y="2642616"/>
            <a:ext cx="0" cy="2743200"/>
          </a:xfrm>
          <a:prstGeom prst="line">
            <a:avLst/>
          </a:prstGeom>
          <a:noFill/>
          <a:ln w="25400">
            <a:solidFill>
              <a:srgbClr val="176C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44752" y="3191256"/>
            <a:ext cx="2468880" cy="0"/>
          </a:xfrm>
          <a:prstGeom prst="line">
            <a:avLst/>
          </a:prstGeom>
          <a:noFill/>
          <a:ln w="38100">
            <a:solidFill>
              <a:srgbClr val="A04C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24712" y="4014216"/>
            <a:ext cx="3108960" cy="0"/>
          </a:xfrm>
          <a:prstGeom prst="line">
            <a:avLst/>
          </a:prstGeom>
          <a:noFill/>
          <a:ln w="38100">
            <a:solidFill>
              <a:srgbClr val="A04C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25112" y="2962656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A04C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高纬</a:t>
            </a:r>
            <a:endParaRPr lang="zh-CN" sz="1700" dirty="0"/>
          </a:p>
        </p:txBody>
      </p:sp>
      <p:sp>
        <p:nvSpPr>
          <p:cNvPr id="14" name="Text 12"/>
          <p:cNvSpPr/>
          <p:nvPr/>
        </p:nvSpPr>
        <p:spPr>
          <a:xfrm>
            <a:off x="4325112" y="379476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A04C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</a:t>
            </a:r>
            <a:endParaRPr lang="zh-CN" sz="1700" dirty="0"/>
          </a:p>
        </p:txBody>
      </p:sp>
      <p:sp>
        <p:nvSpPr>
          <p:cNvPr id="15" name="Shape 13"/>
          <p:cNvSpPr/>
          <p:nvPr/>
        </p:nvSpPr>
        <p:spPr>
          <a:xfrm>
            <a:off x="5504688" y="3456432"/>
            <a:ext cx="530352" cy="630936"/>
          </a:xfrm>
          <a:prstGeom prst="chevron">
            <a:avLst/>
          </a:prstGeom>
          <a:solidFill>
            <a:srgbClr val="176C70"/>
          </a:solidFill>
          <a:ln w="12700">
            <a:solidFill>
              <a:srgbClr val="176C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0" y="2651760"/>
            <a:ext cx="3017520" cy="2734056"/>
          </a:xfrm>
          <a:prstGeom prst="rect">
            <a:avLst/>
          </a:prstGeom>
          <a:solidFill>
            <a:srgbClr val="DCECE6"/>
          </a:solidFill>
          <a:ln w="12700">
            <a:solidFill>
              <a:srgbClr val="176C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49440" y="2651760"/>
            <a:ext cx="0" cy="2734056"/>
          </a:xfrm>
          <a:prstGeom prst="line">
            <a:avLst/>
          </a:prstGeom>
          <a:noFill/>
          <a:ln w="25400">
            <a:solidFill>
              <a:srgbClr val="176C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0" y="2651760"/>
            <a:ext cx="0" cy="2734056"/>
          </a:xfrm>
          <a:prstGeom prst="line">
            <a:avLst/>
          </a:prstGeom>
          <a:noFill/>
          <a:ln w="25400">
            <a:solidFill>
              <a:srgbClr val="176C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961120" y="2651760"/>
            <a:ext cx="0" cy="2734056"/>
          </a:xfrm>
          <a:prstGeom prst="line">
            <a:avLst/>
          </a:prstGeom>
          <a:noFill/>
          <a:ln w="25400">
            <a:solidFill>
              <a:srgbClr val="176C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66960" y="2651760"/>
            <a:ext cx="0" cy="2734056"/>
          </a:xfrm>
          <a:prstGeom prst="line">
            <a:avLst/>
          </a:prstGeom>
          <a:noFill/>
          <a:ln w="25400">
            <a:solidFill>
              <a:srgbClr val="176C7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3017520"/>
            <a:ext cx="3017520" cy="0"/>
          </a:xfrm>
          <a:prstGeom prst="line">
            <a:avLst/>
          </a:prstGeom>
          <a:noFill/>
          <a:ln w="25400">
            <a:solidFill>
              <a:srgbClr val="A04C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4078224"/>
            <a:ext cx="3017520" cy="0"/>
          </a:xfrm>
          <a:prstGeom prst="line">
            <a:avLst/>
          </a:prstGeom>
          <a:noFill/>
          <a:ln w="25400">
            <a:solidFill>
              <a:srgbClr val="A04C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949440" y="4626864"/>
            <a:ext cx="3017520" cy="0"/>
          </a:xfrm>
          <a:prstGeom prst="line">
            <a:avLst/>
          </a:prstGeom>
          <a:noFill/>
          <a:ln w="25400">
            <a:solidFill>
              <a:srgbClr val="A04C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0" y="5093208"/>
            <a:ext cx="3017520" cy="0"/>
          </a:xfrm>
          <a:prstGeom prst="line">
            <a:avLst/>
          </a:prstGeom>
          <a:noFill/>
          <a:ln w="25400">
            <a:solidFill>
              <a:srgbClr val="A04C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77272" y="281635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A04C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高纬</a:t>
            </a:r>
            <a:endParaRPr lang="zh-CN" sz="1700" dirty="0"/>
          </a:p>
        </p:txBody>
      </p:sp>
      <p:sp>
        <p:nvSpPr>
          <p:cNvPr id="26" name="Text 24"/>
          <p:cNvSpPr/>
          <p:nvPr/>
        </p:nvSpPr>
        <p:spPr>
          <a:xfrm>
            <a:off x="10177272" y="488289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A04C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</a:t>
            </a:r>
            <a:endParaRPr lang="zh-CN" sz="1700" dirty="0"/>
          </a:p>
        </p:txBody>
      </p:sp>
      <p:sp>
        <p:nvSpPr>
          <p:cNvPr id="27" name="Text 25"/>
          <p:cNvSpPr/>
          <p:nvPr/>
        </p:nvSpPr>
        <p:spPr>
          <a:xfrm>
            <a:off x="640080" y="55686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为保留局部角度，南北方向也要同步拉伸；高纬的纬线间距因此增大。</a:t>
            </a:r>
            <a:endParaRPr lang="zh-CN" sz="1900" dirty="0"/>
          </a:p>
        </p:txBody>
      </p:sp>
      <p:sp>
        <p:nvSpPr>
          <p:cNvPr id="29" name="Text 26"/>
          <p:cNvSpPr/>
          <p:nvPr/>
        </p:nvSpPr>
        <p:spPr>
          <a:xfrm>
            <a:off x="640080" y="6071616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1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关系示意，非真实地图；右图仅示意北半球一段，线条位置不可用于测量。</a:t>
            </a:r>
            <a:endParaRPr lang="zh-CN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spc="110" kern="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局部例子 · 球面墨卡托，赤道比例设为1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纬度60°附近：宽约2倍，高约2倍，面积约4倍</a:t>
            </a:r>
            <a:endParaRPr lang="zh-CN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4593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 9.9 墨卡托公式；Esri ArcGIS Pro 3.6《墨卡托》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6336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7</a:t>
            </a:r>
            <a:endParaRPr lang="zh-CN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11096"/>
            <a:ext cx="9966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相对于赤道的局部尺度</a:t>
            </a:r>
            <a:endParaRPr lang="zh-CN" sz="2000" dirty="0"/>
          </a:p>
        </p:txBody>
      </p:sp>
      <p:sp>
        <p:nvSpPr>
          <p:cNvPr id="7" name="Shape 5"/>
          <p:cNvSpPr/>
          <p:nvPr/>
        </p:nvSpPr>
        <p:spPr>
          <a:xfrm>
            <a:off x="1088136" y="2935224"/>
            <a:ext cx="1124712" cy="1124712"/>
          </a:xfrm>
          <a:prstGeom prst="rect">
            <a:avLst/>
          </a:prstGeom>
          <a:solidFill>
            <a:srgbClr val="DCECE6"/>
          </a:solidFill>
          <a:ln w="12700">
            <a:solidFill>
              <a:srgbClr val="176C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3282696"/>
            <a:ext cx="11247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21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1份</a:t>
            </a:r>
            <a:endParaRPr lang="zh-CN" sz="2100" dirty="0"/>
          </a:p>
        </p:txBody>
      </p:sp>
      <p:sp>
        <p:nvSpPr>
          <p:cNvPr id="9" name="Text 7"/>
          <p:cNvSpPr/>
          <p:nvPr/>
        </p:nvSpPr>
        <p:spPr>
          <a:xfrm>
            <a:off x="822960" y="4407408"/>
            <a:ext cx="1691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9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赤道基准</a:t>
            </a:r>
            <a:endParaRPr lang="zh-CN" sz="1900" dirty="0"/>
          </a:p>
        </p:txBody>
      </p:sp>
      <p:sp>
        <p:nvSpPr>
          <p:cNvPr id="10" name="Shape 8"/>
          <p:cNvSpPr/>
          <p:nvPr/>
        </p:nvSpPr>
        <p:spPr>
          <a:xfrm>
            <a:off x="2852928" y="3218688"/>
            <a:ext cx="594360" cy="731520"/>
          </a:xfrm>
          <a:prstGeom prst="chevron">
            <a:avLst/>
          </a:prstGeom>
          <a:solidFill>
            <a:srgbClr val="176C70"/>
          </a:solidFill>
          <a:ln w="12700">
            <a:solidFill>
              <a:srgbClr val="176C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50792" y="2688336"/>
            <a:ext cx="2249424" cy="2249424"/>
          </a:xfrm>
          <a:prstGeom prst="rect">
            <a:avLst/>
          </a:prstGeom>
          <a:solidFill>
            <a:srgbClr val="DCECE6"/>
          </a:solidFill>
          <a:ln w="12700">
            <a:solidFill>
              <a:srgbClr val="176C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75504" y="2688336"/>
            <a:ext cx="0" cy="2249424"/>
          </a:xfrm>
          <a:prstGeom prst="line">
            <a:avLst/>
          </a:prstGeom>
          <a:noFill/>
          <a:ln w="16510">
            <a:solidFill>
              <a:srgbClr val="176C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50792" y="3813048"/>
            <a:ext cx="2249424" cy="0"/>
          </a:xfrm>
          <a:prstGeom prst="line">
            <a:avLst/>
          </a:prstGeom>
          <a:noFill/>
          <a:ln w="16510">
            <a:solidFill>
              <a:srgbClr val="176C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50792" y="5138928"/>
            <a:ext cx="224942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CN" altLang="en-US" sz="18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宽约2倍</a:t>
            </a:r>
            <a:endParaRPr lang="zh-CN" sz="1800" dirty="0"/>
          </a:p>
        </p:txBody>
      </p:sp>
      <p:sp>
        <p:nvSpPr>
          <p:cNvPr id="15" name="Text 13"/>
          <p:cNvSpPr/>
          <p:nvPr/>
        </p:nvSpPr>
        <p:spPr>
          <a:xfrm>
            <a:off x="6464808" y="3264408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8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高约</a:t>
            </a:r>
            <a:endParaRPr lang="zh-CN" sz="1800" dirty="0"/>
          </a:p>
          <a:p>
            <a:pPr indent="0" marL="0">
              <a:buNone/>
            </a:pPr>
            <a:r>
              <a:rPr lang="zh-CN" altLang="en-US" sz="18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2倍</a:t>
            </a:r>
            <a:endParaRPr lang="zh-CN" sz="1800" dirty="0"/>
          </a:p>
        </p:txBody>
      </p:sp>
      <p:sp>
        <p:nvSpPr>
          <p:cNvPr id="16" name="Shape 14"/>
          <p:cNvSpPr/>
          <p:nvPr/>
        </p:nvSpPr>
        <p:spPr>
          <a:xfrm>
            <a:off x="7726680" y="2615184"/>
            <a:ext cx="3776472" cy="2980944"/>
          </a:xfrm>
          <a:prstGeom prst="rect">
            <a:avLst/>
          </a:prstGeom>
          <a:solidFill>
            <a:srgbClr val="183D43"/>
          </a:solidFill>
          <a:ln w="12700">
            <a:solidFill>
              <a:srgbClr val="183D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19288" y="2907792"/>
            <a:ext cx="31912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这是微小区域的例子</a:t>
            </a:r>
            <a:endParaRPr lang="zh-CN" sz="2300" dirty="0"/>
          </a:p>
        </p:txBody>
      </p:sp>
      <p:sp>
        <p:nvSpPr>
          <p:cNvPr id="18" name="Text 16"/>
          <p:cNvSpPr/>
          <p:nvPr/>
        </p:nvSpPr>
        <p:spPr>
          <a:xfrm>
            <a:off x="8019288" y="3776472"/>
            <a:ext cx="3191256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格陵兰跨越不同纬度，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不能给整个轮廓套用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一个统一倍率。</a:t>
            </a:r>
            <a:endParaRPr lang="zh-CN" sz="2100" dirty="0"/>
          </a:p>
        </p:txBody>
      </p:sp>
      <p:sp>
        <p:nvSpPr>
          <p:cNvPr id="19" name="Text 17"/>
          <p:cNvSpPr/>
          <p:nvPr/>
        </p:nvSpPr>
        <p:spPr>
          <a:xfrm>
            <a:off x="640080" y="5815584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示意正方形表示局部尺度，不表示格陵兰或非洲的轮廓。</a:t>
            </a:r>
            <a:endParaRPr lang="zh-CN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spc="110" kern="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用途与代价 · 墨卡托保留了什么？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它擅长表达局部角度与恒定航向，不擅长比较面积</a:t>
            </a:r>
            <a:endParaRPr lang="zh-CN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4593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 9.9 墨卡托公式；Esri ArcGIS Pro 3.6《墨卡托》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6336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7</a:t>
            </a:r>
            <a:endParaRPr lang="zh-CN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2029968"/>
            <a:ext cx="5303520" cy="3584448"/>
          </a:xfrm>
          <a:prstGeom prst="rect">
            <a:avLst/>
          </a:prstGeom>
          <a:solidFill>
            <a:srgbClr val="DCECE6"/>
          </a:solidFill>
          <a:ln w="12700">
            <a:solidFill>
              <a:srgbClr val="DCEC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340864"/>
            <a:ext cx="46634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保留下来的便利</a:t>
            </a:r>
            <a:endParaRPr lang="zh-CN" sz="2500" dirty="0"/>
          </a:p>
        </p:txBody>
      </p:sp>
      <p:sp>
        <p:nvSpPr>
          <p:cNvPr id="8" name="Text 6"/>
          <p:cNvSpPr/>
          <p:nvPr/>
        </p:nvSpPr>
        <p:spPr>
          <a:xfrm>
            <a:off x="941832" y="3108960"/>
            <a:ext cx="461772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2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局部保角：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保留非常小范围内的角度关系。</a:t>
            </a:r>
            <a:endParaRPr lang="zh-CN" sz="2200" dirty="0"/>
          </a:p>
          <a:p>
            <a:pPr indent="0" marL="0">
              <a:buNone/>
            </a:pPr>
            <a:endParaRPr lang="zh-CN" sz="2200" dirty="0"/>
          </a:p>
          <a:p>
            <a:pPr indent="0" marL="0">
              <a:buNone/>
            </a:pPr>
            <a:r>
              <a:rPr lang="zh-CN" altLang="en-US" sz="22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恒向线为直线：</a:t>
            </a:r>
            <a:endParaRPr lang="zh-CN" sz="2200" dirty="0"/>
          </a:p>
          <a:p>
            <a:pPr indent="0" marL="0">
              <a:buNone/>
            </a:pPr>
            <a:r>
              <a:rPr lang="zh-CN" altLang="en-US" sz="22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恒定罗盘航向的路线更易表达。</a:t>
            </a:r>
            <a:endParaRPr lang="zh-CN" sz="2200" dirty="0"/>
          </a:p>
        </p:txBody>
      </p:sp>
      <p:sp>
        <p:nvSpPr>
          <p:cNvPr id="9" name="Shape 7"/>
          <p:cNvSpPr/>
          <p:nvPr/>
        </p:nvSpPr>
        <p:spPr>
          <a:xfrm>
            <a:off x="6263640" y="2029968"/>
            <a:ext cx="5276088" cy="3584448"/>
          </a:xfrm>
          <a:prstGeom prst="rect">
            <a:avLst/>
          </a:prstGeom>
          <a:solidFill>
            <a:srgbClr val="F0E0D0"/>
          </a:solidFill>
          <a:ln w="12700">
            <a:solidFill>
              <a:srgbClr val="F0E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65392" y="2340864"/>
            <a:ext cx="46451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500" b="1" dirty="0">
                <a:solidFill>
                  <a:srgbClr val="A04C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不能由此推断</a:t>
            </a:r>
            <a:endParaRPr lang="zh-CN" sz="2500" dirty="0"/>
          </a:p>
        </p:txBody>
      </p:sp>
      <p:sp>
        <p:nvSpPr>
          <p:cNvPr id="11" name="Text 9"/>
          <p:cNvSpPr/>
          <p:nvPr/>
        </p:nvSpPr>
        <p:spPr>
          <a:xfrm>
            <a:off x="6565392" y="3108960"/>
            <a:ext cx="4617720" cy="2112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1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局部保角 ≠ 大陆整体形状不变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恒向线直线 ≠ 通常的最短路线</a:t>
            </a:r>
            <a:endParaRPr lang="zh-CN" sz="2100" dirty="0"/>
          </a:p>
          <a:p>
            <a:pPr indent="0" marL="0">
              <a:buNone/>
            </a:pP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两极投影到无穷远，</a:t>
            </a:r>
            <a:endParaRPr lang="zh-CN" sz="2100" dirty="0"/>
          </a:p>
          <a:p>
            <a:pPr indent="0" marL="0">
              <a:buNone/>
            </a:pPr>
            <a:r>
              <a:rPr lang="zh-CN" altLang="en-US" sz="21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有限地图必须裁切纬度范围。</a:t>
            </a:r>
            <a:endParaRPr lang="zh-CN" sz="2100" dirty="0"/>
          </a:p>
        </p:txBody>
      </p:sp>
      <p:sp>
        <p:nvSpPr>
          <p:cNvPr id="12" name="Text 10"/>
          <p:cNvSpPr/>
          <p:nvPr/>
        </p:nvSpPr>
        <p:spPr>
          <a:xfrm>
            <a:off x="640080" y="5843016"/>
            <a:ext cx="108813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7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本篇机制例子采用球面墨卡托；Web Mercator 的严格性质另有条件。</a:t>
            </a:r>
            <a:endParaRPr lang="zh-CN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spc="110" kern="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选图标准 · 原生可编辑比较表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没有全能的平面地图：先问你要比较什么</a:t>
            </a:r>
            <a:endParaRPr lang="zh-CN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4593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Britannica《地图投影》；Esri《Equal Earth》及《墨卡托》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6336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7</a:t>
            </a:r>
            <a:endParaRPr lang="zh-CN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99648" cy="3529584"/>
        </p:xfrm>
        <a:graphic>
          <a:graphicData uri="http://schemas.openxmlformats.org/drawingml/2006/table">
            <a:tbl>
              <a:tblPr/>
              <a:tblGrid>
                <a:gridCol w="1847088"/>
                <a:gridCol w="4251960"/>
                <a:gridCol w="4800600"/>
              </a:tblGrid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比较维度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普通墨卡托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D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Equal Earth（等面积）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D43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面积比例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不保留；高纬放大严重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保留面积比例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角度与形状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局部保角；不保留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大陆整体形状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不保角；形状仍会变形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用途取向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表达恒定航向；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恒向线为直线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比较地区的面积大小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不能承诺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恒向线通常不是最短路；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有限地图需裁切两极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不能同时保全形状、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183D4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角度、方向和距离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55448" marR="155448" marT="109728" marB="109728" anchor="ctr">
                    <a:lnL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2A7A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925312"/>
            <a:ext cx="10899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比较“谁更大”时，等面积投影更合适；这不意味着它是唯一正确的地图。</a:t>
            </a:r>
            <a:endParaRPr lang="zh-CN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918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300" spc="110" kern="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回到问题 · 下次看到“大格陵兰”时</a:t>
            </a:r>
            <a:endParaRPr lang="zh-CN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859536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32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先辨认投影，再判断图上的“大”意味着什么</a:t>
            </a:r>
            <a:endParaRPr lang="zh-CN" sz="3200" dirty="0"/>
          </a:p>
        </p:txBody>
      </p:sp>
      <p:sp>
        <p:nvSpPr>
          <p:cNvPr id="4" name="Text 2"/>
          <p:cNvSpPr/>
          <p:nvPr/>
        </p:nvSpPr>
        <p:spPr>
          <a:xfrm>
            <a:off x="594360" y="6345936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5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来源：IndexMundi、Britannica、PROJ、Esri；研究材料访问记录截至2026-09-16。</a:t>
            </a:r>
            <a:endParaRPr lang="zh-CN" sz="1050" dirty="0"/>
          </a:p>
        </p:txBody>
      </p:sp>
      <p:sp>
        <p:nvSpPr>
          <p:cNvPr id="5" name="Text 3"/>
          <p:cNvSpPr/>
          <p:nvPr/>
        </p:nvSpPr>
        <p:spPr>
          <a:xfrm>
            <a:off x="10972800" y="63367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CN" altLang="en-US" sz="1100" dirty="0">
                <a:solidFill>
                  <a:srgbClr val="5269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7</a:t>
            </a:r>
            <a:endParaRPr lang="zh-CN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176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zh-CN" sz="2800" dirty="0"/>
          </a:p>
        </p:txBody>
      </p:sp>
      <p:sp>
        <p:nvSpPr>
          <p:cNvPr id="7" name="Text 5"/>
          <p:cNvSpPr/>
          <p:nvPr/>
        </p:nvSpPr>
        <p:spPr>
          <a:xfrm>
            <a:off x="1600200" y="2057400"/>
            <a:ext cx="2907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识别投影</a:t>
            </a:r>
            <a:endParaRPr lang="zh-CN" sz="2300" dirty="0"/>
          </a:p>
        </p:txBody>
      </p:sp>
      <p:sp>
        <p:nvSpPr>
          <p:cNvPr id="8" name="Text 6"/>
          <p:cNvSpPr/>
          <p:nvPr/>
        </p:nvSpPr>
        <p:spPr>
          <a:xfrm>
            <a:off x="4681728" y="2039112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如果是墨卡托，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先警惕高纬地区的面积放大。</a:t>
            </a:r>
            <a:endParaRPr lang="zh-CN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999232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176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zh-CN" sz="2800" dirty="0"/>
          </a:p>
        </p:txBody>
      </p:sp>
      <p:sp>
        <p:nvSpPr>
          <p:cNvPr id="10" name="Text 8"/>
          <p:cNvSpPr/>
          <p:nvPr/>
        </p:nvSpPr>
        <p:spPr>
          <a:xfrm>
            <a:off x="1600200" y="2999232"/>
            <a:ext cx="2907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换成同一面积尺度</a:t>
            </a:r>
            <a:endParaRPr lang="zh-CN" sz="2300" dirty="0"/>
          </a:p>
        </p:txBody>
      </p:sp>
      <p:sp>
        <p:nvSpPr>
          <p:cNvPr id="11" name="Text 9"/>
          <p:cNvSpPr/>
          <p:nvPr/>
        </p:nvSpPr>
        <p:spPr>
          <a:xfrm>
            <a:off x="4681728" y="2980944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非洲约3040万平方公里；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格陵兰约217万，非洲约为其14倍。</a:t>
            </a:r>
            <a:endParaRPr lang="zh-CN" sz="2000" dirty="0"/>
          </a:p>
        </p:txBody>
      </p:sp>
      <p:sp>
        <p:nvSpPr>
          <p:cNvPr id="12" name="Text 10"/>
          <p:cNvSpPr/>
          <p:nvPr/>
        </p:nvSpPr>
        <p:spPr>
          <a:xfrm>
            <a:off x="640080" y="3941064"/>
            <a:ext cx="685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800" b="1" dirty="0">
                <a:solidFill>
                  <a:srgbClr val="176C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zh-CN" sz="2800" dirty="0"/>
          </a:p>
        </p:txBody>
      </p:sp>
      <p:sp>
        <p:nvSpPr>
          <p:cNvPr id="13" name="Text 11"/>
          <p:cNvSpPr/>
          <p:nvPr/>
        </p:nvSpPr>
        <p:spPr>
          <a:xfrm>
            <a:off x="1600200" y="3941064"/>
            <a:ext cx="2907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300" b="1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按目的选择地图</a:t>
            </a:r>
            <a:endParaRPr lang="zh-CN" sz="2300" dirty="0"/>
          </a:p>
        </p:txBody>
      </p:sp>
      <p:sp>
        <p:nvSpPr>
          <p:cNvPr id="14" name="Text 12"/>
          <p:cNvSpPr/>
          <p:nvPr/>
        </p:nvSpPr>
        <p:spPr>
          <a:xfrm>
            <a:off x="4681728" y="3922776"/>
            <a:ext cx="6766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20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比较面积可用等面积投影；</a:t>
            </a:r>
            <a:endParaRPr lang="zh-CN" sz="2000" dirty="0"/>
          </a:p>
          <a:p>
            <a:pPr indent="0" marL="0">
              <a:buNone/>
            </a:pPr>
            <a:r>
              <a:rPr lang="zh-CN" altLang="en-US" sz="20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不要期待一张平面图保留一切。</a:t>
            </a:r>
            <a:endParaRPr lang="zh-CN" sz="2000" dirty="0"/>
          </a:p>
        </p:txBody>
      </p:sp>
      <p:sp>
        <p:nvSpPr>
          <p:cNvPr id="15" name="Shape 13"/>
          <p:cNvSpPr/>
          <p:nvPr/>
        </p:nvSpPr>
        <p:spPr>
          <a:xfrm>
            <a:off x="640080" y="5084064"/>
            <a:ext cx="10899648" cy="960120"/>
          </a:xfrm>
          <a:prstGeom prst="rect">
            <a:avLst/>
          </a:prstGeom>
          <a:solidFill>
            <a:srgbClr val="F0E0D0"/>
          </a:solidFill>
          <a:ln w="12700">
            <a:solidFill>
              <a:srgbClr val="F0E0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53035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900" b="1" dirty="0">
                <a:solidFill>
                  <a:srgbClr val="A04C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材料限制</a:t>
            </a:r>
            <a:endParaRPr lang="zh-CN" sz="1900" dirty="0"/>
          </a:p>
        </p:txBody>
      </p:sp>
      <p:sp>
        <p:nvSpPr>
          <p:cNvPr id="17" name="Text 15"/>
          <p:cNvSpPr/>
          <p:nvPr/>
        </p:nvSpPr>
        <p:spPr>
          <a:xfrm>
            <a:off x="2523744" y="5266944"/>
            <a:ext cx="86685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6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格陵兰官方2026年PDF正文未能提取；面积比较采用公开二手数字。</a:t>
            </a:r>
            <a:endParaRPr lang="zh-CN" sz="1600" dirty="0"/>
          </a:p>
          <a:p>
            <a:pPr indent="0" marL="0">
              <a:buNone/>
            </a:pPr>
            <a:r>
              <a:rPr lang="zh-CN" altLang="en-US" sz="1600" dirty="0">
                <a:solidFill>
                  <a:srgbClr val="183D4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约数用于数量级比较，不代表统一口径下的精确测量。</a:t>
            </a:r>
            <a:endParaRPr lang="zh-CN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冻结研究材料的中文解释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格陵兰为什么在某些世界地图上显得巨大？</dc:title>
  <dc:subject>为什么墨卡托地图上的格陵兰看起来那么大？</dc:subject>
  <dc:creator>Aha</dc:creator>
  <cp:lastModifiedBy>Aha</cp:lastModifiedBy>
  <cp:revision>1</cp:revision>
  <dcterms:created xsi:type="dcterms:W3CDTF">2026-09-21T03:14:04Z</dcterms:created>
  <dcterms:modified xsi:type="dcterms:W3CDTF">2026-09-21T03:14:04Z</dcterms:modified>
</cp:coreProperties>
</file>