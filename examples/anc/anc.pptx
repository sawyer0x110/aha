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开场先问：戴上降噪耳机后，发动机声音小了，旁边的人却还在说话，这是否说明耳机在识别人声并放行？答案是否定的。主动降噪的物理对象是声压，不是语义标签。
这里用的是材料支持的常见体验与有限推论，而不是本轮测试。Sony 的概括针对其列出的产品，不能推广为所有耳机的统一性能。后面先解释什么叫抵消，再解释为什么残余不一样。
本页两个区域只比较解释路径，没有用面积或长度编码衰减量。冻结材料没有个人场景的分贝或语音可懂度数据。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沿橙色箭头讲噪声到耳边的路径，再沿青色箭头讲扬声器声音到耳边的路径。实线表示声传播，虚线表示麦克风信号的处理。图不是某一产品的硬件布置或完整控制框图。
反相可理解为：噪声使压力增加时，控制声恰好使压力减少，幅度也匹配，才能在该位置相互抵消。仅把外部麦克风电信号的正负翻转并不够，因为两条声学路径会改变幅度与相位。
前馈使用外部参考信号，反馈使用内部误差信号，混合结构可以结合两者。本页不展开这三类结构，以免掩盖共同的局部叠加原理。
Hilgemann 等 §2.1–2.2 的内部麦克风与鼓膜近似有低频条件；不要把一个传声器的读数直接当成所有位置的静音。过渡：即使幅度匹配，时间没对上也会留下声音。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先解释赫兹就是每秒振动次数，再解释角度表示在一个周期中错开多少。这里比较的不是两款耳机，而是完全相同的假设时间误差作用于两个不同频率。
数字来自冻结材料对正弦周期定义的解析推导：相位误差等于 360° 乘以频率，再乘以时间误差的秒数。0.10 毫秒等于 0.00010 秒，由此得到 3.6° 和 36°。这是教学计算，不是声学测试。
这个模型只说明时间容差如何收紧。前馈还取决于参考麦克风的提前量与传播路径，反馈还要保持稳定。规律信号可预测；复杂信号在参考信息、带宽和路径合适时也可能受控，因此不能说变化快就绝对无法降噪。
没有把解析残余公式扩展成衰减曲线，因为这不是完整宽带控制器，更不能预测用户的耳机效果。过渡：耳机减噪也不全靠主动控制。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不要把被动与主动理解成两道完全独立、互不影响的墙。它们共同决定传入与控制声学路径，以及耳边最终留下的声音。
强调“通常”：这些是实现相关的频率倾向，不是某条频率以下只能主动、以上只能被动的定律。
若比较 ANC 开关，应保持相同声源和佩戴。关闭 ANC 时耳罩仍在，因此这个比较与摘下耳机相比不是同一个基准。这个方法建议来自冻结材料的路径与模式证据，不是本轮实际实施的实验。
过渡：把这两种方式合起来看，就能解释为什么一段语音可能变弱，却仍然听得出来有人在说话。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从同一段语音沿两条分支讲解：不是耳机给“人声”整体贴了免降噪标签，而是不同成分在主动与被动响应下有不同程度的残留。分支为概念示意，不表示语音能量各占一半。
Sony 的特定产品说明对低频环境声与人声相关高频成分作了体验对比；不要把它转写成“所有人声都是高频”。RWTH 自身语音闭塞效应讨论中包含 100–1000 赫兹成分，也描述了主动控制对这些成分增强的降低。
自身语音闭塞控制只是推翻“语音不可能抵消”的反例，不能用来证明旁人的说话声可完全消除。
轰鸣下降更多、语音下降较少时，语音主观上可能更突出；材料没有语音可懂度或相对显著性实验，所以不承诺一定更容易听清，更不把它说成语音被物理放大。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这些是排查解释的顺序，不是承诺改善的操作教程。Apple 区分 ANC、通透与自适应音频，Sony 也说明自适应设置可能切换到环境声模式；不同产品可用的名称和模式不完全相同。
已发表原型研究的 §6.3 报告人和假头在不同佩戴下的频率响应变化。冻结研究只选读稿首、摘要、引言、§2.1–2.3，以及提取器返回的 §6.3 和图8说明；没有阅读全文、审计完整方法或下载原始测量。
这些都是作者既有测量，不是本轮观察，也不能当成出厂 QC45 的完整性能评测。内部麦克风读数和鼓膜听感不能直接混用。
材料未提供用户的耳机型号、密封状态、模式和声场。若要给出个人场景衰减量，需要另行获准、在明确基准和安全声级下做真实测量，并单独评估听感；本轮没有做这些工作。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请听众用自己的话复述：耳机没有把声音分成“飞机可消、人声不可消”，而是多种频率成分经过特定路径与控制后有不同残余。关 ANC 也没有拿走耳罩的物理隔音。
参考资料均来自冻结 Research Dossier，本轮没有重新访问这些链接：
RWTH IKS，Active Noise Control；原理、自适应算法、自身语音闭塞效应等选定段落。https://www.iks.rwth-aachen.de/forschung/audio/active-noise-control/
Hilgemann、Chatzimoustafa、Jax，耳机鲁棒反馈主动降噪的数据驱动不确定性建模。arXiv v1 标记 2025-09-19，稿首标注 JAES 2024 发表信息。只选读冻结材料记录的章节。https://arxiv.org/html/2509.15864v1
Sony，WH-1000XM5 / WH-1000XM5SA 降噪效果不足使用指南，手册 5-035-396-11(6)。https://helpguide.sony.net/mdr/wh1000xm5/v1/en/contents/TP1000534745.html
Apple，AirPods 聆听模式说明，冻结材料记录页面发布日期为 2026-09-14。https://support.apple.com/en-us/108918
研究材料中的来源访问发生于 2026-09-16，不是本轮新观察。没有用户场景的衰减量、可懂度数据或声学实验。呈现的时间误差示例是解析教学模型，不是产品测试。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spc="110" kern="0" dirty="0">
                <a:solidFill>
                  <a:srgbClr val="B9D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听懂降噪耳机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43737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50" dirty="0">
                <a:solidFill>
                  <a:srgbClr val="B9D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来源：Sony WH-1000XM5 使用指南；RWTH IKS「自身语音闭塞效应」。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11091672" y="64190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200" dirty="0">
                <a:solidFill>
                  <a:srgbClr val="B9D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降噪耳机：飞机轰鸣变轻了，</a:t>
            </a:r>
            <a:endParaRPr lang="zh-CN" sz="3400" dirty="0"/>
          </a:p>
          <a:p>
            <a:pPr indent="0" marL="0">
              <a:buNone/>
            </a:pPr>
            <a:r>
              <a:rPr lang="zh-CN" alt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为什么人声还在？</a:t>
            </a:r>
            <a:endParaRPr lang="zh-CN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2468880"/>
            <a:ext cx="10789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主动降噪不是声音分类器。</a:t>
            </a:r>
            <a:endParaRPr lang="zh-CN" sz="2400" dirty="0"/>
          </a:p>
          <a:p>
            <a:pPr indent="0" marL="0">
              <a:buNone/>
            </a:pPr>
            <a:r>
              <a:rPr lang="zh-CN" alt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它控制耳边的声压；不同声音成分，留下的残余不同。</a:t>
            </a:r>
            <a:endParaRPr lang="zh-CN" sz="2400" dirty="0"/>
          </a:p>
        </p:txBody>
      </p:sp>
      <p:sp>
        <p:nvSpPr>
          <p:cNvPr id="7" name="Shape 5"/>
          <p:cNvSpPr/>
          <p:nvPr/>
        </p:nvSpPr>
        <p:spPr>
          <a:xfrm>
            <a:off x="594360" y="3767328"/>
            <a:ext cx="5257800" cy="1280160"/>
          </a:xfrm>
          <a:prstGeom prst="rect">
            <a:avLst/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3767328"/>
            <a:ext cx="5468112" cy="1280160"/>
          </a:xfrm>
          <a:prstGeom prst="rect">
            <a:avLst/>
          </a:prstGeom>
          <a:solidFill>
            <a:srgbClr val="F5E5D3"/>
          </a:solidFill>
          <a:ln w="12700">
            <a:solidFill>
              <a:srgbClr val="F5E5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502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飞机的持续轰鸣</a:t>
            </a:r>
            <a:endParaRPr lang="zh-CN" sz="2300" dirty="0"/>
          </a:p>
        </p:txBody>
      </p:sp>
      <p:sp>
        <p:nvSpPr>
          <p:cNvPr id="10" name="Text 8"/>
          <p:cNvSpPr/>
          <p:nvPr/>
        </p:nvSpPr>
        <p:spPr>
          <a:xfrm>
            <a:off x="822960" y="448970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低频成分通常较易控制 → 变轻</a:t>
            </a:r>
            <a:endParaRPr lang="zh-CN" sz="1900" dirty="0"/>
          </a:p>
        </p:txBody>
      </p:sp>
      <p:sp>
        <p:nvSpPr>
          <p:cNvPr id="11" name="Text 9"/>
          <p:cNvSpPr/>
          <p:nvPr/>
        </p:nvSpPr>
        <p:spPr>
          <a:xfrm>
            <a:off x="6355080" y="395020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附近的人声</a:t>
            </a:r>
            <a:endParaRPr lang="zh-CN" sz="2300" dirty="0"/>
          </a:p>
        </p:txBody>
      </p:sp>
      <p:sp>
        <p:nvSpPr>
          <p:cNvPr id="12" name="Text 10"/>
          <p:cNvSpPr/>
          <p:nvPr/>
        </p:nvSpPr>
        <p:spPr>
          <a:xfrm>
            <a:off x="6355080" y="448970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部分成分仍然残留 → 仍可听见</a:t>
            </a:r>
            <a:endParaRPr lang="zh-CN" sz="1900" dirty="0"/>
          </a:p>
        </p:txBody>
      </p:sp>
      <p:sp>
        <p:nvSpPr>
          <p:cNvPr id="13" name="Text 11"/>
          <p:cNvSpPr/>
          <p:nvPr/>
        </p:nvSpPr>
        <p:spPr>
          <a:xfrm>
            <a:off x="594360" y="5486400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仍听得见 ≠ 完全没减弱，也不代表人声天生不能抵消。</a:t>
            </a:r>
            <a:endParaRPr lang="zh-CN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spc="110" kern="0" dirty="0">
                <a:solidFill>
                  <a:srgbClr val="4961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听懂降噪耳机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1018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抵消发生在耳边，不在声音标签里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50" dirty="0">
                <a:solidFill>
                  <a:srgbClr val="4961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来源：RWTH IKS「主动噪声控制」；Hilgemann 等，原作者稿 §2.1–2.2。</a:t>
            </a:r>
            <a:endParaRPr lang="zh-CN" sz="1050" dirty="0"/>
          </a:p>
        </p:txBody>
      </p:sp>
      <p:sp>
        <p:nvSpPr>
          <p:cNvPr id="5" name="Text 3"/>
          <p:cNvSpPr/>
          <p:nvPr/>
        </p:nvSpPr>
        <p:spPr>
          <a:xfrm>
            <a:off x="11091672" y="64190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200" dirty="0">
                <a:solidFill>
                  <a:srgbClr val="4961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声压就是空气压力的起伏；同一位置、同一时刻的起伏会叠加。</a:t>
            </a:r>
            <a:endParaRPr lang="zh-CN" sz="22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2331720" cy="795528"/>
          </a:xfrm>
          <a:prstGeom prst="rect">
            <a:avLst/>
          </a:prstGeom>
          <a:solidFill>
            <a:srgbClr val="F5E5D3"/>
          </a:solidFill>
          <a:ln w="12700">
            <a:solidFill>
              <a:srgbClr val="F5E5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87752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传入噪声</a:t>
            </a:r>
            <a:endParaRPr lang="zh-CN" sz="2300" dirty="0"/>
          </a:p>
        </p:txBody>
      </p:sp>
      <p:sp>
        <p:nvSpPr>
          <p:cNvPr id="9" name="Text 7"/>
          <p:cNvSpPr/>
          <p:nvPr/>
        </p:nvSpPr>
        <p:spPr>
          <a:xfrm>
            <a:off x="3310128" y="22402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经过耳罩／耳道的路径</a:t>
            </a:r>
            <a:endParaRPr lang="zh-CN" sz="1700" dirty="0"/>
          </a:p>
        </p:txBody>
      </p:sp>
      <p:sp>
        <p:nvSpPr>
          <p:cNvPr id="10" name="Shape 8"/>
          <p:cNvSpPr/>
          <p:nvPr/>
        </p:nvSpPr>
        <p:spPr>
          <a:xfrm>
            <a:off x="3108960" y="2825496"/>
            <a:ext cx="4645152" cy="0"/>
          </a:xfrm>
          <a:prstGeom prst="line">
            <a:avLst/>
          </a:prstGeom>
          <a:noFill/>
          <a:ln w="27940">
            <a:solidFill>
              <a:srgbClr val="9C440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" y="3703320"/>
            <a:ext cx="2331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A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886200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麦克风信号</a:t>
            </a:r>
            <a:endParaRPr lang="zh-CN" sz="2100" dirty="0"/>
          </a:p>
        </p:txBody>
      </p:sp>
      <p:sp>
        <p:nvSpPr>
          <p:cNvPr id="13" name="Shape 11"/>
          <p:cNvSpPr/>
          <p:nvPr/>
        </p:nvSpPr>
        <p:spPr>
          <a:xfrm>
            <a:off x="3657600" y="3703320"/>
            <a:ext cx="3200400" cy="822960"/>
          </a:xfrm>
          <a:prstGeom prst="rect">
            <a:avLst/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58768" y="3886200"/>
            <a:ext cx="27980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 → 扬声器</a:t>
            </a:r>
            <a:endParaRPr lang="zh-CN" sz="2100" dirty="0"/>
          </a:p>
        </p:txBody>
      </p:sp>
      <p:sp>
        <p:nvSpPr>
          <p:cNvPr id="15" name="Shape 13"/>
          <p:cNvSpPr/>
          <p:nvPr/>
        </p:nvSpPr>
        <p:spPr>
          <a:xfrm>
            <a:off x="3090672" y="4114800"/>
            <a:ext cx="457200" cy="0"/>
          </a:xfrm>
          <a:prstGeom prst="line">
            <a:avLst/>
          </a:prstGeom>
          <a:noFill/>
          <a:ln w="27940">
            <a:solidFill>
              <a:srgbClr val="49616A"/>
            </a:solidFill>
            <a:prstDash val="dash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063240" y="4517136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4961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</a:t>
            </a:r>
            <a:endParaRPr lang="zh-CN" sz="1200" dirty="0"/>
          </a:p>
        </p:txBody>
      </p:sp>
      <p:sp>
        <p:nvSpPr>
          <p:cNvPr id="17" name="Shape 15"/>
          <p:cNvSpPr/>
          <p:nvPr/>
        </p:nvSpPr>
        <p:spPr>
          <a:xfrm>
            <a:off x="6931152" y="4114800"/>
            <a:ext cx="987552" cy="0"/>
          </a:xfrm>
          <a:prstGeom prst="line">
            <a:avLst/>
          </a:prstGeom>
          <a:noFill/>
          <a:ln w="27940">
            <a:solidFill>
              <a:srgbClr val="006D77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685032" y="46360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控制声也经过声学路径</a:t>
            </a:r>
            <a:endParaRPr lang="zh-CN" sz="1600" dirty="0"/>
          </a:p>
        </p:txBody>
      </p:sp>
      <p:sp>
        <p:nvSpPr>
          <p:cNvPr id="19" name="Shape 17"/>
          <p:cNvSpPr/>
          <p:nvPr/>
        </p:nvSpPr>
        <p:spPr>
          <a:xfrm>
            <a:off x="8046720" y="2423160"/>
            <a:ext cx="3447288" cy="2103120"/>
          </a:xfrm>
          <a:prstGeom prst="rect">
            <a:avLst/>
          </a:prstGeom>
          <a:solidFill>
            <a:srgbClr val="172D33"/>
          </a:solidFill>
          <a:ln w="12700">
            <a:solidFill>
              <a:srgbClr val="172D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6176" y="265176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耳边目标位置</a:t>
            </a:r>
            <a:endParaRPr lang="zh-CN" sz="2400" dirty="0"/>
          </a:p>
        </p:txBody>
      </p:sp>
      <p:sp>
        <p:nvSpPr>
          <p:cNvPr id="21" name="Text 19"/>
          <p:cNvSpPr/>
          <p:nvPr/>
        </p:nvSpPr>
        <p:spPr>
          <a:xfrm>
            <a:off x="8266176" y="3319272"/>
            <a:ext cx="300837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传入声压 ＋ 控制声压</a:t>
            </a:r>
            <a:endParaRPr lang="zh-CN" sz="2000" dirty="0"/>
          </a:p>
          <a:p>
            <a:pPr indent="0" marL="0">
              <a:buNone/>
            </a:pPr>
            <a:r>
              <a:rPr lang="zh-CN" alt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＝ 剩下的声压起伏</a:t>
            </a:r>
            <a:endParaRPr lang="zh-CN" sz="2000" dirty="0"/>
          </a:p>
        </p:txBody>
      </p:sp>
      <p:sp>
        <p:nvSpPr>
          <p:cNvPr id="22" name="Text 20"/>
          <p:cNvSpPr/>
          <p:nvPr/>
        </p:nvSpPr>
        <p:spPr>
          <a:xfrm>
            <a:off x="594360" y="5074920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理想单频：在耳边同频、等幅、反相，才可完全抵消。</a:t>
            </a:r>
            <a:endParaRPr lang="zh-CN" sz="2200" dirty="0"/>
          </a:p>
          <a:p>
            <a:pPr indent="0" marL="0">
              <a:buNone/>
            </a:pPr>
            <a:r>
              <a:rPr lang="zh-CN" altLang="en-US" sz="2200" b="1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“反相”：噪声使压力增加时，控制声恰好使它等量减少。</a:t>
            </a:r>
            <a:endParaRPr lang="zh-CN" sz="2200" dirty="0"/>
          </a:p>
        </p:txBody>
      </p:sp>
      <p:sp>
        <p:nvSpPr>
          <p:cNvPr id="23" name="Text 21"/>
          <p:cNvSpPr/>
          <p:nvPr/>
        </p:nvSpPr>
        <p:spPr>
          <a:xfrm>
            <a:off x="594360" y="593445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4961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小信号线性近似；麦克风处有效，不代表耳内每一点或整个机舱都安静。</a:t>
            </a:r>
            <a:endParaRPr lang="zh-CN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spc="110" kern="0" dirty="0">
                <a:solidFill>
                  <a:srgbClr val="4961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听懂降噪耳机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1018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振动越快，同样的时间误差越难容忍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50" dirty="0">
                <a:solidFill>
                  <a:srgbClr val="4961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来源：冻结材料中的单频解析推论；RWTH IKS 的路径与延迟讨论。</a:t>
            </a:r>
            <a:endParaRPr lang="zh-CN" sz="1050" dirty="0"/>
          </a:p>
        </p:txBody>
      </p:sp>
      <p:sp>
        <p:nvSpPr>
          <p:cNvPr id="5" name="Text 3"/>
          <p:cNvSpPr/>
          <p:nvPr/>
        </p:nvSpPr>
        <p:spPr>
          <a:xfrm>
            <a:off x="11091672" y="64190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200" dirty="0">
                <a:solidFill>
                  <a:srgbClr val="4961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90472"/>
            <a:ext cx="10972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相位：一次振动进行到哪里。</a:t>
            </a:r>
            <a:endParaRPr lang="zh-CN" sz="2300" dirty="0"/>
          </a:p>
          <a:p>
            <a:pPr indent="0" marL="0">
              <a:buNone/>
            </a:pPr>
            <a:r>
              <a:rPr lang="zh-CN" altLang="en-US" sz="2300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同样晚到一点，在更快的振动中会错开更大一段。</a:t>
            </a:r>
            <a:endParaRPr lang="zh-CN" sz="2300" dirty="0"/>
          </a:p>
        </p:txBody>
      </p:sp>
      <p:sp>
        <p:nvSpPr>
          <p:cNvPr id="7" name="Shape 5"/>
          <p:cNvSpPr/>
          <p:nvPr/>
        </p:nvSpPr>
        <p:spPr>
          <a:xfrm>
            <a:off x="594360" y="2679192"/>
            <a:ext cx="11000232" cy="557784"/>
          </a:xfrm>
          <a:prstGeom prst="rect">
            <a:avLst/>
          </a:prstGeom>
          <a:solidFill>
            <a:srgbClr val="F5E5D3"/>
          </a:solidFill>
          <a:ln w="12700">
            <a:solidFill>
              <a:srgbClr val="F5E5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816352"/>
            <a:ext cx="10652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9C44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教学假设：未补偿的到达时间误差为 0.10 毫秒（不是实测耳机延迟）</a:t>
            </a:r>
            <a:endParaRPr lang="zh-CN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419856"/>
          <a:ext cx="11000232" cy="914400"/>
        </p:xfrm>
        <a:graphic>
          <a:graphicData uri="http://schemas.openxmlformats.org/drawingml/2006/table">
            <a:tbl>
              <a:tblPr/>
              <a:tblGrid>
                <a:gridCol w="3666744"/>
                <a:gridCol w="3666744"/>
                <a:gridCol w="3666744"/>
              </a:tblGrid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声音分量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每秒振动次数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错开的相位角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D33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D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 赫兹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D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 次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D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3.6°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D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 赫兹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D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 次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72D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36°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94360" y="543153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等幅还不够：错相会留下残余，严重时甚至可能比原噪声更大。</a:t>
            </a:r>
            <a:endParaRPr lang="zh-CN" sz="2100" dirty="0"/>
          </a:p>
        </p:txBody>
      </p:sp>
      <p:sp>
        <p:nvSpPr>
          <p:cNvPr id="11" name="Text 8"/>
          <p:cNvSpPr/>
          <p:nvPr/>
        </p:nvSpPr>
        <p:spPr>
          <a:xfrm>
            <a:off x="594360" y="59344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50" dirty="0">
                <a:solidFill>
                  <a:srgbClr val="4961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这是同一位置、稳态单频的线性模型；不是声速变快，也没有给 ANC 划定统一截止频率。</a:t>
            </a:r>
            <a:endParaRPr lang="zh-CN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spc="110" kern="0" dirty="0">
                <a:solidFill>
                  <a:srgbClr val="4961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听懂降噪耳机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1018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耳机有两种减噪方式，不是一个开关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50" dirty="0">
                <a:solidFill>
                  <a:srgbClr val="4961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来源：Hilgemann 等，原作者稿 §2.1、§2.3。</a:t>
            </a:r>
            <a:endParaRPr lang="zh-CN" sz="1050" dirty="0"/>
          </a:p>
        </p:txBody>
      </p:sp>
      <p:sp>
        <p:nvSpPr>
          <p:cNvPr id="5" name="Text 3"/>
          <p:cNvSpPr/>
          <p:nvPr/>
        </p:nvSpPr>
        <p:spPr>
          <a:xfrm>
            <a:off x="11091672" y="64190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200" dirty="0">
                <a:solidFill>
                  <a:srgbClr val="4961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zh-CN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被动隔音改变声音传入的路径；主动降噪再加入控制声。两者共同影响残余。</a:t>
            </a:r>
            <a:endParaRPr lang="zh-CN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377440"/>
          <a:ext cx="11000232" cy="914400"/>
        </p:xfrm>
        <a:graphic>
          <a:graphicData uri="http://schemas.openxmlformats.org/drawingml/2006/table">
            <a:tbl>
              <a:tblPr/>
              <a:tblGrid>
                <a:gridCol w="1901952"/>
                <a:gridCol w="4544568"/>
                <a:gridCol w="4553712"/>
              </a:tblGrid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39700" marB="139700" anchor="ctr">
                    <a:lnL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被动隔音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39700" marB="139700" anchor="ctr">
                    <a:lnL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主动降噪（ANC）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39700" marB="139700" anchor="ctr">
                    <a:lnL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D33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72D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怎么做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39700" marB="139700" anchor="ctr">
                    <a:lnL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72D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耳塞、耳罩和密封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72D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阻碍声音传入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39700" marB="139700" anchor="ctr">
                    <a:lnL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72D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扬声器加入控制声压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72D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力求在耳边抵消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39700" marB="139700" anchor="ctr">
                    <a:lnL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72D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通常擅长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39700" marB="139700" anchor="ctr">
                    <a:lnL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72D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较高频率的衰减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39700" marB="139700" anchor="ctr">
                    <a:lnL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72D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低到中频的控制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39700" marB="139700" anchor="ctr">
                    <a:lnL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72D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关掉 ANC 后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39700" marB="139700" anchor="ctr">
                    <a:lnL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72D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物理屏障仍在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39700" marB="139700" anchor="ctr">
                    <a:lnL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72D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不再靠主动控制减噪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39700" marB="139700" anchor="ctr">
                    <a:lnL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A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571500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 ANC ≠ 摘下耳机</a:t>
            </a:r>
            <a:endParaRPr lang="zh-CN" sz="2900" dirty="0"/>
          </a:p>
        </p:txBody>
      </p:sp>
      <p:sp>
        <p:nvSpPr>
          <p:cNvPr id="9" name="Text 6"/>
          <p:cNvSpPr/>
          <p:nvPr/>
        </p:nvSpPr>
        <p:spPr>
          <a:xfrm>
            <a:off x="6537960" y="5641848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4961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“通常”不是硬分界；结构、泄漏和佩戴都会改变结果。</a:t>
            </a:r>
            <a:endParaRPr lang="zh-CN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spc="110" kern="0" dirty="0">
                <a:solidFill>
                  <a:srgbClr val="4961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听懂降噪耳机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1018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人声可以变弱，却仍然听得见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50" dirty="0">
                <a:solidFill>
                  <a:srgbClr val="4961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来源：Sony WH-1000XM5 使用指南；RWTH IKS「自身语音闭塞效应」。</a:t>
            </a:r>
            <a:endParaRPr lang="zh-CN" sz="1050" dirty="0"/>
          </a:p>
        </p:txBody>
      </p:sp>
      <p:sp>
        <p:nvSpPr>
          <p:cNvPr id="5" name="Text 3"/>
          <p:cNvSpPr/>
          <p:nvPr/>
        </p:nvSpPr>
        <p:spPr>
          <a:xfrm>
            <a:off x="11091672" y="64190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200" dirty="0">
                <a:solidFill>
                  <a:srgbClr val="4961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zh-CN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7218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一段语音不是一个高频纯音。不同频率成分经过耳机后，削弱程度可能不同。</a:t>
            </a:r>
            <a:endParaRPr lang="zh-CN" sz="2300" dirty="0"/>
          </a:p>
        </p:txBody>
      </p:sp>
      <p:sp>
        <p:nvSpPr>
          <p:cNvPr id="7" name="Shape 5"/>
          <p:cNvSpPr/>
          <p:nvPr/>
        </p:nvSpPr>
        <p:spPr>
          <a:xfrm>
            <a:off x="594360" y="2944368"/>
            <a:ext cx="2240280" cy="960120"/>
          </a:xfrm>
          <a:prstGeom prst="rect">
            <a:avLst/>
          </a:prstGeom>
          <a:solidFill>
            <a:srgbClr val="172D33"/>
          </a:solidFill>
          <a:ln w="12700">
            <a:solidFill>
              <a:srgbClr val="172D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3246120"/>
            <a:ext cx="19110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同一段语音</a:t>
            </a:r>
            <a:endParaRPr lang="zh-CN" sz="2200" dirty="0"/>
          </a:p>
        </p:txBody>
      </p:sp>
      <p:sp>
        <p:nvSpPr>
          <p:cNvPr id="9" name="Shape 7"/>
          <p:cNvSpPr/>
          <p:nvPr/>
        </p:nvSpPr>
        <p:spPr>
          <a:xfrm flipV="1">
            <a:off x="2916936" y="2743200"/>
            <a:ext cx="740664" cy="512064"/>
          </a:xfrm>
          <a:prstGeom prst="line">
            <a:avLst/>
          </a:prstGeom>
          <a:noFill/>
          <a:ln w="27940">
            <a:solidFill>
              <a:srgbClr val="006D7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16936" y="3593592"/>
            <a:ext cx="740664" cy="585216"/>
          </a:xfrm>
          <a:prstGeom prst="line">
            <a:avLst/>
          </a:prstGeom>
          <a:noFill/>
          <a:ln w="27940">
            <a:solidFill>
              <a:srgbClr val="9C440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76472" y="2368296"/>
            <a:ext cx="3675888" cy="813816"/>
          </a:xfrm>
          <a:prstGeom prst="rect">
            <a:avLst/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95928" y="2569464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部分成分被削弱</a:t>
            </a:r>
            <a:endParaRPr lang="zh-CN" sz="2300" dirty="0"/>
          </a:p>
        </p:txBody>
      </p:sp>
      <p:sp>
        <p:nvSpPr>
          <p:cNvPr id="13" name="Shape 11"/>
          <p:cNvSpPr/>
          <p:nvPr/>
        </p:nvSpPr>
        <p:spPr>
          <a:xfrm>
            <a:off x="3776472" y="3767328"/>
            <a:ext cx="3675888" cy="813816"/>
          </a:xfrm>
          <a:prstGeom prst="rect">
            <a:avLst/>
          </a:prstGeom>
          <a:solidFill>
            <a:srgbClr val="F5E5D3"/>
          </a:solidFill>
          <a:ln w="12700">
            <a:solidFill>
              <a:srgbClr val="F5E5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95928" y="3968496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dirty="0">
                <a:solidFill>
                  <a:srgbClr val="9C44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其他成分仍有残余</a:t>
            </a:r>
            <a:endParaRPr lang="zh-CN" sz="2300" dirty="0"/>
          </a:p>
        </p:txBody>
      </p:sp>
      <p:sp>
        <p:nvSpPr>
          <p:cNvPr id="15" name="Shape 13"/>
          <p:cNvSpPr/>
          <p:nvPr/>
        </p:nvSpPr>
        <p:spPr>
          <a:xfrm>
            <a:off x="7571232" y="4178808"/>
            <a:ext cx="557784" cy="0"/>
          </a:xfrm>
          <a:prstGeom prst="line">
            <a:avLst/>
          </a:prstGeom>
          <a:noFill/>
          <a:ln w="27940">
            <a:solidFill>
              <a:srgbClr val="9C440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348472" y="3557016"/>
            <a:ext cx="31272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残余若仍足够可听，</a:t>
            </a:r>
            <a:endParaRPr lang="zh-CN" sz="2200" dirty="0"/>
          </a:p>
          <a:p>
            <a:pPr indent="0" marL="0">
              <a:buNone/>
            </a:pPr>
            <a:r>
              <a:rPr lang="zh-CN" altLang="en-US" sz="2200" b="1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就仍能听见人声。</a:t>
            </a:r>
            <a:endParaRPr lang="zh-CN" sz="2200" dirty="0"/>
          </a:p>
        </p:txBody>
      </p:sp>
      <p:sp>
        <p:nvSpPr>
          <p:cNvPr id="17" name="Text 15"/>
          <p:cNvSpPr/>
          <p:nvPr/>
        </p:nvSpPr>
        <p:spPr>
          <a:xfrm>
            <a:off x="594360" y="508406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反例：耳道封闭时，自己的低频说话声可能增强；主动控制可减轻这种增强。</a:t>
            </a:r>
            <a:endParaRPr lang="zh-CN" sz="2000" dirty="0"/>
          </a:p>
          <a:p>
            <a:pPr indent="0" marL="0">
              <a:buNone/>
            </a:pPr>
            <a:r>
              <a:rPr lang="zh-CN" altLang="en-US" sz="2000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这说明语音并非不能抵消，但不等于能完全消除外部说话声。</a:t>
            </a:r>
            <a:endParaRPr lang="zh-CN" sz="2000" dirty="0"/>
          </a:p>
        </p:txBody>
      </p:sp>
      <p:sp>
        <p:nvSpPr>
          <p:cNvPr id="18" name="Text 16"/>
          <p:cNvSpPr/>
          <p:nvPr/>
        </p:nvSpPr>
        <p:spPr>
          <a:xfrm>
            <a:off x="594360" y="5998464"/>
            <a:ext cx="10972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50" dirty="0">
                <a:solidFill>
                  <a:srgbClr val="4961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轰鸣减得更多时，人声可能更突出；“更突出”不等于语音声压被放大。</a:t>
            </a:r>
            <a:endParaRPr lang="zh-CN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spc="110" kern="0" dirty="0">
                <a:solidFill>
                  <a:srgbClr val="4961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听懂降噪耳机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1018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真实佩戴：先分清模式，再解释效果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50" dirty="0">
                <a:solidFill>
                  <a:srgbClr val="4961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来源：Apple 聆听模式说明；Sony 使用指南；Hilgemann 等 §2.2、§6.3。</a:t>
            </a:r>
            <a:endParaRPr lang="zh-CN" sz="1050" dirty="0"/>
          </a:p>
        </p:txBody>
      </p:sp>
      <p:sp>
        <p:nvSpPr>
          <p:cNvPr id="5" name="Text 3"/>
          <p:cNvSpPr/>
          <p:nvPr/>
        </p:nvSpPr>
        <p:spPr>
          <a:xfrm>
            <a:off x="11091672" y="64190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200" dirty="0">
                <a:solidFill>
                  <a:srgbClr val="4961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zh-CN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362456"/>
            <a:ext cx="11000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4961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以下模式以 Apple／Sony 所列设备为例；名称和可用功能因产品而异。</a:t>
            </a:r>
            <a:endParaRPr lang="zh-CN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7498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3500" dirty="0"/>
          </a:p>
        </p:txBody>
      </p:sp>
      <p:sp>
        <p:nvSpPr>
          <p:cNvPr id="8" name="Text 6"/>
          <p:cNvSpPr/>
          <p:nvPr/>
        </p:nvSpPr>
        <p:spPr>
          <a:xfrm>
            <a:off x="594360" y="2578608"/>
            <a:ext cx="3246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确认模式</a:t>
            </a:r>
            <a:endParaRPr lang="zh-CN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3255264"/>
            <a:ext cx="32918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ANC 加入控制声。</a:t>
            </a:r>
            <a:endParaRPr lang="zh-CN" sz="2000" dirty="0"/>
          </a:p>
          <a:p>
            <a:pPr indent="0" marL="0">
              <a:buNone/>
            </a:pPr>
            <a:r>
              <a:rPr lang="zh-CN" altLang="en-US" sz="2000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通透模式让外界声音进入。</a:t>
            </a:r>
            <a:endParaRPr lang="zh-CN" sz="2000" dirty="0"/>
          </a:p>
          <a:p>
            <a:pPr indent="0" marL="0">
              <a:buNone/>
            </a:pPr>
            <a:r>
              <a:rPr lang="zh-CN" altLang="en-US" sz="2000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自适应模式会随环境调整。</a:t>
            </a:r>
            <a:endParaRPr lang="zh-CN" sz="2000" dirty="0"/>
          </a:p>
        </p:txBody>
      </p:sp>
      <p:sp>
        <p:nvSpPr>
          <p:cNvPr id="10" name="Shape 8"/>
          <p:cNvSpPr/>
          <p:nvPr/>
        </p:nvSpPr>
        <p:spPr>
          <a:xfrm>
            <a:off x="1700784" y="2039112"/>
            <a:ext cx="2057400" cy="0"/>
          </a:xfrm>
          <a:prstGeom prst="line">
            <a:avLst/>
          </a:prstGeom>
          <a:noFill/>
          <a:ln w="27940">
            <a:solidFill>
              <a:srgbClr val="49616A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370832" y="1737360"/>
            <a:ext cx="7498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3500" dirty="0"/>
          </a:p>
        </p:txBody>
      </p:sp>
      <p:sp>
        <p:nvSpPr>
          <p:cNvPr id="12" name="Text 10"/>
          <p:cNvSpPr/>
          <p:nvPr/>
        </p:nvSpPr>
        <p:spPr>
          <a:xfrm>
            <a:off x="4370832" y="2578608"/>
            <a:ext cx="3246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留意佩戴</a:t>
            </a:r>
            <a:endParaRPr lang="zh-CN" sz="2400" dirty="0"/>
          </a:p>
        </p:txBody>
      </p:sp>
      <p:sp>
        <p:nvSpPr>
          <p:cNvPr id="13" name="Text 11"/>
          <p:cNvSpPr/>
          <p:nvPr/>
        </p:nvSpPr>
        <p:spPr>
          <a:xfrm>
            <a:off x="4370832" y="3255264"/>
            <a:ext cx="32918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耳形、松紧与泄漏</a:t>
            </a:r>
            <a:endParaRPr lang="zh-CN" sz="2000" dirty="0"/>
          </a:p>
          <a:p>
            <a:pPr indent="0" marL="0">
              <a:buNone/>
            </a:pPr>
            <a:r>
              <a:rPr lang="zh-CN" altLang="en-US" sz="2000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都会改变声学路径；</a:t>
            </a:r>
            <a:endParaRPr lang="zh-CN" sz="2000" dirty="0"/>
          </a:p>
          <a:p>
            <a:pPr indent="0" marL="0">
              <a:buNone/>
            </a:pPr>
            <a:r>
              <a:rPr lang="zh-CN" altLang="en-US" sz="2000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同一耳机也可能表现不同。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5477256" y="2039112"/>
            <a:ext cx="2057400" cy="0"/>
          </a:xfrm>
          <a:prstGeom prst="line">
            <a:avLst/>
          </a:prstGeom>
          <a:noFill/>
          <a:ln w="27940">
            <a:solidFill>
              <a:srgbClr val="49616A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147304" y="1737360"/>
            <a:ext cx="7498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3500" dirty="0"/>
          </a:p>
        </p:txBody>
      </p:sp>
      <p:sp>
        <p:nvSpPr>
          <p:cNvPr id="16" name="Text 14"/>
          <p:cNvSpPr/>
          <p:nvPr/>
        </p:nvSpPr>
        <p:spPr>
          <a:xfrm>
            <a:off x="8147304" y="2578608"/>
            <a:ext cx="3246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保持比较条件</a:t>
            </a:r>
            <a:endParaRPr lang="zh-CN" sz="2400" dirty="0"/>
          </a:p>
        </p:txBody>
      </p:sp>
      <p:sp>
        <p:nvSpPr>
          <p:cNvPr id="17" name="Text 15"/>
          <p:cNvSpPr/>
          <p:nvPr/>
        </p:nvSpPr>
        <p:spPr>
          <a:xfrm>
            <a:off x="8147304" y="3255264"/>
            <a:ext cx="32918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 ANC 开关时，</a:t>
            </a:r>
            <a:endParaRPr lang="zh-CN" sz="2000" dirty="0"/>
          </a:p>
          <a:p>
            <a:pPr indent="0" marL="0">
              <a:buNone/>
            </a:pPr>
            <a:r>
              <a:rPr lang="zh-CN" altLang="en-US" sz="2000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保持同一声源与佩戴，</a:t>
            </a:r>
            <a:endParaRPr lang="zh-CN" sz="2000" dirty="0"/>
          </a:p>
          <a:p>
            <a:pPr indent="0" marL="0">
              <a:buNone/>
            </a:pPr>
            <a:r>
              <a:rPr lang="zh-CN" altLang="en-US" sz="2000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别同时改变环境音模式。</a:t>
            </a:r>
            <a:endParaRPr lang="zh-CN" sz="2000" dirty="0"/>
          </a:p>
        </p:txBody>
      </p:sp>
      <p:sp>
        <p:nvSpPr>
          <p:cNvPr id="18" name="Shape 16"/>
          <p:cNvSpPr/>
          <p:nvPr/>
        </p:nvSpPr>
        <p:spPr>
          <a:xfrm>
            <a:off x="594360" y="4965192"/>
            <a:ext cx="11000232" cy="1143000"/>
          </a:xfrm>
          <a:prstGeom prst="rect">
            <a:avLst/>
          </a:prstGeom>
          <a:solidFill>
            <a:srgbClr val="F5E5D3"/>
          </a:solidFill>
          <a:ln w="12700">
            <a:solidFill>
              <a:srgbClr val="F5E5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5138928"/>
            <a:ext cx="10561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已有测量支持“佩戴会影响结果”，却不能替你预测分贝数。</a:t>
            </a:r>
            <a:endParaRPr lang="zh-CN" sz="2100" dirty="0"/>
          </a:p>
        </p:txBody>
      </p:sp>
      <p:sp>
        <p:nvSpPr>
          <p:cNvPr id="20" name="Text 18"/>
          <p:cNvSpPr/>
          <p:nvPr/>
        </p:nvSpPr>
        <p:spPr>
          <a:xfrm>
            <a:off x="804672" y="5650992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9C44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材料只选读了作者既有原型研究的部分章节；不是本轮测试，也不是市售耳机排名。</a:t>
            </a:r>
            <a:endParaRPr lang="zh-CN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2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spc="110" kern="0" dirty="0">
                <a:solidFill>
                  <a:srgbClr val="B9D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听懂降噪耳机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1018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记住：耳边残余，不是声音类别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643737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50" dirty="0">
                <a:solidFill>
                  <a:srgbClr val="B9D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事实仅据 2026-09-16 冻结研究材料；本轮未新增检索或声学测试。</a:t>
            </a:r>
            <a:endParaRPr lang="zh-CN" sz="1050" dirty="0"/>
          </a:p>
        </p:txBody>
      </p:sp>
      <p:sp>
        <p:nvSpPr>
          <p:cNvPr id="5" name="Text 3"/>
          <p:cNvSpPr/>
          <p:nvPr/>
        </p:nvSpPr>
        <p:spPr>
          <a:xfrm>
            <a:off x="11091672" y="64190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200" dirty="0">
                <a:solidFill>
                  <a:srgbClr val="B9D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zh-CN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719072"/>
            <a:ext cx="1188720" cy="530352"/>
          </a:xfrm>
          <a:prstGeom prst="rect">
            <a:avLst/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10512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相加</a:t>
            </a:r>
            <a:endParaRPr lang="zh-CN" sz="2200" dirty="0"/>
          </a:p>
        </p:txBody>
      </p:sp>
      <p:sp>
        <p:nvSpPr>
          <p:cNvPr id="8" name="Text 6"/>
          <p:cNvSpPr/>
          <p:nvPr/>
        </p:nvSpPr>
        <p:spPr>
          <a:xfrm>
            <a:off x="2011680" y="1728216"/>
            <a:ext cx="9546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ANC 让控制声与传入声在耳边叠加，力求留下更小起伏。</a:t>
            </a:r>
            <a:endParaRPr lang="zh-CN" sz="2100" dirty="0"/>
          </a:p>
        </p:txBody>
      </p:sp>
      <p:sp>
        <p:nvSpPr>
          <p:cNvPr id="9" name="Shape 7"/>
          <p:cNvSpPr/>
          <p:nvPr/>
        </p:nvSpPr>
        <p:spPr>
          <a:xfrm>
            <a:off x="594360" y="2551176"/>
            <a:ext cx="1188720" cy="530352"/>
          </a:xfrm>
          <a:prstGeom prst="rect">
            <a:avLst/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42616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2011680" y="2560320"/>
            <a:ext cx="9546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控制声需补偿路径造成的幅度、相位变化；被动隔音也参与减噪。</a:t>
            </a:r>
            <a:endParaRPr lang="zh-CN" sz="2100" dirty="0"/>
          </a:p>
        </p:txBody>
      </p:sp>
      <p:sp>
        <p:nvSpPr>
          <p:cNvPr id="12" name="Shape 10"/>
          <p:cNvSpPr/>
          <p:nvPr/>
        </p:nvSpPr>
        <p:spPr>
          <a:xfrm>
            <a:off x="594360" y="3383280"/>
            <a:ext cx="1188720" cy="530352"/>
          </a:xfrm>
          <a:prstGeom prst="rect">
            <a:avLst/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74720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rgbClr val="17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残余</a:t>
            </a:r>
            <a:endParaRPr lang="zh-CN" sz="2200" dirty="0"/>
          </a:p>
        </p:txBody>
      </p:sp>
      <p:sp>
        <p:nvSpPr>
          <p:cNvPr id="14" name="Text 12"/>
          <p:cNvSpPr/>
          <p:nvPr/>
        </p:nvSpPr>
        <p:spPr>
          <a:xfrm>
            <a:off x="2011680" y="3392424"/>
            <a:ext cx="9546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轰鸣可减轻、人声可部分削弱，但残余仍可能足够可听。</a:t>
            </a:r>
            <a:endParaRPr lang="zh-CN" sz="2100" dirty="0"/>
          </a:p>
        </p:txBody>
      </p:sp>
      <p:sp>
        <p:nvSpPr>
          <p:cNvPr id="15" name="Text 13"/>
          <p:cNvSpPr/>
          <p:nvPr/>
        </p:nvSpPr>
        <p:spPr>
          <a:xfrm>
            <a:off x="594360" y="4334256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F1C6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机制解释不是个人性能预测：本材料不能回答你这次航班各减少了多少分贝。</a:t>
            </a:r>
            <a:endParaRPr lang="zh-CN" sz="2100" dirty="0"/>
          </a:p>
        </p:txBody>
      </p:sp>
      <p:sp>
        <p:nvSpPr>
          <p:cNvPr id="16" name="Text 14"/>
          <p:cNvSpPr/>
          <p:nvPr/>
        </p:nvSpPr>
        <p:spPr>
          <a:xfrm>
            <a:off x="594360" y="511149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B9D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材料来源与边界</a:t>
            </a:r>
            <a:endParaRPr lang="zh-CN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5577840"/>
            <a:ext cx="54223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RWTH IKS：主动控制原理与自身语音</a:t>
            </a:r>
            <a:endParaRPr lang="zh-CN" sz="1300" dirty="0"/>
          </a:p>
          <a:p>
            <a:pPr indent="0" marL="0">
              <a:buNone/>
            </a:pPr>
            <a:r>
              <a:rPr lang="zh-CN" alt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Sony：WH-1000XM5 使用指南（特定产品）</a:t>
            </a:r>
            <a:endParaRPr lang="zh-CN" sz="1300" dirty="0"/>
          </a:p>
        </p:txBody>
      </p:sp>
      <p:sp>
        <p:nvSpPr>
          <p:cNvPr id="18" name="Text 16"/>
          <p:cNvSpPr/>
          <p:nvPr/>
        </p:nvSpPr>
        <p:spPr>
          <a:xfrm>
            <a:off x="6281928" y="5577840"/>
            <a:ext cx="52852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Hilgemann 等：arXiv:2509.15864v1（选读）</a:t>
            </a:r>
            <a:endParaRPr lang="zh-CN" sz="1300" dirty="0"/>
          </a:p>
          <a:p>
            <a:pPr indent="0" marL="0">
              <a:buNone/>
            </a:pPr>
            <a:r>
              <a:rPr lang="zh-CN" alt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Apple：聆听模式说明（所列设备）</a:t>
            </a:r>
            <a:endParaRPr lang="zh-CN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科普说明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降噪耳机：飞机轰鸣变轻了，为什么人声还在？</dc:title>
  <dc:subject>飞机轰鸣变轻了，为什么人声还在？</dc:subject>
  <dc:creator>Aha</dc:creator>
  <cp:lastModifiedBy>Aha</cp:lastModifiedBy>
  <cp:revision>1</cp:revision>
  <dcterms:created xsi:type="dcterms:W3CDTF">2026-09-21T03:13:50Z</dcterms:created>
  <dcterms:modified xsi:type="dcterms:W3CDTF">2026-09-21T03:13:50Z</dcterms:modified>
</cp:coreProperties>
</file>