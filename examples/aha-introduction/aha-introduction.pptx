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 对象大小（字节）</c:v>
                </c:pt>
              </c:strCache>
            </c:strRef>
          </c:tx>
          <c:spPr>
            <a:solidFill>
              <a:srgbClr val="873E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292629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原 ASCII str</c:v>
                  </c:pt>
                  <c:pt idx="1">
                    <c:v>加 U+1F600 后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100049</c:v>
                </c:pt>
                <c:pt idx="1">
                  <c:v>400080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500" u="none">
                  <a:solidFill>
                    <a:srgbClr val="292629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92629"/>
                </a:solidFill>
                <a:latin typeface="Microsoft YaHei"/>
              </a:defRPr>
            </a:pPr>
            <a:endParaRPr lang="zh-CN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00"/>
          <c:min val="0"/>
        </c:scaling>
        <c:delete val="0"/>
        <c:axPos val="b"/>
        <c:majorGridlines>
          <c:spPr>
            <a:ln w="6350" cap="flat">
              <a:solidFill>
                <a:srgbClr val="CEC2BD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55B5D"/>
                </a:solidFill>
                <a:latin typeface="Microsoft YaHei"/>
              </a:defRPr>
            </a:pPr>
            <a:endParaRPr lang="zh-CN"/>
          </a:p>
        </c:txPr>
        <c:crossAx val="2094734554"/>
        <c:crosses val="autoZero"/>
        <c:crossBetween val="between"/>
        <c:majorUnit val="100000"/>
      </c:valAx>
      <c:spPr>
        <a:solidFill>
          <a:srgbClr val="F7F3ED"/>
        </a:solidFill>
        <a:ln w="12700" cap="flat">
          <a:solidFill>
            <a:srgbClr val="F7F3ED"/>
          </a:solidFill>
        </a:ln>
        <a:effectLst/>
      </c:spPr>
    </c:plotArea>
    <c:plotVisOnly val="1"/>
    <c:dispBlanksAs val="span"/>
  </c:chart>
  <c:spPr>
    <a:solidFill>
      <a:srgbClr val="F7F3ED"/>
    </a:solidFill>
    <a:ln w="12700" cap="flat">
      <a:solidFill>
        <a:srgbClr val="F7F3ED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先让第一次接触 Aha 的听众知道它是什么，而不是先展示案例。这里的“宿主”指承载技能、协调调用与交付的助手或工具环境。两项技能分别承担研究与表达职责，不意味着它们会自动互相调用。接下来解释研究怎样成为可复用的依据，再看三个具体机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档案不仅保存最终答案，还保留答案的支持来源和不能外推的边界。解释工作不是把报告原样塞进幻灯片，而是把读者需要理解的对象、变化和后果组织起来。箭头仅表示研究依据进入解释，不表示自动调用。已有档案也要先检查范围、日期和覆盖是否适合当前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一张选型建议表，不是“所有案例都有四种文件”的库存表。网页的自主操作、信息图的快速概览、幻灯片的逐页讨论和视频的时间过程各有用途。本页先解释媒介选择，后面的三个例子再说明如何把依据变成可见的机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侧圆球上的两个等大标记表示同一边界的两个球面位置，不是格陵兰的实际形状。右侧两个框表示前后使用同一投影设置；玫红符号只编码图上占幅的定性差异，没有面积比值。球面刚性旋转保存面积，投影对不同纬度的放大不同，所以纸上轮廓会变。墨卡托让经线保持等距，而球面经线向两极会聚；为保持局部角度，南北方向也要相应放大。本例只谈固定球面墨卡托、极区裁切和概化边界，不是所有地图的普遍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这里比较的是两个不同的 str 对象，不是在原对象上把槽位改宽。原字符串不可变且仍然保持原样。U+1F600 超出 U+FFFF，结果对象需要四字节槽位；不要把这句话改成“任何非 ASCII 字符都会四字节”。图中 100049 和 400080 是档案继承的对象大小记录，包含对象开销，不是恰好四倍总量。UTF-8 编码是另一种表示：ASCII 前缀仍然每个码点一字节，增加的 U+1F600 占四字节，所以载荷只多四字节。拼接逻辑结合操作数的表示范围，这里没有断言每次拼接都会扫描所有码点。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左边要同时看两件事：合并视图里路径消失，早期层的载荷仍在。删除记录位于较新的层，不能画成用户在合并目录中能看到的普通 whiteout 文件。右边的比较必须坚持“新建临时文件”：开始和结束都没有这个路径，才不会把它的临时载荷加入这个 RUN 的端点差异。它不表示所有层都为空，也不表示能删除基础层里的旧数据。100 MB 是解释机制用的未压缩假设载荷，并不是构建实验。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例子不是在说所有东西都会发生同一种变化，而是在示范同一种解释动作：给观察对象起清楚的名字，区分表示和被表示的对象。地图中的面积感不是球面面积；新的字符串不是原字符串；合并视图不是旧层存储。读者能说清“变的是哪一个对象”，就更容易理解前面每个机制的边界。这是编辑组织原则，不是对学习效果的实测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把下一次请求说成：“我想弄懂这个现象，手头有哪些材料，希望读者通过网页探索，还是通过幻灯片讨论？”先指定问题和用途，宿主才有明确的协调目标。研究已经足够时可以复用已有档案，但仍要检查适用范围。结尾回到两项职责：研究保留支持关系，解释把读者需要理解的关系组织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50" dirty="0">
                <a:solidFill>
                  <a:srgbClr val="DED2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Aha  /  认识 Aha</a:t>
            </a:r>
            <a:endParaRPr lang="zh-CN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6364224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DED2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依据：Aha 简介 Dossier · 2026-09-17；两项技能的职责与边界</a:t>
            </a:r>
            <a:endParaRPr lang="zh-CN" sz="1150" dirty="0"/>
          </a:p>
        </p:txBody>
      </p:sp>
      <p:sp>
        <p:nvSpPr>
          <p:cNvPr id="4" name="Text 2"/>
          <p:cNvSpPr/>
          <p:nvPr/>
        </p:nvSpPr>
        <p:spPr>
          <a:xfrm>
            <a:off x="10972800" y="631850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300" dirty="0">
                <a:solidFill>
                  <a:srgbClr val="DED2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4500" b="1" dirty="0">
                <a:solidFill>
                  <a:srgbClr val="F7F3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Aha 是什么？</a:t>
            </a:r>
            <a:endParaRPr lang="zh-CN" sz="4500" dirty="0"/>
          </a:p>
        </p:txBody>
      </p:sp>
      <p:sp>
        <p:nvSpPr>
          <p:cNvPr id="6" name="Text 4"/>
          <p:cNvSpPr/>
          <p:nvPr/>
        </p:nvSpPr>
        <p:spPr>
          <a:xfrm>
            <a:off x="594360" y="2267712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700" b="1" dirty="0">
                <a:solidFill>
                  <a:srgbClr val="F7F3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让有依据的解释</a:t>
            </a:r>
            <a:endParaRPr lang="zh-CN" sz="3700" dirty="0"/>
          </a:p>
          <a:p>
            <a:pPr indent="0" marL="0">
              <a:buNone/>
            </a:pPr>
            <a:r>
              <a:rPr lang="zh-CN" altLang="en-US" sz="3700" b="1" dirty="0">
                <a:solidFill>
                  <a:srgbClr val="F7F3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变得可见</a:t>
            </a:r>
            <a:endParaRPr lang="zh-CN" sz="3700" dirty="0"/>
          </a:p>
        </p:txBody>
      </p:sp>
      <p:sp>
        <p:nvSpPr>
          <p:cNvPr id="7" name="Text 5"/>
          <p:cNvSpPr/>
          <p:nvPr/>
        </p:nvSpPr>
        <p:spPr>
          <a:xfrm>
            <a:off x="594360" y="4187952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dirty="0">
                <a:solidFill>
                  <a:srgbClr val="DED2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两项可移植技能：一项把问题查清，</a:t>
            </a:r>
            <a:endParaRPr lang="zh-CN" sz="2300" dirty="0"/>
          </a:p>
          <a:p>
            <a:pPr indent="0" marL="0">
              <a:buNone/>
            </a:pPr>
            <a:r>
              <a:rPr lang="zh-CN" altLang="en-US" sz="2300" dirty="0">
                <a:solidFill>
                  <a:srgbClr val="DED2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一项为阅读目的设计表达。</a:t>
            </a:r>
            <a:endParaRPr lang="zh-CN" sz="2300" dirty="0"/>
          </a:p>
        </p:txBody>
      </p:sp>
      <p:sp>
        <p:nvSpPr>
          <p:cNvPr id="8" name="Shape 6"/>
          <p:cNvSpPr/>
          <p:nvPr/>
        </p:nvSpPr>
        <p:spPr>
          <a:xfrm>
            <a:off x="8138160" y="1325880"/>
            <a:ext cx="3429000" cy="1508760"/>
          </a:xfrm>
          <a:prstGeom prst="rect">
            <a:avLst/>
          </a:prstGeom>
          <a:solidFill>
            <a:srgbClr val="F7F3ED"/>
          </a:solidFill>
          <a:ln w="12700">
            <a:solidFill>
              <a:srgbClr val="F7F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94192" y="1591056"/>
            <a:ext cx="2926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500" b="1" dirty="0">
                <a:solidFill>
                  <a:srgbClr val="873E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aha-research</a:t>
            </a:r>
            <a:endParaRPr lang="zh-CN" sz="2500" dirty="0"/>
          </a:p>
        </p:txBody>
      </p:sp>
      <p:sp>
        <p:nvSpPr>
          <p:cNvPr id="10" name="Text 8"/>
          <p:cNvSpPr/>
          <p:nvPr/>
        </p:nvSpPr>
        <p:spPr>
          <a:xfrm>
            <a:off x="8394192" y="21579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50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研究：结论、证据、限制</a:t>
            </a:r>
            <a:endParaRPr lang="zh-CN" sz="1750" dirty="0"/>
          </a:p>
        </p:txBody>
      </p:sp>
      <p:sp>
        <p:nvSpPr>
          <p:cNvPr id="11" name="Shape 9"/>
          <p:cNvSpPr/>
          <p:nvPr/>
        </p:nvSpPr>
        <p:spPr>
          <a:xfrm>
            <a:off x="8138160" y="3200400"/>
            <a:ext cx="3429000" cy="1508760"/>
          </a:xfrm>
          <a:prstGeom prst="rect">
            <a:avLst/>
          </a:prstGeom>
          <a:solidFill>
            <a:srgbClr val="873E55"/>
          </a:solidFill>
          <a:ln w="12700">
            <a:solidFill>
              <a:srgbClr val="873E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94192" y="3465576"/>
            <a:ext cx="2926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aha-explain</a:t>
            </a:r>
            <a:endParaRPr lang="zh-CN" sz="2500" dirty="0"/>
          </a:p>
        </p:txBody>
      </p:sp>
      <p:sp>
        <p:nvSpPr>
          <p:cNvPr id="13" name="Text 11"/>
          <p:cNvSpPr/>
          <p:nvPr/>
        </p:nvSpPr>
        <p:spPr>
          <a:xfrm>
            <a:off x="8394192" y="40325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解释：按所需媒介创作</a:t>
            </a:r>
            <a:endParaRPr lang="zh-CN" sz="1750" dirty="0"/>
          </a:p>
        </p:txBody>
      </p:sp>
      <p:sp>
        <p:nvSpPr>
          <p:cNvPr id="14" name="Text 12"/>
          <p:cNvSpPr/>
          <p:nvPr/>
        </p:nvSpPr>
        <p:spPr>
          <a:xfrm>
            <a:off x="594360" y="55869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dirty="0">
                <a:solidFill>
                  <a:srgbClr val="F7F3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由宿主协调，不是自动分发流水线。</a:t>
            </a:r>
            <a:endParaRPr lang="zh-CN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5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Aha  /  两项技能如何配合</a:t>
            </a:r>
            <a:endParaRPr lang="zh-CN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6364224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依据：简介 Dossier 的技能职责；当前 Aha 作者指南</a:t>
            </a:r>
            <a:endParaRPr lang="zh-CN" sz="1150" dirty="0"/>
          </a:p>
        </p:txBody>
      </p:sp>
      <p:sp>
        <p:nvSpPr>
          <p:cNvPr id="4" name="Text 2"/>
          <p:cNvSpPr/>
          <p:nvPr/>
        </p:nvSpPr>
        <p:spPr>
          <a:xfrm>
            <a:off x="10972800" y="631850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30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200" b="1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研究保留依据，解释建立看得懂的关系</a:t>
            </a:r>
            <a:endParaRPr lang="zh-CN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5361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同一份研究可以被复用；换媒介时，要重新设计表达。</a:t>
            </a:r>
            <a:endParaRPr lang="zh-CN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2313432"/>
            <a:ext cx="507492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EC2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786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873E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aha-research</a:t>
            </a:r>
            <a:endParaRPr lang="zh-CN" sz="2800" dirty="0"/>
          </a:p>
        </p:txBody>
      </p:sp>
      <p:sp>
        <p:nvSpPr>
          <p:cNvPr id="9" name="Text 7"/>
          <p:cNvSpPr/>
          <p:nvPr/>
        </p:nvSpPr>
        <p:spPr>
          <a:xfrm>
            <a:off x="868680" y="3246120"/>
            <a:ext cx="4343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围绕问题调查与核对，</a:t>
            </a:r>
            <a:endParaRPr lang="zh-CN" sz="2400" dirty="0"/>
          </a:p>
          <a:p>
            <a:pPr indent="0" marL="0">
              <a:buNone/>
            </a:pPr>
            <a:r>
              <a:rPr lang="zh-CN" altLang="en-US" sz="2400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保存结论、证据和限制。</a:t>
            </a:r>
            <a:endParaRPr lang="zh-CN" sz="2400" dirty="0"/>
          </a:p>
        </p:txBody>
      </p:sp>
      <p:sp>
        <p:nvSpPr>
          <p:cNvPr id="10" name="Shape 8"/>
          <p:cNvSpPr/>
          <p:nvPr/>
        </p:nvSpPr>
        <p:spPr>
          <a:xfrm>
            <a:off x="6510528" y="2313432"/>
            <a:ext cx="5074920" cy="2395728"/>
          </a:xfrm>
          <a:prstGeom prst="rect">
            <a:avLst/>
          </a:prstGeom>
          <a:solidFill>
            <a:srgbClr val="EADCE0"/>
          </a:solidFill>
          <a:ln w="12700">
            <a:solidFill>
              <a:srgbClr val="EADC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84848" y="25786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873E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aha-explain</a:t>
            </a:r>
            <a:endParaRPr lang="zh-CN" sz="2800" dirty="0"/>
          </a:p>
        </p:txBody>
      </p:sp>
      <p:sp>
        <p:nvSpPr>
          <p:cNvPr id="12" name="Text 10"/>
          <p:cNvSpPr/>
          <p:nvPr/>
        </p:nvSpPr>
        <p:spPr>
          <a:xfrm>
            <a:off x="6784848" y="3246120"/>
            <a:ext cx="4343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把支持得住的结论，</a:t>
            </a:r>
            <a:endParaRPr lang="zh-CN" sz="2400" dirty="0"/>
          </a:p>
          <a:p>
            <a:pPr indent="0" marL="0">
              <a:buNone/>
            </a:pPr>
            <a:r>
              <a:rPr lang="zh-CN" altLang="en-US" sz="2400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写成适合所需媒介的解释。</a:t>
            </a:r>
            <a:endParaRPr lang="zh-CN" sz="2400" dirty="0"/>
          </a:p>
        </p:txBody>
      </p:sp>
      <p:sp>
        <p:nvSpPr>
          <p:cNvPr id="13" name="Shape 11"/>
          <p:cNvSpPr/>
          <p:nvPr/>
        </p:nvSpPr>
        <p:spPr>
          <a:xfrm>
            <a:off x="5760720" y="3410712"/>
            <a:ext cx="640080" cy="0"/>
          </a:xfrm>
          <a:prstGeom prst="line">
            <a:avLst/>
          </a:prstGeom>
          <a:noFill/>
          <a:ln w="21590">
            <a:solidFill>
              <a:srgbClr val="873E55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68680" y="497433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Dossier：可复用的研究档案</a:t>
            </a:r>
            <a:endParaRPr lang="zh-CN" sz="2000" dirty="0"/>
          </a:p>
        </p:txBody>
      </p:sp>
      <p:sp>
        <p:nvSpPr>
          <p:cNvPr id="15" name="Text 13"/>
          <p:cNvSpPr/>
          <p:nvPr/>
        </p:nvSpPr>
        <p:spPr>
          <a:xfrm>
            <a:off x="6784848" y="4919472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文字、图解、比较与变化，</a:t>
            </a:r>
            <a:endParaRPr lang="zh-CN" sz="1800" dirty="0"/>
          </a:p>
          <a:p>
            <a:pPr indent="0" marL="0">
              <a:buNone/>
            </a:pPr>
            <a:r>
              <a:rPr lang="zh-CN" altLang="en-US" sz="1800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共同说明“为什么”。</a:t>
            </a:r>
            <a:endParaRPr lang="zh-CN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5742432"/>
            <a:ext cx="10469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箭头表示依据被复用；何时研究、何时解释，由宿主协调。</a:t>
            </a:r>
            <a:endParaRPr lang="zh-CN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5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Aha  /  按目的选媒介</a:t>
            </a:r>
            <a:endParaRPr lang="zh-CN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6364224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选择建议：依据当前 Aha 的媒介职责作编辑归纳；不是案例完成清单</a:t>
            </a:r>
            <a:endParaRPr lang="zh-CN" sz="1150" dirty="0"/>
          </a:p>
        </p:txBody>
      </p:sp>
      <p:sp>
        <p:nvSpPr>
          <p:cNvPr id="4" name="Text 2"/>
          <p:cNvSpPr/>
          <p:nvPr/>
        </p:nvSpPr>
        <p:spPr>
          <a:xfrm>
            <a:off x="10972800" y="631850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30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200" b="1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先问读者要做什么，再选交付形式</a:t>
            </a:r>
            <a:endParaRPr lang="zh-CN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5361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支持一种媒介，不等于每个案例都已经交付了这种媒介。</a:t>
            </a:r>
            <a:endParaRPr lang="zh-CN" sz="1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67712"/>
          <a:ext cx="10991088" cy="3063240"/>
        </p:xfrm>
        <a:graphic>
          <a:graphicData uri="http://schemas.openxmlformats.org/drawingml/2006/table">
            <a:tbl>
              <a:tblPr/>
              <a:tblGrid>
                <a:gridCol w="2103120"/>
                <a:gridCol w="4114800"/>
                <a:gridCol w="4773168"/>
              </a:tblGrid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媒介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01600" marB="101600" anchor="ctr">
                    <a:lnL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3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读者主要想做什么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01600" marB="101600" anchor="ctr">
                    <a:lnL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3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适合怎样组织解释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01600" marB="101600" anchor="ctr">
                    <a:lnL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3E55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926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HTML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01600" marB="101600" anchor="ctr">
                    <a:lnL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926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自主阅读、操作与探索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01600" marB="101600" anchor="ctr">
                    <a:lnL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926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让读者控制阅读路径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01600" marB="101600" anchor="ctr">
                    <a:lnL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926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PNG 信息图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01600" marB="101600" anchor="ctr">
                    <a:lnL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926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快速回顾、转发要点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01600" marB="101600" anchor="ctr">
                    <a:lnL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926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一张图保留关键关系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01600" marB="101600" anchor="ctr">
                    <a:lnL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CE0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926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原生 PPTX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01600" marB="101600" anchor="ctr">
                    <a:lnL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926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逐页讲解、讨论与修改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01600" marB="101600" anchor="ctr">
                    <a:lnL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926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分步推理，保留可编辑对象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01600" marB="101600" anchor="ctr">
                    <a:lnL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926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01600" marB="101600" anchor="ctr">
                    <a:lnL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926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跟随时间理解变化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01600" marB="101600" anchor="ctr">
                    <a:lnL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2926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把状态变化与讲解配合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01600" marB="101600" anchor="ctr">
                    <a:lnL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7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CE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77240" y="570585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873E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同一依据，不是四次复制；表达方式跟着使用目的改变。</a:t>
            </a:r>
            <a:endParaRPr lang="zh-CN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5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Aha  /  案例一 · 格陵兰</a:t>
            </a:r>
            <a:endParaRPr lang="zh-CN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6364224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继承来源：Greenland Dossier；PROJ 球面 Mercator；Natural Earth 5.1.2 概化边界</a:t>
            </a:r>
            <a:endParaRPr lang="zh-CN" sz="1150" dirty="0"/>
          </a:p>
        </p:txBody>
      </p:sp>
      <p:sp>
        <p:nvSpPr>
          <p:cNvPr id="4" name="Text 2"/>
          <p:cNvSpPr/>
          <p:nvPr/>
        </p:nvSpPr>
        <p:spPr>
          <a:xfrm>
            <a:off x="10972800" y="631850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30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zh-CN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200" b="1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格陵兰在图上变小，球面面积却没变</a:t>
            </a:r>
            <a:endParaRPr lang="zh-CN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5361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固定球面墨卡托投影：高纬放大更强；移向低纬，图上占幅随之改变。</a:t>
            </a:r>
            <a:endParaRPr lang="zh-CN" sz="1900" dirty="0"/>
          </a:p>
        </p:txBody>
      </p:sp>
      <p:sp>
        <p:nvSpPr>
          <p:cNvPr id="7" name="Shape 5"/>
          <p:cNvSpPr/>
          <p:nvPr/>
        </p:nvSpPr>
        <p:spPr>
          <a:xfrm>
            <a:off x="804672" y="2423160"/>
            <a:ext cx="2743200" cy="2743200"/>
          </a:xfrm>
          <a:prstGeom prst="ellipse">
            <a:avLst/>
          </a:prstGeom>
          <a:solidFill>
            <a:srgbClr val="F7F3ED"/>
          </a:solidFill>
          <a:ln w="19050">
            <a:solidFill>
              <a:srgbClr val="29262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36192" y="2423160"/>
            <a:ext cx="1280160" cy="2743200"/>
          </a:xfrm>
          <a:prstGeom prst="ellipse">
            <a:avLst/>
          </a:prstGeom>
          <a:solidFill>
            <a:srgbClr val="F7F3ED">
              <a:alpha val="0"/>
            </a:srgbClr>
          </a:solidFill>
          <a:ln w="19050">
            <a:solidFill>
              <a:srgbClr val="CEC2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3794760"/>
            <a:ext cx="2560320" cy="0"/>
          </a:xfrm>
          <a:prstGeom prst="line">
            <a:avLst/>
          </a:prstGeom>
          <a:noFill/>
          <a:ln w="12700">
            <a:solidFill>
              <a:srgbClr val="CEC2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38528" y="2688336"/>
            <a:ext cx="320040" cy="320040"/>
          </a:xfrm>
          <a:prstGeom prst="ellipse">
            <a:avLst/>
          </a:prstGeom>
          <a:solidFill>
            <a:srgbClr val="873E55"/>
          </a:solidFill>
          <a:ln w="19050">
            <a:solidFill>
              <a:srgbClr val="873E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15768" y="3822192"/>
            <a:ext cx="320040" cy="320040"/>
          </a:xfrm>
          <a:prstGeom prst="ellipse">
            <a:avLst/>
          </a:prstGeom>
          <a:solidFill>
            <a:srgbClr val="873E55"/>
          </a:solidFill>
          <a:ln w="19050">
            <a:solidFill>
              <a:srgbClr val="873E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7712" y="3008376"/>
            <a:ext cx="438912" cy="685800"/>
          </a:xfrm>
          <a:prstGeom prst="line">
            <a:avLst/>
          </a:prstGeom>
          <a:noFill/>
          <a:ln w="21590">
            <a:solidFill>
              <a:srgbClr val="873E55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13232" y="5340096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300" b="1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球面刚性旋转</a:t>
            </a:r>
            <a:endParaRPr lang="zh-CN" sz="2300" dirty="0"/>
          </a:p>
        </p:txBody>
      </p:sp>
      <p:sp>
        <p:nvSpPr>
          <p:cNvPr id="14" name="Text 12"/>
          <p:cNvSpPr/>
          <p:nvPr/>
        </p:nvSpPr>
        <p:spPr>
          <a:xfrm>
            <a:off x="713232" y="5806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5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每个边界点用同一变换</a:t>
            </a:r>
            <a:endParaRPr lang="zh-CN" sz="1650" dirty="0"/>
          </a:p>
        </p:txBody>
      </p:sp>
      <p:sp>
        <p:nvSpPr>
          <p:cNvPr id="15" name="Shape 13"/>
          <p:cNvSpPr/>
          <p:nvPr/>
        </p:nvSpPr>
        <p:spPr>
          <a:xfrm>
            <a:off x="3877056" y="3776472"/>
            <a:ext cx="722376" cy="0"/>
          </a:xfrm>
          <a:prstGeom prst="line">
            <a:avLst/>
          </a:prstGeom>
          <a:noFill/>
          <a:ln w="21590">
            <a:solidFill>
              <a:srgbClr val="873E55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831336" y="3273552"/>
            <a:ext cx="868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dirty="0">
                <a:solidFill>
                  <a:srgbClr val="873E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再投影</a:t>
            </a:r>
            <a:endParaRPr lang="zh-CN" sz="1600" dirty="0"/>
          </a:p>
        </p:txBody>
      </p:sp>
      <p:sp>
        <p:nvSpPr>
          <p:cNvPr id="17" name="Text 15"/>
          <p:cNvSpPr/>
          <p:nvPr/>
        </p:nvSpPr>
        <p:spPr>
          <a:xfrm>
            <a:off x="4864608" y="2286000"/>
            <a:ext cx="3163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高纬位置</a:t>
            </a:r>
            <a:endParaRPr lang="zh-CN" sz="2200" dirty="0"/>
          </a:p>
        </p:txBody>
      </p:sp>
      <p:sp>
        <p:nvSpPr>
          <p:cNvPr id="18" name="Shape 16"/>
          <p:cNvSpPr/>
          <p:nvPr/>
        </p:nvSpPr>
        <p:spPr>
          <a:xfrm>
            <a:off x="4864608" y="2852928"/>
            <a:ext cx="3163824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CEC2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56048" y="3310128"/>
            <a:ext cx="2980944" cy="0"/>
          </a:xfrm>
          <a:prstGeom prst="line">
            <a:avLst/>
          </a:prstGeom>
          <a:noFill/>
          <a:ln w="12700">
            <a:solidFill>
              <a:srgbClr val="CEC2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56048" y="3913632"/>
            <a:ext cx="2980944" cy="0"/>
          </a:xfrm>
          <a:prstGeom prst="line">
            <a:avLst/>
          </a:prstGeom>
          <a:noFill/>
          <a:ln w="12700">
            <a:solidFill>
              <a:srgbClr val="CEC2B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56048" y="4526280"/>
            <a:ext cx="2980944" cy="0"/>
          </a:xfrm>
          <a:prstGeom prst="line">
            <a:avLst/>
          </a:prstGeom>
          <a:noFill/>
          <a:ln w="12700">
            <a:solidFill>
              <a:srgbClr val="CEC2B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50992" y="2944368"/>
            <a:ext cx="0" cy="1938528"/>
          </a:xfrm>
          <a:prstGeom prst="line">
            <a:avLst/>
          </a:prstGeom>
          <a:noFill/>
          <a:ln w="12700">
            <a:solidFill>
              <a:srgbClr val="CEC2B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2944368"/>
            <a:ext cx="0" cy="1938528"/>
          </a:xfrm>
          <a:prstGeom prst="line">
            <a:avLst/>
          </a:prstGeom>
          <a:noFill/>
          <a:ln w="12700">
            <a:solidFill>
              <a:srgbClr val="CEC2B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42048" y="2944368"/>
            <a:ext cx="0" cy="1938528"/>
          </a:xfrm>
          <a:prstGeom prst="line">
            <a:avLst/>
          </a:prstGeom>
          <a:noFill/>
          <a:ln w="12700">
            <a:solidFill>
              <a:srgbClr val="CEC2B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29300" y="3328416"/>
            <a:ext cx="1234440" cy="1170432"/>
          </a:xfrm>
          <a:prstGeom prst="ellipse">
            <a:avLst/>
          </a:prstGeom>
          <a:solidFill>
            <a:srgbClr val="873E55"/>
          </a:solidFill>
          <a:ln w="19050">
            <a:solidFill>
              <a:srgbClr val="873E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94192" y="2286000"/>
            <a:ext cx="3163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反事实移向低纬</a:t>
            </a:r>
            <a:endParaRPr lang="zh-CN" sz="2200" dirty="0"/>
          </a:p>
        </p:txBody>
      </p:sp>
      <p:sp>
        <p:nvSpPr>
          <p:cNvPr id="27" name="Shape 25"/>
          <p:cNvSpPr/>
          <p:nvPr/>
        </p:nvSpPr>
        <p:spPr>
          <a:xfrm>
            <a:off x="8394192" y="2852928"/>
            <a:ext cx="3163824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CEC2B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85632" y="3310128"/>
            <a:ext cx="2980944" cy="0"/>
          </a:xfrm>
          <a:prstGeom prst="line">
            <a:avLst/>
          </a:prstGeom>
          <a:noFill/>
          <a:ln w="12700">
            <a:solidFill>
              <a:srgbClr val="CEC2B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85632" y="3913632"/>
            <a:ext cx="2980944" cy="0"/>
          </a:xfrm>
          <a:prstGeom prst="line">
            <a:avLst/>
          </a:prstGeom>
          <a:noFill/>
          <a:ln w="12700">
            <a:solidFill>
              <a:srgbClr val="CEC2B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85632" y="4526280"/>
            <a:ext cx="2980944" cy="0"/>
          </a:xfrm>
          <a:prstGeom prst="line">
            <a:avLst/>
          </a:prstGeom>
          <a:noFill/>
          <a:ln w="12700">
            <a:solidFill>
              <a:srgbClr val="CEC2B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80576" y="2944368"/>
            <a:ext cx="0" cy="1938528"/>
          </a:xfrm>
          <a:prstGeom prst="line">
            <a:avLst/>
          </a:prstGeom>
          <a:noFill/>
          <a:ln w="12700">
            <a:solidFill>
              <a:srgbClr val="CEC2B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976104" y="2944368"/>
            <a:ext cx="0" cy="1938528"/>
          </a:xfrm>
          <a:prstGeom prst="line">
            <a:avLst/>
          </a:prstGeom>
          <a:noFill/>
          <a:ln w="12700">
            <a:solidFill>
              <a:srgbClr val="CEC2B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771632" y="2944368"/>
            <a:ext cx="0" cy="1938528"/>
          </a:xfrm>
          <a:prstGeom prst="line">
            <a:avLst/>
          </a:prstGeom>
          <a:noFill/>
          <a:ln w="12700">
            <a:solidFill>
              <a:srgbClr val="CEC2B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10344" y="3593592"/>
            <a:ext cx="731520" cy="640080"/>
          </a:xfrm>
          <a:prstGeom prst="ellipse">
            <a:avLst/>
          </a:prstGeom>
          <a:solidFill>
            <a:srgbClr val="873E55"/>
          </a:solidFill>
          <a:ln w="19050">
            <a:solidFill>
              <a:srgbClr val="873E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5212080"/>
            <a:ext cx="6693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873E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同一固定投影；比例与平移不变</a:t>
            </a:r>
            <a:endParaRPr lang="zh-CN" sz="2100" dirty="0"/>
          </a:p>
        </p:txBody>
      </p:sp>
      <p:sp>
        <p:nvSpPr>
          <p:cNvPr id="36" name="Text 34"/>
          <p:cNvSpPr/>
          <p:nvPr/>
        </p:nvSpPr>
        <p:spPr>
          <a:xfrm>
            <a:off x="4864608" y="5687568"/>
            <a:ext cx="6693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示意符号，不是地理轮廓或面积测量；不是二维缩图。</a:t>
            </a:r>
            <a:endParaRPr lang="zh-CN" sz="1650" dirty="0"/>
          </a:p>
        </p:txBody>
      </p:sp>
      <p:sp>
        <p:nvSpPr>
          <p:cNvPr id="37" name="Text 35"/>
          <p:cNvSpPr/>
          <p:nvPr/>
        </p:nvSpPr>
        <p:spPr>
          <a:xfrm>
            <a:off x="4864608" y="6025896"/>
            <a:ext cx="6693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球面模型、极区裁切、概化边界；不是大陆真的移动。</a:t>
            </a:r>
            <a:endParaRPr lang="zh-CN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5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Aha  /  案例二 · CPython 字符串</a:t>
            </a:r>
            <a:endParaRPr lang="zh-CN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6364224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继承来源：CPython Dossier；PEP 393；CPython 3.11.15（2340a037…）；数值为既有本地记录</a:t>
            </a:r>
            <a:endParaRPr lang="zh-CN" sz="1150" dirty="0"/>
          </a:p>
        </p:txBody>
      </p:sp>
      <p:sp>
        <p:nvSpPr>
          <p:cNvPr id="4" name="Text 2"/>
          <p:cNvSpPr/>
          <p:nvPr/>
        </p:nvSpPr>
        <p:spPr>
          <a:xfrm>
            <a:off x="10972800" y="631850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30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zh-CN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200" b="1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为何一个字符让新 str 占用大增？</a:t>
            </a:r>
            <a:endParaRPr lang="zh-CN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5361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特定例子：100000 个 ASCII 字符后追加 U+1F600，生成新的 str。</a:t>
            </a:r>
            <a:endParaRPr lang="zh-CN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225856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str：每槽 1 字节，保持不变</a:t>
            </a:r>
            <a:endParaRPr lang="zh-CN" sz="2100" dirty="0"/>
          </a:p>
        </p:txBody>
      </p:sp>
      <p:sp>
        <p:nvSpPr>
          <p:cNvPr id="8" name="Shape 6"/>
          <p:cNvSpPr/>
          <p:nvPr/>
        </p:nvSpPr>
        <p:spPr>
          <a:xfrm>
            <a:off x="621792" y="2871216"/>
            <a:ext cx="4114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EC2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9077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800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zh-CN" sz="1800" dirty="0"/>
          </a:p>
        </p:txBody>
      </p:sp>
      <p:sp>
        <p:nvSpPr>
          <p:cNvPr id="10" name="Shape 8"/>
          <p:cNvSpPr/>
          <p:nvPr/>
        </p:nvSpPr>
        <p:spPr>
          <a:xfrm>
            <a:off x="1133856" y="2871216"/>
            <a:ext cx="4114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EC2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29077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800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zh-CN" sz="1800" dirty="0"/>
          </a:p>
        </p:txBody>
      </p:sp>
      <p:sp>
        <p:nvSpPr>
          <p:cNvPr id="12" name="Shape 10"/>
          <p:cNvSpPr/>
          <p:nvPr/>
        </p:nvSpPr>
        <p:spPr>
          <a:xfrm>
            <a:off x="1645920" y="2871216"/>
            <a:ext cx="4114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EC2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29077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800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zh-CN" sz="1800" dirty="0"/>
          </a:p>
        </p:txBody>
      </p:sp>
      <p:sp>
        <p:nvSpPr>
          <p:cNvPr id="14" name="Shape 12"/>
          <p:cNvSpPr/>
          <p:nvPr/>
        </p:nvSpPr>
        <p:spPr>
          <a:xfrm>
            <a:off x="2157984" y="2871216"/>
            <a:ext cx="4114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EC2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57984" y="29077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800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zh-CN" sz="1800" dirty="0"/>
          </a:p>
        </p:txBody>
      </p:sp>
      <p:sp>
        <p:nvSpPr>
          <p:cNvPr id="16" name="Text 14"/>
          <p:cNvSpPr/>
          <p:nvPr/>
        </p:nvSpPr>
        <p:spPr>
          <a:xfrm>
            <a:off x="2724912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</a:t>
            </a:r>
            <a:endParaRPr lang="zh-CN" sz="2200" dirty="0"/>
          </a:p>
        </p:txBody>
      </p:sp>
      <p:sp>
        <p:nvSpPr>
          <p:cNvPr id="17" name="Text 15"/>
          <p:cNvSpPr/>
          <p:nvPr/>
        </p:nvSpPr>
        <p:spPr>
          <a:xfrm>
            <a:off x="594360" y="363016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873E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 str：统一改用 4 字节槽位</a:t>
            </a:r>
            <a:endParaRPr lang="zh-CN" sz="2100" dirty="0"/>
          </a:p>
        </p:txBody>
      </p:sp>
      <p:sp>
        <p:nvSpPr>
          <p:cNvPr id="18" name="Shape 16"/>
          <p:cNvSpPr/>
          <p:nvPr/>
        </p:nvSpPr>
        <p:spPr>
          <a:xfrm>
            <a:off x="621792" y="4242816"/>
            <a:ext cx="1170432" cy="484632"/>
          </a:xfrm>
          <a:prstGeom prst="rect">
            <a:avLst/>
          </a:prstGeom>
          <a:solidFill>
            <a:srgbClr val="EADCE0"/>
          </a:solidFill>
          <a:ln w="12700">
            <a:solidFill>
              <a:srgbClr val="873E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27939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800" dirty="0">
                <a:solidFill>
                  <a:srgbClr val="873E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zh-CN" sz="1800" dirty="0"/>
          </a:p>
        </p:txBody>
      </p:sp>
      <p:sp>
        <p:nvSpPr>
          <p:cNvPr id="20" name="Shape 18"/>
          <p:cNvSpPr/>
          <p:nvPr/>
        </p:nvSpPr>
        <p:spPr>
          <a:xfrm>
            <a:off x="1947672" y="4242816"/>
            <a:ext cx="1170432" cy="484632"/>
          </a:xfrm>
          <a:prstGeom prst="rect">
            <a:avLst/>
          </a:prstGeom>
          <a:solidFill>
            <a:srgbClr val="EADCE0"/>
          </a:solidFill>
          <a:ln w="12700">
            <a:solidFill>
              <a:srgbClr val="873E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47672" y="427939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800" dirty="0">
                <a:solidFill>
                  <a:srgbClr val="873E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zh-CN" sz="1800" dirty="0"/>
          </a:p>
        </p:txBody>
      </p:sp>
      <p:sp>
        <p:nvSpPr>
          <p:cNvPr id="22" name="Shape 20"/>
          <p:cNvSpPr/>
          <p:nvPr/>
        </p:nvSpPr>
        <p:spPr>
          <a:xfrm>
            <a:off x="3273552" y="4242816"/>
            <a:ext cx="1170432" cy="484632"/>
          </a:xfrm>
          <a:prstGeom prst="rect">
            <a:avLst/>
          </a:prstGeom>
          <a:solidFill>
            <a:srgbClr val="EADCE0"/>
          </a:solidFill>
          <a:ln w="12700">
            <a:solidFill>
              <a:srgbClr val="873E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73552" y="427939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873E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U+1F600</a:t>
            </a:r>
            <a:endParaRPr lang="zh-CN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4946904"/>
            <a:ext cx="4910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该码点超出 U+FFFF，</a:t>
            </a:r>
            <a:endParaRPr lang="zh-CN" sz="1900" dirty="0"/>
          </a:p>
          <a:p>
            <a:pPr indent="0" marL="0">
              <a:buNone/>
            </a:pPr>
            <a:r>
              <a:rPr lang="zh-CN" altLang="en-US" sz="1900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新对象连 ASCII 前缀也用宽槽位。</a:t>
            </a:r>
            <a:endParaRPr lang="zh-CN" sz="1900" dirty="0"/>
          </a:p>
        </p:txBody>
      </p:sp>
      <p:sp>
        <p:nvSpPr>
          <p:cNvPr id="25" name="Text 23"/>
          <p:cNvSpPr/>
          <p:nvPr/>
        </p:nvSpPr>
        <p:spPr>
          <a:xfrm>
            <a:off x="594360" y="587959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槽位为示意；并非画出全部字符。</a:t>
            </a:r>
            <a:endParaRPr lang="zh-CN" sz="1500" dirty="0"/>
          </a:p>
        </p:txBody>
      </p:sp>
      <p:sp>
        <p:nvSpPr>
          <p:cNvPr id="26" name="Text 24"/>
          <p:cNvSpPr/>
          <p:nvPr/>
        </p:nvSpPr>
        <p:spPr>
          <a:xfrm>
            <a:off x="6071616" y="2221992"/>
            <a:ext cx="5513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 对象大小（字节）</a:t>
            </a:r>
            <a:endParaRPr lang="zh-CN" sz="22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5943600" y="2743200"/>
          <a:ext cx="5650992" cy="224942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Shape 25"/>
          <p:cNvSpPr/>
          <p:nvPr/>
        </p:nvSpPr>
        <p:spPr>
          <a:xfrm>
            <a:off x="6071616" y="5175504"/>
            <a:ext cx="5513832" cy="566928"/>
          </a:xfrm>
          <a:prstGeom prst="rect">
            <a:avLst/>
          </a:prstGeom>
          <a:solidFill>
            <a:srgbClr val="EADCE0"/>
          </a:solidFill>
          <a:ln w="12700">
            <a:solidFill>
              <a:srgbClr val="EADCE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236208" y="5285232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50" b="1" dirty="0">
                <a:solidFill>
                  <a:srgbClr val="873E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UTF-8 载荷：100000 → 100004 字节</a:t>
            </a:r>
            <a:endParaRPr lang="zh-CN" sz="1850" dirty="0"/>
          </a:p>
        </p:txBody>
      </p:sp>
      <p:sp>
        <p:nvSpPr>
          <p:cNvPr id="30" name="Text 27"/>
          <p:cNvSpPr/>
          <p:nvPr/>
        </p:nvSpPr>
        <p:spPr>
          <a:xfrm>
            <a:off x="6071616" y="5806440"/>
            <a:ext cx="5513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不是新测量、进程内存或文件大小；</a:t>
            </a:r>
            <a:endParaRPr lang="zh-CN" sz="1600" dirty="0"/>
          </a:p>
          <a:p>
            <a:pPr indent="0" marL="0">
              <a:buNone/>
            </a:pPr>
            <a:r>
              <a:rPr lang="zh-CN" altLang="en-US" sz="160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不能推广到每个 emoji 或所有 Python 实现。</a:t>
            </a:r>
            <a:endParaRPr lang="zh-CN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5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Aha  /  案例三 · Docker 镜像层</a:t>
            </a:r>
            <a:endParaRPr lang="zh-CN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6364224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继承来源：Docker Dossier；OCI layer/whiteout；Moby 27.5.1 的选定路径；未运行 Docker 构建</a:t>
            </a:r>
            <a:endParaRPr lang="zh-CN" sz="1150" dirty="0"/>
          </a:p>
        </p:txBody>
      </p:sp>
      <p:sp>
        <p:nvSpPr>
          <p:cNvPr id="4" name="Text 2"/>
          <p:cNvSpPr/>
          <p:nvPr/>
        </p:nvSpPr>
        <p:spPr>
          <a:xfrm>
            <a:off x="10972800" y="631850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30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zh-CN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200" b="1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删除路径，不等于删除旧层字节</a:t>
            </a:r>
            <a:endParaRPr lang="zh-CN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5361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普通、未压平的镜像：后来的层改变合并视图，不会重写早期层。</a:t>
            </a:r>
            <a:endParaRPr lang="zh-CN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2221992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跨两个 RUN</a:t>
            </a:r>
            <a:endParaRPr lang="zh-CN" sz="2400" dirty="0"/>
          </a:p>
        </p:txBody>
      </p:sp>
      <p:sp>
        <p:nvSpPr>
          <p:cNvPr id="8" name="Shape 6"/>
          <p:cNvSpPr/>
          <p:nvPr/>
        </p:nvSpPr>
        <p:spPr>
          <a:xfrm>
            <a:off x="594360" y="2825496"/>
            <a:ext cx="5212080" cy="566928"/>
          </a:xfrm>
          <a:prstGeom prst="rect">
            <a:avLst/>
          </a:prstGeom>
          <a:solidFill>
            <a:srgbClr val="F7F3ED"/>
          </a:solidFill>
          <a:ln w="12700">
            <a:solidFill>
              <a:srgbClr val="2926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944368"/>
            <a:ext cx="4773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合并视图：该路径不可见</a:t>
            </a:r>
            <a:endParaRPr lang="zh-CN" sz="2000" dirty="0"/>
          </a:p>
        </p:txBody>
      </p:sp>
      <p:sp>
        <p:nvSpPr>
          <p:cNvPr id="10" name="Shape 8"/>
          <p:cNvSpPr/>
          <p:nvPr/>
        </p:nvSpPr>
        <p:spPr>
          <a:xfrm flipV="1">
            <a:off x="3172968" y="3456432"/>
            <a:ext cx="0" cy="374904"/>
          </a:xfrm>
          <a:prstGeom prst="line">
            <a:avLst/>
          </a:prstGeom>
          <a:noFill/>
          <a:ln w="21590">
            <a:solidFill>
              <a:srgbClr val="873E5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94360" y="3886200"/>
            <a:ext cx="5212080" cy="566928"/>
          </a:xfrm>
          <a:prstGeom prst="rect">
            <a:avLst/>
          </a:prstGeom>
          <a:solidFill>
            <a:srgbClr val="EADCE0"/>
          </a:solidFill>
          <a:ln w="12700">
            <a:solidFill>
              <a:srgbClr val="EADC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4005072"/>
            <a:ext cx="4773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873E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较新层：whiteout 删除标记</a:t>
            </a:r>
            <a:endParaRPr lang="zh-CN" sz="2000" dirty="0"/>
          </a:p>
        </p:txBody>
      </p:sp>
      <p:sp>
        <p:nvSpPr>
          <p:cNvPr id="13" name="Shape 11"/>
          <p:cNvSpPr/>
          <p:nvPr/>
        </p:nvSpPr>
        <p:spPr>
          <a:xfrm>
            <a:off x="594360" y="4617720"/>
            <a:ext cx="5212080" cy="704088"/>
          </a:xfrm>
          <a:prstGeom prst="rect">
            <a:avLst/>
          </a:prstGeom>
          <a:solidFill>
            <a:srgbClr val="873E55"/>
          </a:solidFill>
          <a:ln w="12700">
            <a:solidFill>
              <a:srgbClr val="873E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4800600"/>
            <a:ext cx="4773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早期层：100 MB 载荷仍保留</a:t>
            </a:r>
            <a:endParaRPr lang="zh-CN" sz="2000" dirty="0"/>
          </a:p>
        </p:txBody>
      </p:sp>
      <p:sp>
        <p:nvSpPr>
          <p:cNvPr id="15" name="Text 13"/>
          <p:cNvSpPr/>
          <p:nvPr/>
        </p:nvSpPr>
        <p:spPr>
          <a:xfrm>
            <a:off x="594360" y="547725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whiteout 是层条目，</a:t>
            </a:r>
            <a:endParaRPr lang="zh-CN" sz="1650" dirty="0"/>
          </a:p>
          <a:p>
            <a:pPr indent="0" marL="0">
              <a:buNone/>
            </a:pPr>
            <a:r>
              <a:rPr lang="zh-CN" altLang="en-US" sz="1650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不是合并视图里的普通文件。</a:t>
            </a:r>
            <a:endParaRPr lang="zh-CN" sz="1650" dirty="0"/>
          </a:p>
        </p:txBody>
      </p:sp>
      <p:sp>
        <p:nvSpPr>
          <p:cNvPr id="16" name="Text 14"/>
          <p:cNvSpPr/>
          <p:nvPr/>
        </p:nvSpPr>
        <p:spPr>
          <a:xfrm>
            <a:off x="6409944" y="2221992"/>
            <a:ext cx="5175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 RUN 内，新建再删除</a:t>
            </a:r>
            <a:endParaRPr lang="zh-CN" sz="2400" dirty="0"/>
          </a:p>
        </p:txBody>
      </p:sp>
      <p:sp>
        <p:nvSpPr>
          <p:cNvPr id="17" name="Shape 15"/>
          <p:cNvSpPr/>
          <p:nvPr/>
        </p:nvSpPr>
        <p:spPr>
          <a:xfrm>
            <a:off x="6409944" y="2825496"/>
            <a:ext cx="5175504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EC2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3054096"/>
            <a:ext cx="4562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开始：无此路径</a:t>
            </a:r>
            <a:endParaRPr lang="zh-CN" sz="2000" dirty="0"/>
          </a:p>
        </p:txBody>
      </p:sp>
      <p:sp>
        <p:nvSpPr>
          <p:cNvPr id="19" name="Text 17"/>
          <p:cNvSpPr/>
          <p:nvPr/>
        </p:nvSpPr>
        <p:spPr>
          <a:xfrm>
            <a:off x="6675120" y="3602736"/>
            <a:ext cx="4562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3E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创建临时文件  →  删除它</a:t>
            </a:r>
            <a:endParaRPr lang="zh-CN" sz="2000" dirty="0"/>
          </a:p>
        </p:txBody>
      </p:sp>
      <p:sp>
        <p:nvSpPr>
          <p:cNvPr id="20" name="Text 18"/>
          <p:cNvSpPr/>
          <p:nvPr/>
        </p:nvSpPr>
        <p:spPr>
          <a:xfrm>
            <a:off x="6675120" y="4114800"/>
            <a:ext cx="4562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结束：仍无此路径</a:t>
            </a:r>
            <a:endParaRPr lang="zh-CN" sz="2000" dirty="0"/>
          </a:p>
        </p:txBody>
      </p:sp>
      <p:sp>
        <p:nvSpPr>
          <p:cNvPr id="21" name="Text 19"/>
          <p:cNvSpPr/>
          <p:nvPr/>
        </p:nvSpPr>
        <p:spPr>
          <a:xfrm>
            <a:off x="6409944" y="4855464"/>
            <a:ext cx="5175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3E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端点差异中，没有这条路径的载荷。</a:t>
            </a:r>
            <a:endParaRPr lang="zh-CN" sz="2000" dirty="0"/>
          </a:p>
        </p:txBody>
      </p:sp>
      <p:sp>
        <p:nvSpPr>
          <p:cNvPr id="22" name="Text 20"/>
          <p:cNvSpPr/>
          <p:nvPr/>
        </p:nvSpPr>
        <p:spPr>
          <a:xfrm>
            <a:off x="6409944" y="5413248"/>
            <a:ext cx="5175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50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不等于整层为零，</a:t>
            </a:r>
            <a:endParaRPr lang="zh-CN" sz="1850" dirty="0"/>
          </a:p>
          <a:p>
            <a:pPr indent="0" marL="0">
              <a:buNone/>
            </a:pPr>
            <a:r>
              <a:rPr lang="zh-CN" altLang="en-US" sz="1850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也不会回收基础层已有文件的字节。</a:t>
            </a:r>
            <a:endParaRPr lang="zh-CN" sz="1850" dirty="0"/>
          </a:p>
        </p:txBody>
      </p:sp>
      <p:sp>
        <p:nvSpPr>
          <p:cNvPr id="23" name="Text 21"/>
          <p:cNvSpPr/>
          <p:nvPr/>
        </p:nvSpPr>
        <p:spPr>
          <a:xfrm>
            <a:off x="594360" y="6062472"/>
            <a:ext cx="10991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MB 为假设的未压缩载荷（100000000 字节），不是压缩镜像或磁盘占用实测。</a:t>
            </a:r>
            <a:endParaRPr lang="zh-CN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5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Aha  /  把三种机制连起来</a:t>
            </a:r>
            <a:endParaRPr lang="zh-CN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6364224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依据：简介 Dossier 的三个有界案例；本页为编辑归纳，不是学习效果实验</a:t>
            </a:r>
            <a:endParaRPr lang="zh-CN" sz="1150" dirty="0"/>
          </a:p>
        </p:txBody>
      </p:sp>
      <p:sp>
        <p:nvSpPr>
          <p:cNvPr id="4" name="Text 2"/>
          <p:cNvSpPr/>
          <p:nvPr/>
        </p:nvSpPr>
        <p:spPr>
          <a:xfrm>
            <a:off x="10972800" y="631850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30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zh-CN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200" b="1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三次 “Aha”，都在分清观察对象</a:t>
            </a:r>
            <a:endParaRPr lang="zh-CN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5361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先问“看到了什么”，再问“哪一层表示发生了变化”。</a:t>
            </a:r>
            <a:endParaRPr lang="zh-CN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2441448"/>
            <a:ext cx="493776" cy="493776"/>
          </a:xfrm>
          <a:prstGeom prst="ellipse">
            <a:avLst/>
          </a:prstGeom>
          <a:solidFill>
            <a:srgbClr val="873E55"/>
          </a:solidFill>
          <a:ln w="19050">
            <a:solidFill>
              <a:srgbClr val="873E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532888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50" dirty="0"/>
          </a:p>
        </p:txBody>
      </p:sp>
      <p:sp>
        <p:nvSpPr>
          <p:cNvPr id="9" name="Text 7"/>
          <p:cNvSpPr/>
          <p:nvPr/>
        </p:nvSpPr>
        <p:spPr>
          <a:xfrm>
            <a:off x="1280160" y="24597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格陵兰</a:t>
            </a:r>
            <a:endParaRPr lang="zh-CN" sz="2300" dirty="0"/>
          </a:p>
        </p:txBody>
      </p:sp>
      <p:sp>
        <p:nvSpPr>
          <p:cNvPr id="10" name="Text 8"/>
          <p:cNvSpPr/>
          <p:nvPr/>
        </p:nvSpPr>
        <p:spPr>
          <a:xfrm>
            <a:off x="3392424" y="2459736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873E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图上占幅改变</a:t>
            </a:r>
            <a:endParaRPr lang="zh-CN" sz="2300" dirty="0"/>
          </a:p>
        </p:txBody>
      </p:sp>
      <p:sp>
        <p:nvSpPr>
          <p:cNvPr id="11" name="Text 9"/>
          <p:cNvSpPr/>
          <p:nvPr/>
        </p:nvSpPr>
        <p:spPr>
          <a:xfrm>
            <a:off x="7351776" y="24597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球面面积不变</a:t>
            </a:r>
            <a:endParaRPr lang="zh-CN" sz="2300" dirty="0"/>
          </a:p>
        </p:txBody>
      </p:sp>
      <p:sp>
        <p:nvSpPr>
          <p:cNvPr id="12" name="Shape 10"/>
          <p:cNvSpPr/>
          <p:nvPr/>
        </p:nvSpPr>
        <p:spPr>
          <a:xfrm>
            <a:off x="6958584" y="2459736"/>
            <a:ext cx="0" cy="420624"/>
          </a:xfrm>
          <a:prstGeom prst="line">
            <a:avLst/>
          </a:prstGeom>
          <a:noFill/>
          <a:ln w="12700">
            <a:solidFill>
              <a:srgbClr val="CEC2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92424" y="3008376"/>
            <a:ext cx="8165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固定球面墨卡托；球面刚性旋转</a:t>
            </a:r>
            <a:endParaRPr lang="zh-CN" sz="1650" dirty="0"/>
          </a:p>
        </p:txBody>
      </p:sp>
      <p:sp>
        <p:nvSpPr>
          <p:cNvPr id="14" name="Shape 12"/>
          <p:cNvSpPr/>
          <p:nvPr/>
        </p:nvSpPr>
        <p:spPr>
          <a:xfrm>
            <a:off x="594360" y="3593592"/>
            <a:ext cx="493776" cy="493776"/>
          </a:xfrm>
          <a:prstGeom prst="ellipse">
            <a:avLst/>
          </a:prstGeom>
          <a:solidFill>
            <a:srgbClr val="873E55"/>
          </a:solidFill>
          <a:ln w="19050">
            <a:solidFill>
              <a:srgbClr val="873E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68503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50" dirty="0"/>
          </a:p>
        </p:txBody>
      </p:sp>
      <p:sp>
        <p:nvSpPr>
          <p:cNvPr id="16" name="Text 14"/>
          <p:cNvSpPr/>
          <p:nvPr/>
        </p:nvSpPr>
        <p:spPr>
          <a:xfrm>
            <a:off x="128016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CPython</a:t>
            </a:r>
            <a:endParaRPr lang="zh-CN" sz="2300" dirty="0"/>
          </a:p>
        </p:txBody>
      </p:sp>
      <p:sp>
        <p:nvSpPr>
          <p:cNvPr id="17" name="Text 15"/>
          <p:cNvSpPr/>
          <p:nvPr/>
        </p:nvSpPr>
        <p:spPr>
          <a:xfrm>
            <a:off x="3392424" y="361188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873E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 str 槽位变宽</a:t>
            </a:r>
            <a:endParaRPr lang="zh-CN" sz="2300" dirty="0"/>
          </a:p>
        </p:txBody>
      </p:sp>
      <p:sp>
        <p:nvSpPr>
          <p:cNvPr id="18" name="Text 16"/>
          <p:cNvSpPr/>
          <p:nvPr/>
        </p:nvSpPr>
        <p:spPr>
          <a:xfrm>
            <a:off x="7351776" y="3611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str 不变；UTF-8 另计</a:t>
            </a:r>
            <a:endParaRPr lang="zh-CN" sz="2300" dirty="0"/>
          </a:p>
        </p:txBody>
      </p:sp>
      <p:sp>
        <p:nvSpPr>
          <p:cNvPr id="19" name="Shape 17"/>
          <p:cNvSpPr/>
          <p:nvPr/>
        </p:nvSpPr>
        <p:spPr>
          <a:xfrm>
            <a:off x="6958584" y="3611880"/>
            <a:ext cx="0" cy="420624"/>
          </a:xfrm>
          <a:prstGeom prst="line">
            <a:avLst/>
          </a:prstGeom>
          <a:noFill/>
          <a:ln w="12700">
            <a:solidFill>
              <a:srgbClr val="CEC2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92424" y="4160520"/>
            <a:ext cx="8165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3.11.15；此例添加 U+1F600</a:t>
            </a:r>
            <a:endParaRPr lang="zh-CN" sz="1650" dirty="0"/>
          </a:p>
        </p:txBody>
      </p:sp>
      <p:sp>
        <p:nvSpPr>
          <p:cNvPr id="21" name="Shape 19"/>
          <p:cNvSpPr/>
          <p:nvPr/>
        </p:nvSpPr>
        <p:spPr>
          <a:xfrm>
            <a:off x="594360" y="4745736"/>
            <a:ext cx="493776" cy="493776"/>
          </a:xfrm>
          <a:prstGeom prst="ellipse">
            <a:avLst/>
          </a:prstGeom>
          <a:solidFill>
            <a:srgbClr val="873E55"/>
          </a:solidFill>
          <a:ln w="19050">
            <a:solidFill>
              <a:srgbClr val="873E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837176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50" dirty="0"/>
          </a:p>
        </p:txBody>
      </p:sp>
      <p:sp>
        <p:nvSpPr>
          <p:cNvPr id="23" name="Text 21"/>
          <p:cNvSpPr/>
          <p:nvPr/>
        </p:nvSpPr>
        <p:spPr>
          <a:xfrm>
            <a:off x="1280160" y="47640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</a:t>
            </a:r>
            <a:endParaRPr lang="zh-CN" sz="2300" dirty="0"/>
          </a:p>
        </p:txBody>
      </p:sp>
      <p:sp>
        <p:nvSpPr>
          <p:cNvPr id="24" name="Text 22"/>
          <p:cNvSpPr/>
          <p:nvPr/>
        </p:nvSpPr>
        <p:spPr>
          <a:xfrm>
            <a:off x="3392424" y="476402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873E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合并视图中消失</a:t>
            </a:r>
            <a:endParaRPr lang="zh-CN" sz="2300" dirty="0"/>
          </a:p>
        </p:txBody>
      </p:sp>
      <p:sp>
        <p:nvSpPr>
          <p:cNvPr id="25" name="Text 23"/>
          <p:cNvSpPr/>
          <p:nvPr/>
        </p:nvSpPr>
        <p:spPr>
          <a:xfrm>
            <a:off x="7351776" y="47640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2926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早期层载荷仍在</a:t>
            </a:r>
            <a:endParaRPr lang="zh-CN" sz="2300" dirty="0"/>
          </a:p>
        </p:txBody>
      </p:sp>
      <p:sp>
        <p:nvSpPr>
          <p:cNvPr id="26" name="Shape 24"/>
          <p:cNvSpPr/>
          <p:nvPr/>
        </p:nvSpPr>
        <p:spPr>
          <a:xfrm>
            <a:off x="6958584" y="4764024"/>
            <a:ext cx="0" cy="420624"/>
          </a:xfrm>
          <a:prstGeom prst="line">
            <a:avLst/>
          </a:prstGeom>
          <a:noFill/>
          <a:ln w="12700">
            <a:solidFill>
              <a:srgbClr val="CEC2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92424" y="5312664"/>
            <a:ext cx="8165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655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普通未压平镜像；在较晚 RUN 删除</a:t>
            </a:r>
            <a:endParaRPr lang="zh-CN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92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50" dirty="0">
                <a:solidFill>
                  <a:srgbClr val="DED2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Aha  /  从问题开始</a:t>
            </a:r>
            <a:endParaRPr lang="zh-CN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6364224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DED2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依据：Aha 简介 Dossier · 2026-09-17；当前 Aha 作者指南的媒介选择原则</a:t>
            </a:r>
            <a:endParaRPr lang="zh-CN" sz="1150" dirty="0"/>
          </a:p>
        </p:txBody>
      </p:sp>
      <p:sp>
        <p:nvSpPr>
          <p:cNvPr id="4" name="Text 2"/>
          <p:cNvSpPr/>
          <p:nvPr/>
        </p:nvSpPr>
        <p:spPr>
          <a:xfrm>
            <a:off x="10972800" y="631850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300" dirty="0">
                <a:solidFill>
                  <a:srgbClr val="DED2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zh-CN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16128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4200" b="1" dirty="0">
                <a:solidFill>
                  <a:srgbClr val="F7F3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先问依据，再选表达。</a:t>
            </a:r>
            <a:endParaRPr lang="zh-CN" sz="4200" dirty="0"/>
          </a:p>
        </p:txBody>
      </p:sp>
      <p:sp>
        <p:nvSpPr>
          <p:cNvPr id="6" name="Text 4"/>
          <p:cNvSpPr/>
          <p:nvPr/>
        </p:nvSpPr>
        <p:spPr>
          <a:xfrm>
            <a:off x="594360" y="2221992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700" dirty="0">
                <a:solidFill>
                  <a:srgbClr val="DED2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把问题、材料和阅读用途交给宿主，</a:t>
            </a:r>
            <a:endParaRPr lang="zh-CN" sz="2700" dirty="0"/>
          </a:p>
          <a:p>
            <a:pPr indent="0" marL="0">
              <a:buNone/>
            </a:pPr>
            <a:r>
              <a:rPr lang="zh-CN" altLang="en-US" sz="2700" dirty="0">
                <a:solidFill>
                  <a:srgbClr val="DED2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由宿主协调所需技能。</a:t>
            </a:r>
            <a:endParaRPr lang="zh-CN" sz="2700" dirty="0"/>
          </a:p>
        </p:txBody>
      </p:sp>
      <p:sp>
        <p:nvSpPr>
          <p:cNvPr id="7" name="Shape 5"/>
          <p:cNvSpPr/>
          <p:nvPr/>
        </p:nvSpPr>
        <p:spPr>
          <a:xfrm>
            <a:off x="594360" y="3785616"/>
            <a:ext cx="3346704" cy="1572768"/>
          </a:xfrm>
          <a:prstGeom prst="rect">
            <a:avLst/>
          </a:prstGeom>
          <a:solidFill>
            <a:srgbClr val="873E55"/>
          </a:solidFill>
          <a:ln w="12700">
            <a:solidFill>
              <a:srgbClr val="873E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" y="4032504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zh-CN" sz="2900" dirty="0"/>
          </a:p>
        </p:txBody>
      </p:sp>
      <p:sp>
        <p:nvSpPr>
          <p:cNvPr id="9" name="Text 7"/>
          <p:cNvSpPr/>
          <p:nvPr/>
        </p:nvSpPr>
        <p:spPr>
          <a:xfrm>
            <a:off x="1426464" y="405079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说清问题</a:t>
            </a:r>
            <a:endParaRPr lang="zh-CN" sz="2400" dirty="0"/>
          </a:p>
        </p:txBody>
      </p:sp>
      <p:sp>
        <p:nvSpPr>
          <p:cNvPr id="10" name="Text 8"/>
          <p:cNvSpPr/>
          <p:nvPr/>
        </p:nvSpPr>
        <p:spPr>
          <a:xfrm>
            <a:off x="832104" y="4718304"/>
            <a:ext cx="28986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想理解哪一个变化？</a:t>
            </a:r>
            <a:endParaRPr lang="zh-CN" sz="1800" dirty="0"/>
          </a:p>
        </p:txBody>
      </p:sp>
      <p:sp>
        <p:nvSpPr>
          <p:cNvPr id="11" name="Shape 9"/>
          <p:cNvSpPr/>
          <p:nvPr/>
        </p:nvSpPr>
        <p:spPr>
          <a:xfrm>
            <a:off x="4416552" y="3785616"/>
            <a:ext cx="3346704" cy="1572768"/>
          </a:xfrm>
          <a:prstGeom prst="rect">
            <a:avLst/>
          </a:prstGeom>
          <a:solidFill>
            <a:srgbClr val="873E55"/>
          </a:solidFill>
          <a:ln w="12700">
            <a:solidFill>
              <a:srgbClr val="873E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4032504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zh-CN" sz="2900" dirty="0"/>
          </a:p>
        </p:txBody>
      </p:sp>
      <p:sp>
        <p:nvSpPr>
          <p:cNvPr id="13" name="Text 11"/>
          <p:cNvSpPr/>
          <p:nvPr/>
        </p:nvSpPr>
        <p:spPr>
          <a:xfrm>
            <a:off x="5248656" y="405079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核对依据</a:t>
            </a:r>
            <a:endParaRPr lang="zh-CN" sz="2400" dirty="0"/>
          </a:p>
        </p:txBody>
      </p:sp>
      <p:sp>
        <p:nvSpPr>
          <p:cNvPr id="14" name="Text 12"/>
          <p:cNvSpPr/>
          <p:nvPr/>
        </p:nvSpPr>
        <p:spPr>
          <a:xfrm>
            <a:off x="4654296" y="4718304"/>
            <a:ext cx="28986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证据支持到哪里？</a:t>
            </a:r>
            <a:endParaRPr lang="zh-CN" sz="1800" dirty="0"/>
          </a:p>
        </p:txBody>
      </p:sp>
      <p:sp>
        <p:nvSpPr>
          <p:cNvPr id="15" name="Shape 13"/>
          <p:cNvSpPr/>
          <p:nvPr/>
        </p:nvSpPr>
        <p:spPr>
          <a:xfrm>
            <a:off x="8238744" y="3785616"/>
            <a:ext cx="3346704" cy="1572768"/>
          </a:xfrm>
          <a:prstGeom prst="rect">
            <a:avLst/>
          </a:prstGeom>
          <a:solidFill>
            <a:srgbClr val="873E55"/>
          </a:solidFill>
          <a:ln w="12700">
            <a:solidFill>
              <a:srgbClr val="873E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4032504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zh-CN" sz="2900" dirty="0"/>
          </a:p>
        </p:txBody>
      </p:sp>
      <p:sp>
        <p:nvSpPr>
          <p:cNvPr id="17" name="Text 15"/>
          <p:cNvSpPr/>
          <p:nvPr/>
        </p:nvSpPr>
        <p:spPr>
          <a:xfrm>
            <a:off x="9070848" y="405079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选择表达</a:t>
            </a:r>
            <a:endParaRPr lang="zh-CN" sz="2400" dirty="0"/>
          </a:p>
        </p:txBody>
      </p:sp>
      <p:sp>
        <p:nvSpPr>
          <p:cNvPr id="18" name="Text 16"/>
          <p:cNvSpPr/>
          <p:nvPr/>
        </p:nvSpPr>
        <p:spPr>
          <a:xfrm>
            <a:off x="8476488" y="4718304"/>
            <a:ext cx="28986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读者准备怎样使用？</a:t>
            </a:r>
            <a:endParaRPr lang="zh-CN" sz="1800" dirty="0"/>
          </a:p>
        </p:txBody>
      </p:sp>
      <p:sp>
        <p:nvSpPr>
          <p:cNvPr id="19" name="Text 17"/>
          <p:cNvSpPr/>
          <p:nvPr/>
        </p:nvSpPr>
        <p:spPr>
          <a:xfrm>
            <a:off x="594360" y="570585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dirty="0">
                <a:solidFill>
                  <a:srgbClr val="F7F3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Aha 的角色：保存支持得住的结论，让关键关系被看见。</a:t>
            </a:r>
            <a:endParaRPr lang="zh-CN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Aha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Aha 是什么：让有依据的解释变得可见</dc:title>
  <dc:subject>How do Aha research and explanation skills make mechanisms understandable through three concrete examples and existing formats?</dc:subject>
  <dc:creator>Aha</dc:creator>
  <cp:lastModifiedBy>Aha</cp:lastModifiedBy>
  <cp:revision>1</cp:revision>
  <dcterms:created xsi:type="dcterms:W3CDTF">2026-09-21T04:00:58Z</dcterms:created>
  <dcterms:modified xsi:type="dcterms:W3CDTF">2026-09-21T04:00:58Z</dcterms:modified>
</cp:coreProperties>
</file>