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slide-01-purpose
Aha combines two portable Skills and a local runtime. The host Agent performs investigation and content design. Shared factual grounding does not imply shared layouts or automatic all-format generation. The diagram shows reuse of research, not a one-click conversion pipeline.,Research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https://github.com/sawyer0x110/aha/blob/a013ea795312eab9ae2e4224998a1314eea8f718/README.md#L1-L39
https://github.com/sawyer0x110/aha/blob/a013ea795312eab9ae2e4224998a1314eea8f718/docs/ARCHITECTURE.md#L1-L136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slide-02-responsibilities
The two Skills share research guidance; aha-explain does not depend on the host automatically dispatching a task to aha-research. Reports can be complete deliverables without slides. Structural checks are not source-support review or evidence of host discovery.,Research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https://github.com/sawyer0x110/aha/blob/a013ea795312eab9ae2e4224998a1314eea8f718/skills/aha-research/SKILL.md#L1-L23
https://github.com/sawyer0x110/aha/blob/a013ea795312eab9ae2e4224998a1314eea8f718/skills/aha-explain/SKILL.md#L1-L22
https://github.com/sawyer0x110/aha/blob/a013ea795312eab9ae2e4224998a1314eea8f718/README.md#L31-L39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slide-03-identity
Research Dossier files store the independent report and its content identity. Artifact metadata declares one format, entry, language, dimensions, researchHash, coverage and omissions. Every claim must be covered or explicitly omitted. The coverage map is an author declaration, not semantic proof. Hashes detect identity changes, not truth. HTML/PNG/PPTX receipts and the separate video chain should not be conflated. Research changes require a new snapshot and deliberate rebinding.,Research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https://github.com/sawyer0x110/aha/blob/a013ea795312eab9ae2e4224998a1314eea8f718/src/research/dossier.ts#L183-L225
https://github.com/sawyer0x110/aha/blob/a013ea795312eab9ae2e4224998a1314eea8f718/src/artifacts/project.ts#L90-L168
https://github.com/sawyer0x110/aha/blob/a013ea795312eab9ae2e4224998a1314eea8f718/src/artifacts/render.ts#L39-L81
https://github.com/sawyer0x110/aha/blob/a013ea795312eab9ae2e4224998a1314eea8f718/src/media/plan.ts#L58-L101
https://github.com/sawyer0x110/aha/blob/a013ea795312eab9ae2e4224998a1314eea8f718/docs/ARCHITECTURE.md#L1-L136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slide-04-media
The four rows compare authoring approaches, not measured performance or guaranteed outcomes. HTML supports bundled local assets and offline interactions. PNG must be composed for the intended dimensions. PPTX uses the supplied PptxGenJS instance and native objects. Video is an authored deterministic frame callback; actual audio duration drives frames and captions, with burned subtitles and SRT. Multiple formats require separately authored projects; there is no auto/all command.,Research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https://github.com/sawyer0x110/aha/blob/a013ea795312eab9ae2e4224998a1314eea8f718/README.md#L23-L39
https://github.com/sawyer0x110/aha/blob/a013ea795312eab9ae2e4224998a1314eea8f718/docs/ARCHITECTURE.md#L1-L136
https://github.com/sawyer0x110/aha/blob/a013ea795312eab9ae2e4224998a1314eea8f718/src/artifacts/project.ts#L90-L168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slide-demo-static
The image on the left is a capture of the actual delivered HTML format-selector section. Its controls are interactive in the HTML, not in this screenshot. The right-hand thumbnail is the actual separately authored poster. It is intentionally a thumbnail and is not presented as readable full-size poster text. The current slide remains native editable text plus supporting raster previews. These example-specific observations are production evidence, not additional general claims about Aha.,Research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https://github.com/sawyer0x110/aha/blob/a013ea795312eab9ae2e4224998a1314eea8f718/src/artifacts/project.ts#L90-L168
https://github.com/sawyer0x110/aha/blob/a013ea795312eab9ae2e4224998a1314eea8f718/docs/ARCHITECTURE.md#L51-L89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slide-demo-motion
PptxGenJS does not expose a native animation/transition API in this locked version. This example therefore embeds a genuine multi-frame GIF as a supporting animated image instead of inventing APIs, rewriting runtime receipts, or rasterizing the entire slide. Native headings and explanatory text remain editable; the animated illustration is edited through its HTML video source and regenerated. The GIF replays source/receipt revision and exact-plan approval scenes. Its illustrative duration is 8 seconds at 15 fps, not real speech timing. Static renderers may display only a still frame; slideshow playback requires a compatible presentation app.,Research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https://github.com/sawyer0x110/aha/blob/a013ea795312eab9ae2e4224998a1314eea8f718/src/artifacts/render.ts#L203-L251
https://github.com/sawyer0x110/aha/blob/a013ea795312eab9ae2e4224998a1314eea8f718/src/media/plan.ts#L58-L101
https://github.com/sawyer0x110/aha/blob/a013ea795312eab9ae2e4224998a1314eea8f718/skills/aha-explain/references/video.md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slide-05-permissions
Local --allow-code permission must follow review of the current code and capabilities. Browser request restrictions do not isolate arbitrary Node code. HTML packaging itself does not execute authored scripts. Online Edge TTS separately requires approval of the complete current narration plan, provider, voice, rate, disclosure scope, and exact planHash; external network authorization is also separate. Plan/source mismatches are rejected. Source or voice changes cannot be authorized by hand-editing a hash. This introduction reports the contract, not a successful live TTS run.,Research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https://github.com/sawyer0x110/aha/blob/a013ea795312eab9ae2e4224998a1314eea8f718/skills/shared/references/execution.md#L1-L41
https://github.com/sawyer0x110/aha/blob/a013ea795312eab9ae2e4224998a1314eea8f718/src/artifacts/render.ts#L39-L81
https://github.com/sawyer0x110/aha/blob/a013ea795312eab9ae2e4224998a1314eea8f718/src/media/plan.ts#L58-L101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slide-06-language-distribution
New HTML defaults to bilingual with English initially visible. PNG, PPTX and video default to English. Explicit Chinese selection changes the artifact language rather than the Dossier. The Agent must author and check translations; a local language switch does not call a translation service. Build output contains exactly aha-research and aha-explain Skill bundles with CLI, schemas, references, local runtime libraries and notices. Source skills folders are not complete installation packages. Browser, Python and FFmpeg are not bundled. Reading a build implementation does not prove a release, host discovery or installation acceptance.,Research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https://github.com/sawyer0x110/aha/blob/a013ea795312eab9ae2e4224998a1314eea8f718/skills/aha-explain/references/language.md#L1-L57
https://github.com/sawyer0x110/aha/blob/a013ea795312eab9ae2e4224998a1314eea8f718/src/artifacts/project.ts#L90-L168
https://github.com/sawyer0x110/aha/blob/a013ea795312eab9ae2e4224998a1314eea8f718/scripts/build.ts#L111-L149
https://github.com/sawyer0x110/aha/blob/a013ea795312eab9ae2e4224998a1314eea8f718/docs/ARCHITECTURE.md#L1-L136
https://github.com/sawyer0x110/aha/blob/a013ea795312eab9ae2e4224998a1314eea8f718/README.md#L17-L23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slide-07-quality
The five questions are separate acceptance layers, not measured results or a maturity score. Research support, explanatory clarity, visual/native-editing quality, runtime integrity and real-person comprehension cannot substitute for one another. A passing schema check or receipt does not certify meaning. No independent human comprehension study, live-host acceptance or cross-machine PowerPoint compatibility is asserted. This deck is authored source; actual rendering and slide/editing review are separate production tasks.,Research scope: fixed repository commit a013ea795312eab9ae2e4224998a1314eea8f718; reviewed 2026-09-15. Runtime 0.3.0; research/artifact protocol 1.0.0.,Bound Research Dossier: b547322594e90fb21a9aad36c40b7658cfe6c73d591e69481d95fdc20408a3bf. This deck translates the supported conclusions into English; it does not alter the research snapshot.,Fixed repository references:
https://github.com/sawyer0x110/aha/blob/a013ea795312eab9ae2e4224998a1314eea8f718/docs/ARCHITECTURE.md#L1-L136
https://github.com/sawyer0x110/aha/blob/a013ea795312eab9ae2e4224998a1314eea8f718/skills/aha-explain/SKILL.md#L1-L22
https://github.com/sawyer0x110/aha/blob/a013ea795312eab9ae2e4224998a1314eea8f718/src/artifacts/render.ts#L39-L81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92629"/>
        </a:solidFill>
      </p:bgPr>
    </p:bg>
    <p:spTree>
      <p:nvGrpSpPr>
        <p:cNvPr id="1" name=""/>
        <p:cNvGrpSpPr/>
        <p:nvPr/>
      </p:nvGrpSpPr>
      <p:grpSpPr>
        <a:xfrm>
          <a:off x="0" y="0"/>
          <a:ext cx="0" cy="0"/>
          <a:chOff x="0" y="0"/>
          <a:chExt cx="0" cy="0"/>
        </a:xfrm>
      </p:grpSpPr>
      <p:sp>
        <p:nvSpPr>
          <p:cNvPr id="2" name="Text 0"/>
          <p:cNvSpPr/>
          <p:nvPr/>
        </p:nvSpPr>
        <p:spPr>
          <a:xfrm>
            <a:off x="548640" y="438912"/>
            <a:ext cx="9144000" cy="256032"/>
          </a:xfrm>
          <a:prstGeom prst="rect">
            <a:avLst/>
          </a:prstGeom>
          <a:noFill/>
          <a:ln/>
        </p:spPr>
        <p:txBody>
          <a:bodyPr wrap="square" lIns="0" tIns="0" rIns="0" bIns="0" rtlCol="0" anchor="t"/>
          <a:lstStyle/>
          <a:p>
            <a:pPr indent="0" marL="0">
              <a:buNone/>
            </a:pPr>
            <a:r>
              <a:rPr lang="en-US" sz="1100" b="1" spc="150" kern="0" dirty="0">
                <a:solidFill>
                  <a:srgbClr val="EACBD5"/>
                </a:solidFill>
                <a:latin typeface="Segoe UI" pitchFamily="34" charset="0"/>
                <a:ea typeface="Segoe UI" pitchFamily="34" charset="-122"/>
                <a:cs typeface="Segoe UI" pitchFamily="34" charset="-120"/>
              </a:rPr>
              <a:t>PROJECT INTRODUCTION  /  15 SEP 2026</a:t>
            </a:r>
            <a:endParaRPr lang="en-US" sz="1100" dirty="0"/>
          </a:p>
        </p:txBody>
      </p:sp>
      <p:sp>
        <p:nvSpPr>
          <p:cNvPr id="3" name="Text 1"/>
          <p:cNvSpPr/>
          <p:nvPr/>
        </p:nvSpPr>
        <p:spPr>
          <a:xfrm>
            <a:off x="548640" y="950976"/>
            <a:ext cx="5760720" cy="987552"/>
          </a:xfrm>
          <a:prstGeom prst="rect">
            <a:avLst/>
          </a:prstGeom>
          <a:noFill/>
          <a:ln/>
        </p:spPr>
        <p:txBody>
          <a:bodyPr wrap="square" lIns="0" tIns="0" rIns="0" bIns="0" rtlCol="0" anchor="t"/>
          <a:lstStyle/>
          <a:p>
            <a:pPr indent="0" marL="0">
              <a:buNone/>
            </a:pPr>
            <a:r>
              <a:rPr lang="en-US" sz="7200" b="1" dirty="0">
                <a:solidFill>
                  <a:srgbClr val="F7F2E9"/>
                </a:solidFill>
                <a:latin typeface="Segoe UI" pitchFamily="34" charset="0"/>
                <a:ea typeface="Segoe UI" pitchFamily="34" charset="-122"/>
                <a:cs typeface="Segoe UI" pitchFamily="34" charset="-120"/>
              </a:rPr>
              <a:t>Aha</a:t>
            </a:r>
            <a:endParaRPr lang="en-US" sz="7200" dirty="0"/>
          </a:p>
        </p:txBody>
      </p:sp>
      <p:sp>
        <p:nvSpPr>
          <p:cNvPr id="4" name="Text 2"/>
          <p:cNvSpPr/>
          <p:nvPr/>
        </p:nvSpPr>
        <p:spPr>
          <a:xfrm>
            <a:off x="585216" y="2103120"/>
            <a:ext cx="6583680" cy="1508760"/>
          </a:xfrm>
          <a:prstGeom prst="rect">
            <a:avLst/>
          </a:prstGeom>
          <a:noFill/>
          <a:ln/>
        </p:spPr>
        <p:txBody>
          <a:bodyPr wrap="square" lIns="0" tIns="0" rIns="0" bIns="0" rtlCol="0" anchor="t"/>
          <a:lstStyle/>
          <a:p>
            <a:pPr indent="0" marL="0">
              <a:buNone/>
            </a:pPr>
            <a:r>
              <a:rPr lang="en-US" sz="3500" b="1" dirty="0">
                <a:solidFill>
                  <a:srgbClr val="F7F2E9"/>
                </a:solidFill>
                <a:latin typeface="Segoe UI" pitchFamily="34" charset="0"/>
                <a:ea typeface="Segoe UI" pitchFamily="34" charset="-122"/>
                <a:cs typeface="Segoe UI" pitchFamily="34" charset="-120"/>
              </a:rPr>
              <a:t>Traceable research.</a:t>
            </a:r>
            <a:endParaRPr lang="en-US" sz="3500" dirty="0"/>
          </a:p>
          <a:p>
            <a:pPr indent="0" marL="0">
              <a:buNone/>
            </a:pPr>
            <a:r>
              <a:rPr lang="en-US" sz="3500" b="1" dirty="0">
                <a:solidFill>
                  <a:srgbClr val="F7F2E9"/>
                </a:solidFill>
                <a:latin typeface="Segoe UI" pitchFamily="34" charset="0"/>
                <a:ea typeface="Segoe UI" pitchFamily="34" charset="-122"/>
                <a:cs typeface="Segoe UI" pitchFamily="34" charset="-120"/>
              </a:rPr>
              <a:t>Freely authored explanations.</a:t>
            </a:r>
            <a:endParaRPr lang="en-US" sz="3500" dirty="0"/>
          </a:p>
        </p:txBody>
      </p:sp>
      <p:sp>
        <p:nvSpPr>
          <p:cNvPr id="5" name="Text 3"/>
          <p:cNvSpPr/>
          <p:nvPr/>
        </p:nvSpPr>
        <p:spPr>
          <a:xfrm>
            <a:off x="594360" y="3904488"/>
            <a:ext cx="6309360" cy="969264"/>
          </a:xfrm>
          <a:prstGeom prst="rect">
            <a:avLst/>
          </a:prstGeom>
          <a:noFill/>
          <a:ln/>
        </p:spPr>
        <p:txBody>
          <a:bodyPr wrap="square" lIns="0" tIns="0" rIns="0" bIns="0" rtlCol="0" anchor="t"/>
          <a:lstStyle/>
          <a:p>
            <a:pPr indent="0" marL="0">
              <a:buNone/>
            </a:pPr>
            <a:r>
              <a:rPr lang="en-US" sz="2200" dirty="0">
                <a:solidFill>
                  <a:srgbClr val="ECE2D0"/>
                </a:solidFill>
                <a:latin typeface="Segoe UI" pitchFamily="34" charset="0"/>
                <a:ea typeface="Segoe UI" pitchFamily="34" charset="-122"/>
                <a:cs typeface="Segoe UI" pitchFamily="34" charset="-120"/>
              </a:rPr>
              <a:t>Investigate a question, then choose how to explain it.</a:t>
            </a:r>
            <a:endParaRPr lang="en-US" sz="2200" dirty="0"/>
          </a:p>
          <a:p>
            <a:pPr indent="0" marL="0">
              <a:buNone/>
            </a:pPr>
            <a:r>
              <a:rPr lang="en-US" sz="2200" dirty="0">
                <a:solidFill>
                  <a:srgbClr val="ECE2D0"/>
                </a:solidFill>
                <a:latin typeface="Segoe UI" pitchFamily="34" charset="0"/>
                <a:ea typeface="Segoe UI" pitchFamily="34" charset="-122"/>
                <a:cs typeface="Segoe UI" pitchFamily="34" charset="-120"/>
              </a:rPr>
              <a:t>Keep the evidence separate from the medium.</a:t>
            </a:r>
            <a:endParaRPr lang="en-US" sz="2200" dirty="0"/>
          </a:p>
        </p:txBody>
      </p:sp>
      <p:sp>
        <p:nvSpPr>
          <p:cNvPr id="6" name="Shape 4"/>
          <p:cNvSpPr/>
          <p:nvPr/>
        </p:nvSpPr>
        <p:spPr>
          <a:xfrm>
            <a:off x="7772400" y="1280160"/>
            <a:ext cx="3867912" cy="4078224"/>
          </a:xfrm>
          <a:prstGeom prst="rect">
            <a:avLst/>
          </a:prstGeom>
          <a:solidFill>
            <a:srgbClr val="6D2E46"/>
          </a:solidFill>
          <a:ln w="8890">
            <a:solidFill>
              <a:srgbClr val="6D2E46"/>
            </a:solidFill>
            <a:prstDash val="solid"/>
          </a:ln>
        </p:spPr>
      </p:sp>
      <p:sp>
        <p:nvSpPr>
          <p:cNvPr id="7" name="Text 5"/>
          <p:cNvSpPr/>
          <p:nvPr/>
        </p:nvSpPr>
        <p:spPr>
          <a:xfrm>
            <a:off x="8074152" y="1609344"/>
            <a:ext cx="3200400" cy="256032"/>
          </a:xfrm>
          <a:prstGeom prst="rect">
            <a:avLst/>
          </a:prstGeom>
          <a:noFill/>
          <a:ln/>
        </p:spPr>
        <p:txBody>
          <a:bodyPr wrap="square" lIns="0" tIns="0" rIns="0" bIns="0" rtlCol="0" anchor="t"/>
          <a:lstStyle/>
          <a:p>
            <a:pPr indent="0" marL="0">
              <a:buNone/>
            </a:pPr>
            <a:r>
              <a:rPr lang="en-US" sz="1100" b="1" spc="150" kern="0" dirty="0">
                <a:solidFill>
                  <a:srgbClr val="EACBD5"/>
                </a:solidFill>
                <a:latin typeface="Segoe UI" pitchFamily="34" charset="0"/>
                <a:ea typeface="Segoe UI" pitchFamily="34" charset="-122"/>
                <a:cs typeface="Segoe UI" pitchFamily="34" charset="-120"/>
              </a:rPr>
              <a:t>ONE RESEARCH BASIS</a:t>
            </a:r>
            <a:endParaRPr lang="en-US" sz="1100" dirty="0"/>
          </a:p>
        </p:txBody>
      </p:sp>
      <p:sp>
        <p:nvSpPr>
          <p:cNvPr id="8" name="Text 6"/>
          <p:cNvSpPr/>
          <p:nvPr/>
        </p:nvSpPr>
        <p:spPr>
          <a:xfrm>
            <a:off x="8074152" y="2029968"/>
            <a:ext cx="3200400" cy="960120"/>
          </a:xfrm>
          <a:prstGeom prst="rect">
            <a:avLst/>
          </a:prstGeom>
          <a:noFill/>
          <a:ln/>
        </p:spPr>
        <p:txBody>
          <a:bodyPr wrap="square" lIns="0" tIns="0" rIns="0" bIns="0" rtlCol="0" anchor="t"/>
          <a:lstStyle/>
          <a:p>
            <a:pPr indent="0" marL="0">
              <a:buNone/>
            </a:pPr>
            <a:r>
              <a:rPr lang="en-US" sz="2600" b="1" dirty="0">
                <a:solidFill>
                  <a:srgbClr val="F7F2E9"/>
                </a:solidFill>
                <a:latin typeface="Segoe UI" pitchFamily="34" charset="0"/>
                <a:ea typeface="Segoe UI" pitchFamily="34" charset="-122"/>
                <a:cs typeface="Segoe UI" pitchFamily="34" charset="-120"/>
              </a:rPr>
              <a:t>Sources + claims</a:t>
            </a:r>
            <a:endParaRPr lang="en-US" sz="2600" dirty="0"/>
          </a:p>
          <a:p>
            <a:pPr indent="0" marL="0">
              <a:buNone/>
            </a:pPr>
            <a:r>
              <a:rPr lang="en-US" sz="2600" b="1" dirty="0">
                <a:solidFill>
                  <a:srgbClr val="F7F2E9"/>
                </a:solidFill>
                <a:latin typeface="Segoe UI" pitchFamily="34" charset="0"/>
                <a:ea typeface="Segoe UI" pitchFamily="34" charset="-122"/>
                <a:cs typeface="Segoe UI" pitchFamily="34" charset="-120"/>
              </a:rPr>
              <a:t>+ stated gaps</a:t>
            </a:r>
            <a:endParaRPr lang="en-US" sz="2600" dirty="0"/>
          </a:p>
        </p:txBody>
      </p:sp>
      <p:sp>
        <p:nvSpPr>
          <p:cNvPr id="9" name="Shape 7"/>
          <p:cNvSpPr/>
          <p:nvPr/>
        </p:nvSpPr>
        <p:spPr>
          <a:xfrm>
            <a:off x="9445752" y="3218688"/>
            <a:ext cx="365760" cy="393192"/>
          </a:xfrm>
          <a:prstGeom prst="downArrow">
            <a:avLst/>
          </a:prstGeom>
          <a:solidFill>
            <a:srgbClr val="EACBD5"/>
          </a:solidFill>
          <a:ln w="12700">
            <a:solidFill>
              <a:srgbClr val="EACBD5">
                <a:alpha val="0"/>
              </a:srgbClr>
            </a:solidFill>
            <a:prstDash val="solid"/>
          </a:ln>
        </p:spPr>
      </p:sp>
      <p:sp>
        <p:nvSpPr>
          <p:cNvPr id="10" name="Text 8"/>
          <p:cNvSpPr/>
          <p:nvPr/>
        </p:nvSpPr>
        <p:spPr>
          <a:xfrm>
            <a:off x="8074152" y="3886200"/>
            <a:ext cx="3200400" cy="859536"/>
          </a:xfrm>
          <a:prstGeom prst="rect">
            <a:avLst/>
          </a:prstGeom>
          <a:noFill/>
          <a:ln/>
        </p:spPr>
        <p:txBody>
          <a:bodyPr wrap="square" lIns="0" tIns="0" rIns="0" bIns="0" rtlCol="0" anchor="t"/>
          <a:lstStyle/>
          <a:p>
            <a:pPr indent="0" marL="0">
              <a:buNone/>
            </a:pPr>
            <a:r>
              <a:rPr lang="en-US" sz="2300" dirty="0">
                <a:solidFill>
                  <a:srgbClr val="F7F2E9"/>
                </a:solidFill>
                <a:latin typeface="Segoe UI" pitchFamily="34" charset="0"/>
                <a:ea typeface="Segoe UI" pitchFamily="34" charset="-122"/>
                <a:cs typeface="Segoe UI" pitchFamily="34" charset="-120"/>
              </a:rPr>
              <a:t>HTML   /   PNG</a:t>
            </a:r>
            <a:endParaRPr lang="en-US" sz="2300" dirty="0"/>
          </a:p>
          <a:p>
            <a:pPr indent="0" marL="0">
              <a:buNone/>
            </a:pPr>
            <a:r>
              <a:rPr lang="en-US" sz="2300" dirty="0">
                <a:solidFill>
                  <a:srgbClr val="F7F2E9"/>
                </a:solidFill>
                <a:latin typeface="Segoe UI" pitchFamily="34" charset="0"/>
                <a:ea typeface="Segoe UI" pitchFamily="34" charset="-122"/>
                <a:cs typeface="Segoe UI" pitchFamily="34" charset="-120"/>
              </a:rPr>
              <a:t>PPTX   /   Video</a:t>
            </a:r>
            <a:endParaRPr lang="en-US" sz="2300" dirty="0"/>
          </a:p>
        </p:txBody>
      </p:sp>
      <p:sp>
        <p:nvSpPr>
          <p:cNvPr id="11" name="Text 9"/>
          <p:cNvSpPr/>
          <p:nvPr/>
        </p:nvSpPr>
        <p:spPr>
          <a:xfrm>
            <a:off x="8074152" y="4663440"/>
            <a:ext cx="3182112" cy="594360"/>
          </a:xfrm>
          <a:prstGeom prst="rect">
            <a:avLst/>
          </a:prstGeom>
          <a:noFill/>
          <a:ln/>
        </p:spPr>
        <p:txBody>
          <a:bodyPr wrap="square" lIns="0" tIns="0" rIns="0" bIns="0" rtlCol="0" anchor="t"/>
          <a:lstStyle/>
          <a:p>
            <a:pPr indent="0" marL="0">
              <a:buNone/>
            </a:pPr>
            <a:r>
              <a:rPr lang="en-US" sz="1800" b="1" dirty="0">
                <a:solidFill>
                  <a:srgbClr val="ECE2D0"/>
                </a:solidFill>
                <a:latin typeface="Segoe UI" pitchFamily="34" charset="0"/>
                <a:ea typeface="Segoe UI" pitchFamily="34" charset="-122"/>
                <a:cs typeface="Segoe UI" pitchFamily="34" charset="-120"/>
              </a:rPr>
              <a:t>Separately authored.</a:t>
            </a:r>
            <a:endParaRPr lang="en-US" sz="1800" dirty="0"/>
          </a:p>
          <a:p>
            <a:pPr indent="0" marL="0">
              <a:buNone/>
            </a:pPr>
            <a:r>
              <a:rPr lang="en-US" sz="1800" b="1" dirty="0">
                <a:solidFill>
                  <a:srgbClr val="ECE2D0"/>
                </a:solidFill>
                <a:latin typeface="Segoe UI" pitchFamily="34" charset="0"/>
                <a:ea typeface="Segoe UI" pitchFamily="34" charset="-122"/>
                <a:cs typeface="Segoe UI" pitchFamily="34" charset="-120"/>
              </a:rPr>
              <a:t>Not automatic conversion.</a:t>
            </a:r>
            <a:endParaRPr lang="en-US" sz="1800" dirty="0"/>
          </a:p>
        </p:txBody>
      </p:sp>
      <p:sp>
        <p:nvSpPr>
          <p:cNvPr id="12" name="Text 10"/>
          <p:cNvSpPr/>
          <p:nvPr/>
        </p:nvSpPr>
        <p:spPr>
          <a:xfrm>
            <a:off x="594360" y="5687568"/>
            <a:ext cx="10972800" cy="402336"/>
          </a:xfrm>
          <a:prstGeom prst="rect">
            <a:avLst/>
          </a:prstGeom>
          <a:noFill/>
          <a:ln/>
        </p:spPr>
        <p:txBody>
          <a:bodyPr wrap="square" lIns="0" tIns="0" rIns="0" bIns="0" rtlCol="0" anchor="t"/>
          <a:lstStyle/>
          <a:p>
            <a:pPr indent="0" marL="0">
              <a:buNone/>
            </a:pPr>
            <a:r>
              <a:rPr lang="en-US" sz="1900" dirty="0">
                <a:solidFill>
                  <a:srgbClr val="EACBD5"/>
                </a:solidFill>
                <a:latin typeface="Segoe UI" pitchFamily="34" charset="0"/>
                <a:ea typeface="Segoe UI" pitchFamily="34" charset="-122"/>
                <a:cs typeface="Segoe UI" pitchFamily="34" charset="-120"/>
              </a:rPr>
              <a:t>Source-first—not an automated truth engine or an “all formats” command.</a:t>
            </a:r>
            <a:endParaRPr lang="en-US" sz="1900" dirty="0"/>
          </a:p>
        </p:txBody>
      </p:sp>
      <p:sp>
        <p:nvSpPr>
          <p:cNvPr id="13" name="Text 11"/>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EACBD5"/>
                </a:solidFill>
                <a:latin typeface="Segoe UI" pitchFamily="34" charset="0"/>
                <a:ea typeface="Segoe UI" pitchFamily="34" charset="-122"/>
                <a:cs typeface="Segoe UI" pitchFamily="34" charset="-120"/>
              </a:rPr>
              <a:t>AHA  /  README · Architecture  |  runtime 0.3.0 · protocol 1.0.0</a:t>
            </a:r>
            <a:endParaRPr lang="en-US" sz="1100" dirty="0"/>
          </a:p>
        </p:txBody>
      </p:sp>
      <p:sp>
        <p:nvSpPr>
          <p:cNvPr id="14" name="Text 12"/>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EACBD5"/>
                </a:solidFill>
                <a:latin typeface="Segoe UI" pitchFamily="34" charset="0"/>
                <a:ea typeface="Segoe UI" pitchFamily="34" charset="-122"/>
                <a:cs typeface="Segoe UI" pitchFamily="34" charset="-120"/>
              </a:rPr>
              <a:t>01 / 09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9"/>
        </a:solidFill>
      </p:bgPr>
    </p:bg>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01  /  RESPONSIBILITIES</a:t>
            </a:r>
            <a:endParaRPr lang="en-US" sz="1100" dirty="0"/>
          </a:p>
        </p:txBody>
      </p:sp>
      <p:sp>
        <p:nvSpPr>
          <p:cNvPr id="3" name="Text 1"/>
          <p:cNvSpPr/>
          <p:nvPr/>
        </p:nvSpPr>
        <p:spPr>
          <a:xfrm>
            <a:off x="548640" y="841248"/>
            <a:ext cx="11018520" cy="658368"/>
          </a:xfrm>
          <a:prstGeom prst="rect">
            <a:avLst/>
          </a:prstGeom>
          <a:noFill/>
          <a:ln/>
        </p:spPr>
        <p:txBody>
          <a:bodyPr wrap="square" lIns="0" tIns="0" rIns="0" bIns="0" rtlCol="0" anchor="t"/>
          <a:lstStyle/>
          <a:p>
            <a:pPr indent="0" marL="0">
              <a:buNone/>
            </a:pPr>
            <a:r>
              <a:rPr lang="en-US" sz="3300" b="1" dirty="0">
                <a:solidFill>
                  <a:srgbClr val="6D2E46"/>
                </a:solidFill>
                <a:latin typeface="Segoe UI" pitchFamily="34" charset="0"/>
                <a:ea typeface="Segoe UI" pitchFamily="34" charset="-122"/>
                <a:cs typeface="Segoe UI" pitchFamily="34" charset="-120"/>
              </a:rPr>
              <a:t>Two Skills guide the work; the runtime executes it</a:t>
            </a:r>
            <a:endParaRPr lang="en-US" sz="3300" dirty="0"/>
          </a:p>
        </p:txBody>
      </p:sp>
      <p:sp>
        <p:nvSpPr>
          <p:cNvPr id="4" name="Text 2"/>
          <p:cNvSpPr/>
          <p:nvPr/>
        </p:nvSpPr>
        <p:spPr>
          <a:xfrm>
            <a:off x="548640" y="1664208"/>
            <a:ext cx="10972800" cy="411480"/>
          </a:xfrm>
          <a:prstGeom prst="rect">
            <a:avLst/>
          </a:prstGeom>
          <a:noFill/>
          <a:ln/>
        </p:spPr>
        <p:txBody>
          <a:bodyPr wrap="square" lIns="0" tIns="0" rIns="0" bIns="0" rtlCol="0" anchor="t"/>
          <a:lstStyle/>
          <a:p>
            <a:pPr indent="0" marL="0">
              <a:buNone/>
            </a:pPr>
            <a:r>
              <a:rPr lang="en-US" sz="2000" dirty="0">
                <a:solidFill>
                  <a:srgbClr val="332E31"/>
                </a:solidFill>
                <a:latin typeface="Segoe UI" pitchFamily="34" charset="0"/>
                <a:ea typeface="Segoe UI" pitchFamily="34" charset="-122"/>
                <a:cs typeface="Segoe UI" pitchFamily="34" charset="-120"/>
              </a:rPr>
              <a:t>Choose the entry by the final deliverable—not by an assumed automatic handoff.</a:t>
            </a:r>
            <a:endParaRPr lang="en-US" sz="2000" dirty="0"/>
          </a:p>
        </p:txBody>
      </p:sp>
      <p:sp>
        <p:nvSpPr>
          <p:cNvPr id="5" name="Shape 3"/>
          <p:cNvSpPr/>
          <p:nvPr/>
        </p:nvSpPr>
        <p:spPr>
          <a:xfrm>
            <a:off x="548640" y="2377440"/>
            <a:ext cx="5394960" cy="2404872"/>
          </a:xfrm>
          <a:prstGeom prst="rect">
            <a:avLst/>
          </a:prstGeom>
          <a:solidFill>
            <a:srgbClr val="FFFCF6"/>
          </a:solidFill>
          <a:ln w="8890">
            <a:solidFill>
              <a:srgbClr val="FFFCF6"/>
            </a:solidFill>
            <a:prstDash val="solid"/>
          </a:ln>
        </p:spPr>
      </p:sp>
      <p:sp>
        <p:nvSpPr>
          <p:cNvPr id="6" name="Text 4"/>
          <p:cNvSpPr/>
          <p:nvPr/>
        </p:nvSpPr>
        <p:spPr>
          <a:xfrm>
            <a:off x="804672" y="2615184"/>
            <a:ext cx="4882896"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REPORT OR INVESTIGATION</a:t>
            </a:r>
            <a:endParaRPr lang="en-US" sz="1100" dirty="0"/>
          </a:p>
        </p:txBody>
      </p:sp>
      <p:sp>
        <p:nvSpPr>
          <p:cNvPr id="7" name="Text 5"/>
          <p:cNvSpPr/>
          <p:nvPr/>
        </p:nvSpPr>
        <p:spPr>
          <a:xfrm>
            <a:off x="804672" y="3017520"/>
            <a:ext cx="4846320" cy="393192"/>
          </a:xfrm>
          <a:prstGeom prst="rect">
            <a:avLst/>
          </a:prstGeom>
          <a:noFill/>
          <a:ln/>
        </p:spPr>
        <p:txBody>
          <a:bodyPr wrap="square" lIns="0" tIns="0" rIns="0" bIns="0" rtlCol="0" anchor="t"/>
          <a:lstStyle/>
          <a:p>
            <a:pPr indent="0" marL="0">
              <a:buNone/>
            </a:pPr>
            <a:r>
              <a:rPr lang="en-US" sz="2400" b="1" dirty="0">
                <a:solidFill>
                  <a:srgbClr val="6D2E46"/>
                </a:solidFill>
                <a:latin typeface="Consolas" pitchFamily="34" charset="0"/>
                <a:ea typeface="Consolas" pitchFamily="34" charset="-122"/>
                <a:cs typeface="Consolas" pitchFamily="34" charset="-120"/>
              </a:rPr>
              <a:t>aha-research</a:t>
            </a:r>
            <a:endParaRPr lang="en-US" sz="2400" dirty="0"/>
          </a:p>
        </p:txBody>
      </p:sp>
      <p:sp>
        <p:nvSpPr>
          <p:cNvPr id="8" name="Text 6"/>
          <p:cNvSpPr/>
          <p:nvPr/>
        </p:nvSpPr>
        <p:spPr>
          <a:xfrm>
            <a:off x="804672" y="3575304"/>
            <a:ext cx="4800600" cy="768096"/>
          </a:xfrm>
          <a:prstGeom prst="rect">
            <a:avLst/>
          </a:prstGeom>
          <a:noFill/>
          <a:ln/>
        </p:spPr>
        <p:txBody>
          <a:bodyPr wrap="square" lIns="0" tIns="0" rIns="0" bIns="0" rtlCol="0" anchor="t"/>
          <a:lstStyle/>
          <a:p>
            <a:pPr indent="0" marL="0">
              <a:buNone/>
            </a:pPr>
            <a:r>
              <a:rPr lang="en-US" sz="1800" dirty="0">
                <a:solidFill>
                  <a:srgbClr val="332E31"/>
                </a:solidFill>
                <a:latin typeface="Segoe UI" pitchFamily="34" charset="0"/>
                <a:ea typeface="Segoe UI" pitchFamily="34" charset="-122"/>
                <a:cs typeface="Segoe UI" pitchFamily="34" charset="-120"/>
              </a:rPr>
              <a:t>Break down the question, collect evidence, test competing explanations, and synthesize a supported answer.</a:t>
            </a:r>
            <a:endParaRPr lang="en-US" sz="1800" dirty="0"/>
          </a:p>
        </p:txBody>
      </p:sp>
      <p:sp>
        <p:nvSpPr>
          <p:cNvPr id="9" name="Text 7"/>
          <p:cNvSpPr/>
          <p:nvPr/>
        </p:nvSpPr>
        <p:spPr>
          <a:xfrm>
            <a:off x="804672" y="4379976"/>
            <a:ext cx="4800600" cy="365760"/>
          </a:xfrm>
          <a:prstGeom prst="rect">
            <a:avLst/>
          </a:prstGeom>
          <a:noFill/>
          <a:ln/>
        </p:spPr>
        <p:txBody>
          <a:bodyPr wrap="square" lIns="0" tIns="0" rIns="0" bIns="0" rtlCol="0" anchor="t"/>
          <a:lstStyle/>
          <a:p>
            <a:pPr indent="0" marL="0">
              <a:buNone/>
            </a:pPr>
            <a:r>
              <a:rPr lang="en-US" sz="1600" dirty="0">
                <a:solidFill>
                  <a:srgbClr val="655B60"/>
                </a:solidFill>
                <a:latin typeface="Segoe UI" pitchFamily="34" charset="0"/>
                <a:ea typeface="Segoe UI" pitchFamily="34" charset="-122"/>
                <a:cs typeface="Segoe UI" pitchFamily="34" charset="-120"/>
              </a:rPr>
              <a:t>Delivers a Research Dossier and readable report.</a:t>
            </a:r>
            <a:endParaRPr lang="en-US" sz="1600" dirty="0"/>
          </a:p>
        </p:txBody>
      </p:sp>
      <p:sp>
        <p:nvSpPr>
          <p:cNvPr id="10" name="Shape 8"/>
          <p:cNvSpPr/>
          <p:nvPr/>
        </p:nvSpPr>
        <p:spPr>
          <a:xfrm>
            <a:off x="6236208" y="2377440"/>
            <a:ext cx="5394960" cy="2404872"/>
          </a:xfrm>
          <a:prstGeom prst="rect">
            <a:avLst/>
          </a:prstGeom>
          <a:solidFill>
            <a:srgbClr val="FFFCF6"/>
          </a:solidFill>
          <a:ln w="8890">
            <a:solidFill>
              <a:srgbClr val="FFFCF6"/>
            </a:solidFill>
            <a:prstDash val="solid"/>
          </a:ln>
        </p:spPr>
      </p:sp>
      <p:sp>
        <p:nvSpPr>
          <p:cNvPr id="11" name="Text 9"/>
          <p:cNvSpPr/>
          <p:nvPr/>
        </p:nvSpPr>
        <p:spPr>
          <a:xfrm>
            <a:off x="6492240" y="2615184"/>
            <a:ext cx="4882896"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VISUAL EXPLANATION</a:t>
            </a:r>
            <a:endParaRPr lang="en-US" sz="1100" dirty="0"/>
          </a:p>
        </p:txBody>
      </p:sp>
      <p:sp>
        <p:nvSpPr>
          <p:cNvPr id="12" name="Text 10"/>
          <p:cNvSpPr/>
          <p:nvPr/>
        </p:nvSpPr>
        <p:spPr>
          <a:xfrm>
            <a:off x="6492240" y="3017520"/>
            <a:ext cx="4846320" cy="393192"/>
          </a:xfrm>
          <a:prstGeom prst="rect">
            <a:avLst/>
          </a:prstGeom>
          <a:noFill/>
          <a:ln/>
        </p:spPr>
        <p:txBody>
          <a:bodyPr wrap="square" lIns="0" tIns="0" rIns="0" bIns="0" rtlCol="0" anchor="t"/>
          <a:lstStyle/>
          <a:p>
            <a:pPr indent="0" marL="0">
              <a:buNone/>
            </a:pPr>
            <a:r>
              <a:rPr lang="en-US" sz="2400" b="1" dirty="0">
                <a:solidFill>
                  <a:srgbClr val="6D2E46"/>
                </a:solidFill>
                <a:latin typeface="Consolas" pitchFamily="34" charset="0"/>
                <a:ea typeface="Consolas" pitchFamily="34" charset="-122"/>
                <a:cs typeface="Consolas" pitchFamily="34" charset="-120"/>
              </a:rPr>
              <a:t>aha-explain</a:t>
            </a:r>
            <a:endParaRPr lang="en-US" sz="2400" dirty="0"/>
          </a:p>
        </p:txBody>
      </p:sp>
      <p:sp>
        <p:nvSpPr>
          <p:cNvPr id="13" name="Text 11"/>
          <p:cNvSpPr/>
          <p:nvPr/>
        </p:nvSpPr>
        <p:spPr>
          <a:xfrm>
            <a:off x="6492240" y="3575304"/>
            <a:ext cx="4800600" cy="768096"/>
          </a:xfrm>
          <a:prstGeom prst="rect">
            <a:avLst/>
          </a:prstGeom>
          <a:noFill/>
          <a:ln/>
        </p:spPr>
        <p:txBody>
          <a:bodyPr wrap="square" lIns="0" tIns="0" rIns="0" bIns="0" rtlCol="0" anchor="t"/>
          <a:lstStyle/>
          <a:p>
            <a:pPr indent="0" marL="0">
              <a:buNone/>
            </a:pPr>
            <a:r>
              <a:rPr lang="en-US" sz="1800" dirty="0">
                <a:solidFill>
                  <a:srgbClr val="332E31"/>
                </a:solidFill>
                <a:latin typeface="Segoe UI" pitchFamily="34" charset="0"/>
                <a:ea typeface="Segoe UI" pitchFamily="34" charset="-122"/>
                <a:cs typeface="Segoe UI" pitchFamily="34" charset="-120"/>
              </a:rPr>
              <a:t>Reuse suitable research—or research first—then design and author the requested medium.</a:t>
            </a:r>
            <a:endParaRPr lang="en-US" sz="1800" dirty="0"/>
          </a:p>
        </p:txBody>
      </p:sp>
      <p:sp>
        <p:nvSpPr>
          <p:cNvPr id="14" name="Text 12"/>
          <p:cNvSpPr/>
          <p:nvPr/>
        </p:nvSpPr>
        <p:spPr>
          <a:xfrm>
            <a:off x="6492240" y="4379976"/>
            <a:ext cx="4800600" cy="365760"/>
          </a:xfrm>
          <a:prstGeom prst="rect">
            <a:avLst/>
          </a:prstGeom>
          <a:noFill/>
          <a:ln/>
        </p:spPr>
        <p:txBody>
          <a:bodyPr wrap="square" lIns="0" tIns="0" rIns="0" bIns="0" rtlCol="0" anchor="t"/>
          <a:lstStyle/>
          <a:p>
            <a:pPr indent="0" marL="0">
              <a:buNone/>
            </a:pPr>
            <a:r>
              <a:rPr lang="en-US" sz="1600" dirty="0">
                <a:solidFill>
                  <a:srgbClr val="655B60"/>
                </a:solidFill>
                <a:latin typeface="Segoe UI" pitchFamily="34" charset="0"/>
                <a:ea typeface="Segoe UI" pitchFamily="34" charset="-122"/>
                <a:cs typeface="Segoe UI" pitchFamily="34" charset="-120"/>
              </a:rPr>
              <a:t>Delivers editable source, output, and candid QA.</a:t>
            </a:r>
            <a:endParaRPr lang="en-US" sz="1600" dirty="0"/>
          </a:p>
        </p:txBody>
      </p:sp>
      <p:sp>
        <p:nvSpPr>
          <p:cNvPr id="15" name="Shape 13"/>
          <p:cNvSpPr/>
          <p:nvPr/>
        </p:nvSpPr>
        <p:spPr>
          <a:xfrm>
            <a:off x="548640" y="5166360"/>
            <a:ext cx="11082528" cy="950976"/>
          </a:xfrm>
          <a:prstGeom prst="rect">
            <a:avLst/>
          </a:prstGeom>
          <a:solidFill>
            <a:srgbClr val="6D2E46"/>
          </a:solidFill>
          <a:ln w="8890">
            <a:solidFill>
              <a:srgbClr val="6D2E46"/>
            </a:solidFill>
            <a:prstDash val="solid"/>
          </a:ln>
        </p:spPr>
      </p:sp>
      <p:sp>
        <p:nvSpPr>
          <p:cNvPr id="16" name="Text 14"/>
          <p:cNvSpPr/>
          <p:nvPr/>
        </p:nvSpPr>
        <p:spPr>
          <a:xfrm>
            <a:off x="822960" y="5394960"/>
            <a:ext cx="2029968" cy="420624"/>
          </a:xfrm>
          <a:prstGeom prst="rect">
            <a:avLst/>
          </a:prstGeom>
          <a:noFill/>
          <a:ln/>
        </p:spPr>
        <p:txBody>
          <a:bodyPr wrap="square" lIns="0" tIns="0" rIns="0" bIns="0" rtlCol="0" anchor="t"/>
          <a:lstStyle/>
          <a:p>
            <a:pPr indent="0" marL="0">
              <a:buNone/>
            </a:pPr>
            <a:r>
              <a:rPr lang="en-US" sz="1700" b="1" dirty="0">
                <a:solidFill>
                  <a:srgbClr val="F7F2E9"/>
                </a:solidFill>
                <a:latin typeface="Segoe UI" pitchFamily="34" charset="0"/>
                <a:ea typeface="Segoe UI" pitchFamily="34" charset="-122"/>
                <a:cs typeface="Segoe UI" pitchFamily="34" charset="-120"/>
              </a:rPr>
              <a:t>LOCAL RUNTIME</a:t>
            </a:r>
            <a:endParaRPr lang="en-US" sz="1700" dirty="0"/>
          </a:p>
        </p:txBody>
      </p:sp>
      <p:sp>
        <p:nvSpPr>
          <p:cNvPr id="17" name="Text 15"/>
          <p:cNvSpPr/>
          <p:nvPr/>
        </p:nvSpPr>
        <p:spPr>
          <a:xfrm>
            <a:off x="3063240" y="5367528"/>
            <a:ext cx="8183880" cy="557784"/>
          </a:xfrm>
          <a:prstGeom prst="rect">
            <a:avLst/>
          </a:prstGeom>
          <a:noFill/>
          <a:ln/>
        </p:spPr>
        <p:txBody>
          <a:bodyPr wrap="square" lIns="0" tIns="0" rIns="0" bIns="0" rtlCol="0" anchor="t"/>
          <a:lstStyle/>
          <a:p>
            <a:pPr indent="0" marL="0">
              <a:buNone/>
            </a:pPr>
            <a:r>
              <a:rPr lang="en-US" sz="1800" dirty="0">
                <a:solidFill>
                  <a:srgbClr val="F7F2E9"/>
                </a:solidFill>
                <a:latin typeface="Segoe UI" pitchFamily="34" charset="0"/>
                <a:ea typeface="Segoe UI" pitchFamily="34" charset="-122"/>
                <a:cs typeface="Segoe UI" pitchFamily="34" charset="-120"/>
              </a:rPr>
              <a:t>Checks contracts and identity; packages resources and renders.</a:t>
            </a:r>
            <a:endParaRPr lang="en-US" sz="1800" dirty="0"/>
          </a:p>
          <a:p>
            <a:pPr indent="0" marL="0">
              <a:buNone/>
            </a:pPr>
            <a:r>
              <a:rPr lang="en-US" sz="1800" dirty="0">
                <a:solidFill>
                  <a:srgbClr val="F7F2E9"/>
                </a:solidFill>
                <a:latin typeface="Segoe UI" pitchFamily="34" charset="0"/>
                <a:ea typeface="Segoe UI" pitchFamily="34" charset="-122"/>
                <a:cs typeface="Segoe UI" pitchFamily="34" charset="-120"/>
              </a:rPr>
              <a:t>It does not establish that a source supports a conclusion.</a:t>
            </a:r>
            <a:endParaRPr lang="en-US" sz="1800" dirty="0"/>
          </a:p>
        </p:txBody>
      </p:sp>
      <p:sp>
        <p:nvSpPr>
          <p:cNvPr id="18" name="Text 16"/>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655B60"/>
                </a:solidFill>
                <a:latin typeface="Segoe UI" pitchFamily="34" charset="0"/>
                <a:ea typeface="Segoe UI" pitchFamily="34" charset="-122"/>
                <a:cs typeface="Segoe UI" pitchFamily="34" charset="-120"/>
              </a:rPr>
              <a:t>AHA  /  Research Skill · Explain Skill · README</a:t>
            </a:r>
            <a:endParaRPr lang="en-US" sz="1100" dirty="0"/>
          </a:p>
        </p:txBody>
      </p:sp>
      <p:sp>
        <p:nvSpPr>
          <p:cNvPr id="19" name="Text 17"/>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655B60"/>
                </a:solidFill>
                <a:latin typeface="Segoe UI" pitchFamily="34" charset="0"/>
                <a:ea typeface="Segoe UI" pitchFamily="34" charset="-122"/>
                <a:cs typeface="Segoe UI" pitchFamily="34" charset="-120"/>
              </a:rPr>
              <a:t>02 / 09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9"/>
        </a:solidFill>
      </p:bgPr>
    </p:bg>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02  /  IDENTITY</a:t>
            </a:r>
            <a:endParaRPr lang="en-US" sz="1100" dirty="0"/>
          </a:p>
        </p:txBody>
      </p:sp>
      <p:sp>
        <p:nvSpPr>
          <p:cNvPr id="3" name="Text 1"/>
          <p:cNvSpPr/>
          <p:nvPr/>
        </p:nvSpPr>
        <p:spPr>
          <a:xfrm>
            <a:off x="548640" y="841248"/>
            <a:ext cx="11018520" cy="658368"/>
          </a:xfrm>
          <a:prstGeom prst="rect">
            <a:avLst/>
          </a:prstGeom>
          <a:noFill/>
          <a:ln/>
        </p:spPr>
        <p:txBody>
          <a:bodyPr wrap="square" lIns="0" tIns="0" rIns="0" bIns="0" rtlCol="0" anchor="t"/>
          <a:lstStyle/>
          <a:p>
            <a:pPr indent="0" marL="0">
              <a:buNone/>
            </a:pPr>
            <a:r>
              <a:rPr lang="en-US" sz="3300" b="1" dirty="0">
                <a:solidFill>
                  <a:srgbClr val="6D2E46"/>
                </a:solidFill>
                <a:latin typeface="Segoe UI" pitchFamily="34" charset="0"/>
                <a:ea typeface="Segoe UI" pitchFamily="34" charset="-122"/>
                <a:cs typeface="Segoe UI" pitchFamily="34" charset="-120"/>
              </a:rPr>
              <a:t>Bind research and source to the rendered result</a:t>
            </a:r>
            <a:endParaRPr lang="en-US" sz="3300" dirty="0"/>
          </a:p>
        </p:txBody>
      </p:sp>
      <p:sp>
        <p:nvSpPr>
          <p:cNvPr id="4" name="Text 2"/>
          <p:cNvSpPr/>
          <p:nvPr/>
        </p:nvSpPr>
        <p:spPr>
          <a:xfrm>
            <a:off x="548640" y="1664208"/>
            <a:ext cx="10972800" cy="484632"/>
          </a:xfrm>
          <a:prstGeom prst="rect">
            <a:avLst/>
          </a:prstGeom>
          <a:noFill/>
          <a:ln/>
        </p:spPr>
        <p:txBody>
          <a:bodyPr wrap="square" lIns="0" tIns="0" rIns="0" bIns="0" rtlCol="0" anchor="t"/>
          <a:lstStyle/>
          <a:p>
            <a:pPr indent="0" marL="0">
              <a:buNone/>
            </a:pPr>
            <a:r>
              <a:rPr lang="en-US" sz="2000" dirty="0">
                <a:solidFill>
                  <a:srgbClr val="332E31"/>
                </a:solidFill>
                <a:latin typeface="Segoe UI" pitchFamily="34" charset="0"/>
                <a:ea typeface="Segoe UI" pitchFamily="34" charset="-122"/>
                <a:cs typeface="Segoe UI" pitchFamily="34" charset="-120"/>
              </a:rPr>
              <a:t>Identity lets you answer “Which inputs produced this file?” It cannot answer “Is it true?”</a:t>
            </a:r>
            <a:endParaRPr lang="en-US" sz="2000" dirty="0"/>
          </a:p>
        </p:txBody>
      </p:sp>
      <p:sp>
        <p:nvSpPr>
          <p:cNvPr id="5" name="Shape 3"/>
          <p:cNvSpPr/>
          <p:nvPr/>
        </p:nvSpPr>
        <p:spPr>
          <a:xfrm>
            <a:off x="548640" y="2432304"/>
            <a:ext cx="3337560" cy="2633472"/>
          </a:xfrm>
          <a:prstGeom prst="rect">
            <a:avLst/>
          </a:prstGeom>
          <a:solidFill>
            <a:srgbClr val="FFFCF6"/>
          </a:solidFill>
          <a:ln w="8890">
            <a:solidFill>
              <a:srgbClr val="FFFCF6"/>
            </a:solidFill>
            <a:prstDash val="solid"/>
          </a:ln>
        </p:spPr>
      </p:sp>
      <p:sp>
        <p:nvSpPr>
          <p:cNvPr id="6" name="Text 4"/>
          <p:cNvSpPr/>
          <p:nvPr/>
        </p:nvSpPr>
        <p:spPr>
          <a:xfrm>
            <a:off x="768096" y="2642616"/>
            <a:ext cx="41148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01</a:t>
            </a:r>
            <a:endParaRPr lang="en-US" sz="1100" dirty="0"/>
          </a:p>
        </p:txBody>
      </p:sp>
      <p:sp>
        <p:nvSpPr>
          <p:cNvPr id="7" name="Text 5"/>
          <p:cNvSpPr/>
          <p:nvPr/>
        </p:nvSpPr>
        <p:spPr>
          <a:xfrm>
            <a:off x="768096" y="2990088"/>
            <a:ext cx="2898648" cy="347472"/>
          </a:xfrm>
          <a:prstGeom prst="rect">
            <a:avLst/>
          </a:prstGeom>
          <a:noFill/>
          <a:ln/>
        </p:spPr>
        <p:txBody>
          <a:bodyPr wrap="square" lIns="0" tIns="0" rIns="0" bIns="0" rtlCol="0" anchor="t"/>
          <a:lstStyle/>
          <a:p>
            <a:pPr indent="0" marL="0">
              <a:buNone/>
            </a:pPr>
            <a:r>
              <a:rPr lang="en-US" sz="2100" b="1" dirty="0">
                <a:solidFill>
                  <a:srgbClr val="6D2E46"/>
                </a:solidFill>
                <a:latin typeface="Segoe UI" pitchFamily="34" charset="0"/>
                <a:ea typeface="Segoe UI" pitchFamily="34" charset="-122"/>
                <a:cs typeface="Segoe UI" pitchFamily="34" charset="-120"/>
              </a:rPr>
              <a:t>Research Dossier</a:t>
            </a:r>
            <a:endParaRPr lang="en-US" sz="2100" dirty="0"/>
          </a:p>
        </p:txBody>
      </p:sp>
      <p:sp>
        <p:nvSpPr>
          <p:cNvPr id="8" name="Text 6"/>
          <p:cNvSpPr/>
          <p:nvPr/>
        </p:nvSpPr>
        <p:spPr>
          <a:xfrm>
            <a:off x="768096" y="3575304"/>
            <a:ext cx="2898648" cy="777240"/>
          </a:xfrm>
          <a:prstGeom prst="rect">
            <a:avLst/>
          </a:prstGeom>
          <a:noFill/>
          <a:ln/>
        </p:spPr>
        <p:txBody>
          <a:bodyPr wrap="square" lIns="0" tIns="0" rIns="0" bIns="0" rtlCol="0" anchor="t"/>
          <a:lstStyle/>
          <a:p>
            <a:pPr indent="0" marL="0">
              <a:buNone/>
            </a:pPr>
            <a:r>
              <a:rPr lang="en-US" sz="1600" dirty="0">
                <a:solidFill>
                  <a:srgbClr val="332E31"/>
                </a:solidFill>
                <a:latin typeface="Consolas" pitchFamily="34" charset="0"/>
                <a:ea typeface="Consolas" pitchFamily="34" charset="-122"/>
                <a:cs typeface="Consolas" pitchFamily="34" charset="-120"/>
              </a:rPr>
              <a:t>manifest.json</a:t>
            </a:r>
            <a:endParaRPr lang="en-US" sz="1600" dirty="0"/>
          </a:p>
          <a:p>
            <a:pPr indent="0" marL="0">
              <a:buNone/>
            </a:pPr>
            <a:r>
              <a:rPr lang="en-US" sz="1600" dirty="0">
                <a:solidFill>
                  <a:srgbClr val="332E31"/>
                </a:solidFill>
                <a:latin typeface="Consolas" pitchFamily="34" charset="0"/>
                <a:ea typeface="Consolas" pitchFamily="34" charset="-122"/>
                <a:cs typeface="Consolas" pitchFamily="34" charset="-120"/>
              </a:rPr>
              <a:t>research.json</a:t>
            </a:r>
            <a:endParaRPr lang="en-US" sz="1600" dirty="0"/>
          </a:p>
          <a:p>
            <a:pPr indent="0" marL="0">
              <a:buNone/>
            </a:pPr>
            <a:r>
              <a:rPr lang="en-US" sz="1600" dirty="0">
                <a:solidFill>
                  <a:srgbClr val="332E31"/>
                </a:solidFill>
                <a:latin typeface="Consolas" pitchFamily="34" charset="0"/>
                <a:ea typeface="Consolas" pitchFamily="34" charset="-122"/>
                <a:cs typeface="Consolas" pitchFamily="34" charset="-120"/>
              </a:rPr>
              <a:t>report.md</a:t>
            </a:r>
            <a:endParaRPr lang="en-US" sz="1600" dirty="0"/>
          </a:p>
        </p:txBody>
      </p:sp>
      <p:sp>
        <p:nvSpPr>
          <p:cNvPr id="9" name="Text 7"/>
          <p:cNvSpPr/>
          <p:nvPr/>
        </p:nvSpPr>
        <p:spPr>
          <a:xfrm>
            <a:off x="768096" y="4471416"/>
            <a:ext cx="2898648" cy="475488"/>
          </a:xfrm>
          <a:prstGeom prst="rect">
            <a:avLst/>
          </a:prstGeom>
          <a:noFill/>
          <a:ln/>
        </p:spPr>
        <p:txBody>
          <a:bodyPr wrap="square" lIns="0" tIns="0" rIns="0" bIns="0" rtlCol="0" anchor="t"/>
          <a:lstStyle/>
          <a:p>
            <a:pPr indent="0" marL="0">
              <a:buNone/>
            </a:pPr>
            <a:r>
              <a:rPr lang="en-US" sz="1350" dirty="0">
                <a:solidFill>
                  <a:srgbClr val="655B60"/>
                </a:solidFill>
                <a:latin typeface="Segoe UI" pitchFamily="34" charset="0"/>
                <a:ea typeface="Segoe UI" pitchFamily="34" charset="-122"/>
                <a:cs typeface="Segoe UI" pitchFamily="34" charset="-120"/>
              </a:rPr>
              <a:t>Claims, evidence and gaps remain independent of any medium.</a:t>
            </a:r>
            <a:endParaRPr lang="en-US" sz="1350" dirty="0"/>
          </a:p>
        </p:txBody>
      </p:sp>
      <p:sp>
        <p:nvSpPr>
          <p:cNvPr id="10" name="Shape 8"/>
          <p:cNvSpPr/>
          <p:nvPr/>
        </p:nvSpPr>
        <p:spPr>
          <a:xfrm>
            <a:off x="4425696" y="2432304"/>
            <a:ext cx="3337560" cy="2633472"/>
          </a:xfrm>
          <a:prstGeom prst="rect">
            <a:avLst/>
          </a:prstGeom>
          <a:solidFill>
            <a:srgbClr val="FFFCF6"/>
          </a:solidFill>
          <a:ln w="8890">
            <a:solidFill>
              <a:srgbClr val="FFFCF6"/>
            </a:solidFill>
            <a:prstDash val="solid"/>
          </a:ln>
        </p:spPr>
      </p:sp>
      <p:sp>
        <p:nvSpPr>
          <p:cNvPr id="11" name="Text 9"/>
          <p:cNvSpPr/>
          <p:nvPr/>
        </p:nvSpPr>
        <p:spPr>
          <a:xfrm>
            <a:off x="4645152" y="2642616"/>
            <a:ext cx="41148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02</a:t>
            </a:r>
            <a:endParaRPr lang="en-US" sz="1100" dirty="0"/>
          </a:p>
        </p:txBody>
      </p:sp>
      <p:sp>
        <p:nvSpPr>
          <p:cNvPr id="12" name="Text 10"/>
          <p:cNvSpPr/>
          <p:nvPr/>
        </p:nvSpPr>
        <p:spPr>
          <a:xfrm>
            <a:off x="4645152" y="2990088"/>
            <a:ext cx="2898648" cy="347472"/>
          </a:xfrm>
          <a:prstGeom prst="rect">
            <a:avLst/>
          </a:prstGeom>
          <a:noFill/>
          <a:ln/>
        </p:spPr>
        <p:txBody>
          <a:bodyPr wrap="square" lIns="0" tIns="0" rIns="0" bIns="0" rtlCol="0" anchor="t"/>
          <a:lstStyle/>
          <a:p>
            <a:pPr indent="0" marL="0">
              <a:buNone/>
            </a:pPr>
            <a:r>
              <a:rPr lang="en-US" sz="2100" b="1" dirty="0">
                <a:solidFill>
                  <a:srgbClr val="6D2E46"/>
                </a:solidFill>
                <a:latin typeface="Segoe UI" pitchFamily="34" charset="0"/>
                <a:ea typeface="Segoe UI" pitchFamily="34" charset="-122"/>
                <a:cs typeface="Segoe UI" pitchFamily="34" charset="-120"/>
              </a:rPr>
              <a:t>Artifact project</a:t>
            </a:r>
            <a:endParaRPr lang="en-US" sz="2100" dirty="0"/>
          </a:p>
        </p:txBody>
      </p:sp>
      <p:sp>
        <p:nvSpPr>
          <p:cNvPr id="13" name="Text 11"/>
          <p:cNvSpPr/>
          <p:nvPr/>
        </p:nvSpPr>
        <p:spPr>
          <a:xfrm>
            <a:off x="4645152" y="3575304"/>
            <a:ext cx="2898648" cy="777240"/>
          </a:xfrm>
          <a:prstGeom prst="rect">
            <a:avLst/>
          </a:prstGeom>
          <a:noFill/>
          <a:ln/>
        </p:spPr>
        <p:txBody>
          <a:bodyPr wrap="square" lIns="0" tIns="0" rIns="0" bIns="0" rtlCol="0" anchor="t"/>
          <a:lstStyle/>
          <a:p>
            <a:pPr indent="0" marL="0">
              <a:buNone/>
            </a:pPr>
            <a:r>
              <a:rPr lang="en-US" sz="1600" dirty="0">
                <a:solidFill>
                  <a:srgbClr val="332E31"/>
                </a:solidFill>
                <a:latin typeface="Consolas" pitchFamily="34" charset="0"/>
                <a:ea typeface="Consolas" pitchFamily="34" charset="-122"/>
                <a:cs typeface="Consolas" pitchFamily="34" charset="-120"/>
              </a:rPr>
              <a:t>artifact.json</a:t>
            </a:r>
            <a:endParaRPr lang="en-US" sz="1600" dirty="0"/>
          </a:p>
          <a:p>
            <a:pPr indent="0" marL="0">
              <a:buNone/>
            </a:pPr>
            <a:r>
              <a:rPr lang="en-US" sz="1600" dirty="0">
                <a:solidFill>
                  <a:srgbClr val="332E31"/>
                </a:solidFill>
                <a:latin typeface="Consolas" pitchFamily="34" charset="0"/>
                <a:ea typeface="Consolas" pitchFamily="34" charset="-122"/>
                <a:cs typeface="Consolas" pitchFamily="34" charset="-120"/>
              </a:rPr>
              <a:t>editable medium source</a:t>
            </a:r>
            <a:endParaRPr lang="en-US" sz="1600" dirty="0"/>
          </a:p>
          <a:p>
            <a:pPr indent="0" marL="0">
              <a:buNone/>
            </a:pPr>
            <a:r>
              <a:rPr lang="en-US" sz="1600" dirty="0">
                <a:solidFill>
                  <a:srgbClr val="332E31"/>
                </a:solidFill>
                <a:latin typeface="Consolas" pitchFamily="34" charset="0"/>
                <a:ea typeface="Consolas" pitchFamily="34" charset="-122"/>
                <a:cs typeface="Consolas" pitchFamily="34" charset="-120"/>
              </a:rPr>
              <a:t>bound research copy</a:t>
            </a:r>
            <a:endParaRPr lang="en-US" sz="1600" dirty="0"/>
          </a:p>
        </p:txBody>
      </p:sp>
      <p:sp>
        <p:nvSpPr>
          <p:cNvPr id="14" name="Text 12"/>
          <p:cNvSpPr/>
          <p:nvPr/>
        </p:nvSpPr>
        <p:spPr>
          <a:xfrm>
            <a:off x="4645152" y="4471416"/>
            <a:ext cx="2898648" cy="475488"/>
          </a:xfrm>
          <a:prstGeom prst="rect">
            <a:avLst/>
          </a:prstGeom>
          <a:noFill/>
          <a:ln/>
        </p:spPr>
        <p:txBody>
          <a:bodyPr wrap="square" lIns="0" tIns="0" rIns="0" bIns="0" rtlCol="0" anchor="t"/>
          <a:lstStyle/>
          <a:p>
            <a:pPr indent="0" marL="0">
              <a:buNone/>
            </a:pPr>
            <a:r>
              <a:rPr lang="en-US" sz="1350" dirty="0">
                <a:solidFill>
                  <a:srgbClr val="655B60"/>
                </a:solidFill>
                <a:latin typeface="Segoe UI" pitchFamily="34" charset="0"/>
                <a:ea typeface="Segoe UI" pitchFamily="34" charset="-122"/>
                <a:cs typeface="Segoe UI" pitchFamily="34" charset="-120"/>
              </a:rPr>
              <a:t>Each claim is mapped to content or explicitly omitted with a reason.</a:t>
            </a:r>
            <a:endParaRPr lang="en-US" sz="1350" dirty="0"/>
          </a:p>
        </p:txBody>
      </p:sp>
      <p:sp>
        <p:nvSpPr>
          <p:cNvPr id="15" name="Shape 13"/>
          <p:cNvSpPr/>
          <p:nvPr/>
        </p:nvSpPr>
        <p:spPr>
          <a:xfrm>
            <a:off x="8302752" y="2432304"/>
            <a:ext cx="3337560" cy="2633472"/>
          </a:xfrm>
          <a:prstGeom prst="rect">
            <a:avLst/>
          </a:prstGeom>
          <a:solidFill>
            <a:srgbClr val="FFFCF6"/>
          </a:solidFill>
          <a:ln w="8890">
            <a:solidFill>
              <a:srgbClr val="FFFCF6"/>
            </a:solidFill>
            <a:prstDash val="solid"/>
          </a:ln>
        </p:spPr>
      </p:sp>
      <p:sp>
        <p:nvSpPr>
          <p:cNvPr id="16" name="Text 14"/>
          <p:cNvSpPr/>
          <p:nvPr/>
        </p:nvSpPr>
        <p:spPr>
          <a:xfrm>
            <a:off x="8522208" y="2642616"/>
            <a:ext cx="41148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03</a:t>
            </a:r>
            <a:endParaRPr lang="en-US" sz="1100" dirty="0"/>
          </a:p>
        </p:txBody>
      </p:sp>
      <p:sp>
        <p:nvSpPr>
          <p:cNvPr id="17" name="Text 15"/>
          <p:cNvSpPr/>
          <p:nvPr/>
        </p:nvSpPr>
        <p:spPr>
          <a:xfrm>
            <a:off x="8522208" y="2990088"/>
            <a:ext cx="2898648" cy="347472"/>
          </a:xfrm>
          <a:prstGeom prst="rect">
            <a:avLst/>
          </a:prstGeom>
          <a:noFill/>
          <a:ln/>
        </p:spPr>
        <p:txBody>
          <a:bodyPr wrap="square" lIns="0" tIns="0" rIns="0" bIns="0" rtlCol="0" anchor="t"/>
          <a:lstStyle/>
          <a:p>
            <a:pPr indent="0" marL="0">
              <a:buNone/>
            </a:pPr>
            <a:r>
              <a:rPr lang="en-US" sz="2100" b="1" dirty="0">
                <a:solidFill>
                  <a:srgbClr val="6D2E46"/>
                </a:solidFill>
                <a:latin typeface="Segoe UI" pitchFamily="34" charset="0"/>
                <a:ea typeface="Segoe UI" pitchFamily="34" charset="-122"/>
                <a:cs typeface="Segoe UI" pitchFamily="34" charset="-120"/>
              </a:rPr>
              <a:t>Output + receipt</a:t>
            </a:r>
            <a:endParaRPr lang="en-US" sz="2100" dirty="0"/>
          </a:p>
        </p:txBody>
      </p:sp>
      <p:sp>
        <p:nvSpPr>
          <p:cNvPr id="18" name="Text 16"/>
          <p:cNvSpPr/>
          <p:nvPr/>
        </p:nvSpPr>
        <p:spPr>
          <a:xfrm>
            <a:off x="8522208" y="3575304"/>
            <a:ext cx="2898648" cy="777240"/>
          </a:xfrm>
          <a:prstGeom prst="rect">
            <a:avLst/>
          </a:prstGeom>
          <a:noFill/>
          <a:ln/>
        </p:spPr>
        <p:txBody>
          <a:bodyPr wrap="square" lIns="0" tIns="0" rIns="0" bIns="0" rtlCol="0" anchor="t"/>
          <a:lstStyle/>
          <a:p>
            <a:pPr indent="0" marL="0">
              <a:buNone/>
            </a:pPr>
            <a:r>
              <a:rPr lang="en-US" sz="1600" dirty="0">
                <a:solidFill>
                  <a:srgbClr val="332E31"/>
                </a:solidFill>
                <a:latin typeface="Consolas" pitchFamily="34" charset="0"/>
                <a:ea typeface="Consolas" pitchFamily="34" charset="-122"/>
                <a:cs typeface="Consolas" pitchFamily="34" charset="-120"/>
              </a:rPr>
              <a:t>researchHash</a:t>
            </a:r>
            <a:endParaRPr lang="en-US" sz="1600" dirty="0"/>
          </a:p>
          <a:p>
            <a:pPr indent="0" marL="0">
              <a:buNone/>
            </a:pPr>
            <a:r>
              <a:rPr lang="en-US" sz="1600" dirty="0">
                <a:solidFill>
                  <a:srgbClr val="332E31"/>
                </a:solidFill>
                <a:latin typeface="Consolas" pitchFamily="34" charset="0"/>
                <a:ea typeface="Consolas" pitchFamily="34" charset="-122"/>
                <a:cs typeface="Consolas" pitchFamily="34" charset="-120"/>
              </a:rPr>
              <a:t>sourceHash</a:t>
            </a:r>
            <a:endParaRPr lang="en-US" sz="1600" dirty="0"/>
          </a:p>
          <a:p>
            <a:pPr indent="0" marL="0">
              <a:buNone/>
            </a:pPr>
            <a:r>
              <a:rPr lang="en-US" sz="1600" dirty="0">
                <a:solidFill>
                  <a:srgbClr val="332E31"/>
                </a:solidFill>
                <a:latin typeface="Consolas" pitchFamily="34" charset="0"/>
                <a:ea typeface="Consolas" pitchFamily="34" charset="-122"/>
                <a:cs typeface="Consolas" pitchFamily="34" charset="-120"/>
              </a:rPr>
              <a:t>outputHash</a:t>
            </a:r>
            <a:endParaRPr lang="en-US" sz="1600" dirty="0"/>
          </a:p>
        </p:txBody>
      </p:sp>
      <p:sp>
        <p:nvSpPr>
          <p:cNvPr id="19" name="Text 17"/>
          <p:cNvSpPr/>
          <p:nvPr/>
        </p:nvSpPr>
        <p:spPr>
          <a:xfrm>
            <a:off x="8522208" y="4471416"/>
            <a:ext cx="2898648" cy="475488"/>
          </a:xfrm>
          <a:prstGeom prst="rect">
            <a:avLst/>
          </a:prstGeom>
          <a:noFill/>
          <a:ln/>
        </p:spPr>
        <p:txBody>
          <a:bodyPr wrap="square" lIns="0" tIns="0" rIns="0" bIns="0" rtlCol="0" anchor="t"/>
          <a:lstStyle/>
          <a:p>
            <a:pPr indent="0" marL="0">
              <a:buNone/>
            </a:pPr>
            <a:r>
              <a:rPr lang="en-US" sz="1350" dirty="0">
                <a:solidFill>
                  <a:srgbClr val="655B60"/>
                </a:solidFill>
                <a:latin typeface="Segoe UI" pitchFamily="34" charset="0"/>
                <a:ea typeface="Segoe UI" pitchFamily="34" charset="-122"/>
                <a:cs typeface="Segoe UI" pitchFamily="34" charset="-120"/>
              </a:rPr>
              <a:t>For HTML, PNG and PPTX, the receipt binds the result to its inputs.</a:t>
            </a:r>
            <a:endParaRPr lang="en-US" sz="1350" dirty="0"/>
          </a:p>
        </p:txBody>
      </p:sp>
      <p:sp>
        <p:nvSpPr>
          <p:cNvPr id="20" name="Shape 18"/>
          <p:cNvSpPr/>
          <p:nvPr/>
        </p:nvSpPr>
        <p:spPr>
          <a:xfrm>
            <a:off x="4023360" y="3621024"/>
            <a:ext cx="246888" cy="256032"/>
          </a:xfrm>
          <a:prstGeom prst="chevron">
            <a:avLst/>
          </a:prstGeom>
          <a:solidFill>
            <a:srgbClr val="6D2E46"/>
          </a:solidFill>
          <a:ln w="12700">
            <a:solidFill>
              <a:srgbClr val="6D2E46">
                <a:alpha val="0"/>
              </a:srgbClr>
            </a:solidFill>
            <a:prstDash val="solid"/>
          </a:ln>
        </p:spPr>
      </p:sp>
      <p:sp>
        <p:nvSpPr>
          <p:cNvPr id="21" name="Shape 19"/>
          <p:cNvSpPr/>
          <p:nvPr/>
        </p:nvSpPr>
        <p:spPr>
          <a:xfrm>
            <a:off x="7900416" y="3621024"/>
            <a:ext cx="246888" cy="256032"/>
          </a:xfrm>
          <a:prstGeom prst="chevron">
            <a:avLst/>
          </a:prstGeom>
          <a:solidFill>
            <a:srgbClr val="6D2E46"/>
          </a:solidFill>
          <a:ln w="12700">
            <a:solidFill>
              <a:srgbClr val="6D2E46">
                <a:alpha val="0"/>
              </a:srgbClr>
            </a:solidFill>
            <a:prstDash val="solid"/>
          </a:ln>
        </p:spPr>
      </p:sp>
      <p:sp>
        <p:nvSpPr>
          <p:cNvPr id="22" name="Text 20"/>
          <p:cNvSpPr/>
          <p:nvPr/>
        </p:nvSpPr>
        <p:spPr>
          <a:xfrm>
            <a:off x="3931920" y="3282696"/>
            <a:ext cx="457200" cy="228600"/>
          </a:xfrm>
          <a:prstGeom prst="rect">
            <a:avLst/>
          </a:prstGeom>
          <a:noFill/>
          <a:ln/>
        </p:spPr>
        <p:txBody>
          <a:bodyPr wrap="square" lIns="0" tIns="0" rIns="0" bIns="0" rtlCol="0" anchor="t"/>
          <a:lstStyle/>
          <a:p>
            <a:pPr algn="ctr" indent="0" marL="0">
              <a:buNone/>
            </a:pPr>
            <a:r>
              <a:rPr lang="en-US" sz="1000" b="1" dirty="0">
                <a:solidFill>
                  <a:srgbClr val="6D2E46"/>
                </a:solidFill>
                <a:latin typeface="Segoe UI" pitchFamily="34" charset="0"/>
                <a:ea typeface="Segoe UI" pitchFamily="34" charset="-122"/>
                <a:cs typeface="Segoe UI" pitchFamily="34" charset="-120"/>
              </a:rPr>
              <a:t>BIND</a:t>
            </a:r>
            <a:endParaRPr lang="en-US" sz="1000" dirty="0"/>
          </a:p>
        </p:txBody>
      </p:sp>
      <p:sp>
        <p:nvSpPr>
          <p:cNvPr id="23" name="Text 21"/>
          <p:cNvSpPr/>
          <p:nvPr/>
        </p:nvSpPr>
        <p:spPr>
          <a:xfrm>
            <a:off x="7781544" y="3282696"/>
            <a:ext cx="493776" cy="228600"/>
          </a:xfrm>
          <a:prstGeom prst="rect">
            <a:avLst/>
          </a:prstGeom>
          <a:noFill/>
          <a:ln/>
        </p:spPr>
        <p:txBody>
          <a:bodyPr wrap="square" lIns="0" tIns="0" rIns="0" bIns="0" rtlCol="0" anchor="t"/>
          <a:lstStyle/>
          <a:p>
            <a:pPr algn="ctr" indent="0" marL="0">
              <a:buNone/>
            </a:pPr>
            <a:r>
              <a:rPr lang="en-US" sz="900" b="1" dirty="0">
                <a:solidFill>
                  <a:srgbClr val="6D2E46"/>
                </a:solidFill>
                <a:latin typeface="Segoe UI" pitchFamily="34" charset="0"/>
                <a:ea typeface="Segoe UI" pitchFamily="34" charset="-122"/>
                <a:cs typeface="Segoe UI" pitchFamily="34" charset="-120"/>
              </a:rPr>
              <a:t>RENDER</a:t>
            </a:r>
            <a:endParaRPr lang="en-US" sz="900" dirty="0"/>
          </a:p>
        </p:txBody>
      </p:sp>
      <p:sp>
        <p:nvSpPr>
          <p:cNvPr id="24" name="Text 22"/>
          <p:cNvSpPr/>
          <p:nvPr/>
        </p:nvSpPr>
        <p:spPr>
          <a:xfrm>
            <a:off x="548640" y="5431536"/>
            <a:ext cx="2103120" cy="384048"/>
          </a:xfrm>
          <a:prstGeom prst="rect">
            <a:avLst/>
          </a:prstGeom>
          <a:noFill/>
          <a:ln/>
        </p:spPr>
        <p:txBody>
          <a:bodyPr wrap="square" lIns="0" tIns="0" rIns="0" bIns="0" rtlCol="0" anchor="t"/>
          <a:lstStyle/>
          <a:p>
            <a:pPr indent="0" marL="0">
              <a:buNone/>
            </a:pPr>
            <a:r>
              <a:rPr lang="en-US" sz="2200" b="1" dirty="0">
                <a:solidFill>
                  <a:srgbClr val="6D2E46"/>
                </a:solidFill>
                <a:latin typeface="Segoe UI" pitchFamily="34" charset="0"/>
                <a:ea typeface="Segoe UI" pitchFamily="34" charset="-122"/>
                <a:cs typeface="Segoe UI" pitchFamily="34" charset="-120"/>
              </a:rPr>
              <a:t>After an edit</a:t>
            </a:r>
            <a:endParaRPr lang="en-US" sz="2200" dirty="0"/>
          </a:p>
        </p:txBody>
      </p:sp>
      <p:sp>
        <p:nvSpPr>
          <p:cNvPr id="25" name="Text 23"/>
          <p:cNvSpPr/>
          <p:nvPr/>
        </p:nvSpPr>
        <p:spPr>
          <a:xfrm>
            <a:off x="2852928" y="5413248"/>
            <a:ext cx="8741664" cy="713232"/>
          </a:xfrm>
          <a:prstGeom prst="rect">
            <a:avLst/>
          </a:prstGeom>
          <a:noFill/>
          <a:ln/>
        </p:spPr>
        <p:txBody>
          <a:bodyPr wrap="square" lIns="0" tIns="0" rIns="0" bIns="0" rtlCol="0" anchor="t"/>
          <a:lstStyle/>
          <a:p>
            <a:pPr indent="0" marL="0">
              <a:buNone/>
            </a:pPr>
            <a:r>
              <a:rPr lang="en-US" sz="1800" dirty="0">
                <a:solidFill>
                  <a:srgbClr val="332E31"/>
                </a:solidFill>
                <a:latin typeface="Segoe UI" pitchFamily="34" charset="0"/>
                <a:ea typeface="Segoe UI" pitchFamily="34" charset="-122"/>
                <a:cs typeface="Segoe UI" pitchFamily="34" charset="-120"/>
              </a:rPr>
              <a:t>Rebuild the corresponding candidate; keep an old output as history, not as proof of new source.</a:t>
            </a:r>
            <a:endParaRPr lang="en-US" sz="1800" dirty="0"/>
          </a:p>
          <a:p>
            <a:pPr indent="0" marL="0">
              <a:buNone/>
            </a:pPr>
            <a:r>
              <a:rPr lang="en-US" sz="1800" dirty="0">
                <a:solidFill>
                  <a:srgbClr val="332E31"/>
                </a:solidFill>
                <a:latin typeface="Segoe UI" pitchFamily="34" charset="0"/>
                <a:ea typeface="Segoe UI" pitchFamily="34" charset="-122"/>
                <a:cs typeface="Segoe UI" pitchFamily="34" charset="-120"/>
              </a:rPr>
              <a:t>Video adds a separate plan, audio, and output identity chain.</a:t>
            </a:r>
            <a:endParaRPr lang="en-US" sz="1800" dirty="0"/>
          </a:p>
        </p:txBody>
      </p:sp>
      <p:sp>
        <p:nvSpPr>
          <p:cNvPr id="26" name="Text 24"/>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655B60"/>
                </a:solidFill>
                <a:latin typeface="Segoe UI" pitchFamily="34" charset="0"/>
                <a:ea typeface="Segoe UI" pitchFamily="34" charset="-122"/>
                <a:cs typeface="Segoe UI" pitchFamily="34" charset="-120"/>
              </a:rPr>
              <a:t>AHA  /  Dossier implementation · Artifact contract · Render receipts · Video plan</a:t>
            </a:r>
            <a:endParaRPr lang="en-US" sz="1100" dirty="0"/>
          </a:p>
        </p:txBody>
      </p:sp>
      <p:sp>
        <p:nvSpPr>
          <p:cNvPr id="27" name="Text 25"/>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655B60"/>
                </a:solidFill>
                <a:latin typeface="Segoe UI" pitchFamily="34" charset="0"/>
                <a:ea typeface="Segoe UI" pitchFamily="34" charset="-122"/>
                <a:cs typeface="Segoe UI" pitchFamily="34" charset="-120"/>
              </a:rPr>
              <a:t>03 / 09</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2E9"/>
        </a:solidFill>
      </p:bgPr>
    </p:bg>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03  /  MEDIA CHOICE</a:t>
            </a:r>
            <a:endParaRPr lang="en-US" sz="1100" dirty="0"/>
          </a:p>
        </p:txBody>
      </p:sp>
      <p:sp>
        <p:nvSpPr>
          <p:cNvPr id="3" name="Text 1"/>
          <p:cNvSpPr/>
          <p:nvPr/>
        </p:nvSpPr>
        <p:spPr>
          <a:xfrm>
            <a:off x="548640" y="841248"/>
            <a:ext cx="11018520" cy="658368"/>
          </a:xfrm>
          <a:prstGeom prst="rect">
            <a:avLst/>
          </a:prstGeom>
          <a:noFill/>
          <a:ln/>
        </p:spPr>
        <p:txBody>
          <a:bodyPr wrap="square" lIns="0" tIns="0" rIns="0" bIns="0" rtlCol="0" anchor="t"/>
          <a:lstStyle/>
          <a:p>
            <a:pPr indent="0" marL="0">
              <a:buNone/>
            </a:pPr>
            <a:r>
              <a:rPr lang="en-US" sz="3300" b="1" dirty="0">
                <a:solidFill>
                  <a:srgbClr val="6D2E46"/>
                </a:solidFill>
                <a:latin typeface="Segoe UI" pitchFamily="34" charset="0"/>
                <a:ea typeface="Segoe UI" pitchFamily="34" charset="-122"/>
                <a:cs typeface="Segoe UI" pitchFamily="34" charset="-120"/>
              </a:rPr>
              <a:t>Share the facts—not a fixed page layout</a:t>
            </a:r>
            <a:endParaRPr lang="en-US" sz="3300" dirty="0"/>
          </a:p>
        </p:txBody>
      </p:sp>
      <p:sp>
        <p:nvSpPr>
          <p:cNvPr id="4" name="Text 2"/>
          <p:cNvSpPr/>
          <p:nvPr/>
        </p:nvSpPr>
        <p:spPr>
          <a:xfrm>
            <a:off x="548640" y="1664208"/>
            <a:ext cx="10972800" cy="438912"/>
          </a:xfrm>
          <a:prstGeom prst="rect">
            <a:avLst/>
          </a:prstGeom>
          <a:noFill/>
          <a:ln/>
        </p:spPr>
        <p:txBody>
          <a:bodyPr wrap="square" lIns="0" tIns="0" rIns="0" bIns="0" rtlCol="0" anchor="t"/>
          <a:lstStyle/>
          <a:p>
            <a:pPr indent="0" marL="0">
              <a:buNone/>
            </a:pPr>
            <a:r>
              <a:rPr lang="en-US" sz="2000" dirty="0">
                <a:solidFill>
                  <a:srgbClr val="332E31"/>
                </a:solidFill>
                <a:latin typeface="Segoe UI" pitchFamily="34" charset="0"/>
                <a:ea typeface="Segoe UI" pitchFamily="34" charset="-122"/>
                <a:cs typeface="Segoe UI" pitchFamily="34" charset="-120"/>
              </a:rPr>
              <a:t>One project declares one format. Request several outputs only when each serves a different use.</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450592"/>
          <a:ext cx="11082528" cy="914400"/>
        </p:xfrm>
        <a:graphic>
          <a:graphicData uri="http://schemas.openxmlformats.org/drawingml/2006/table">
            <a:tbl>
              <a:tblPr/>
              <a:tblGrid>
                <a:gridCol w="1078992"/>
                <a:gridCol w="2788920"/>
                <a:gridCol w="3602736"/>
                <a:gridCol w="3611880"/>
              </a:tblGrid>
              <a:tr h="475488">
                <a:tc>
                  <a:txBody>
                    <a:bodyPr/>
                    <a:lstStyle/>
                    <a:p>
                      <a:pPr indent="0" marL="0">
                        <a:buNone/>
                      </a:pPr>
                      <a:r>
                        <a:rPr lang="en-US" sz="1600" b="1" dirty="0">
                          <a:solidFill>
                            <a:srgbClr val="F7F2E9"/>
                          </a:solidFill>
                          <a:latin typeface="Segoe UI" pitchFamily="34" charset="0"/>
                          <a:ea typeface="Segoe UI" pitchFamily="34" charset="-122"/>
                          <a:cs typeface="Segoe UI" pitchFamily="34" charset="-120"/>
                        </a:rPr>
                        <a:t>MEDIUM</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6D2E46"/>
                    </a:solidFill>
                  </a:tcPr>
                </a:tc>
                <a:tc>
                  <a:txBody>
                    <a:bodyPr/>
                    <a:lstStyle/>
                    <a:p>
                      <a:pPr indent="0" marL="0">
                        <a:buNone/>
                      </a:pPr>
                      <a:r>
                        <a:rPr lang="en-US" sz="1600" b="1" dirty="0">
                          <a:solidFill>
                            <a:srgbClr val="F7F2E9"/>
                          </a:solidFill>
                          <a:latin typeface="Segoe UI" pitchFamily="34" charset="0"/>
                          <a:ea typeface="Segoe UI" pitchFamily="34" charset="-122"/>
                          <a:cs typeface="Segoe UI" pitchFamily="34" charset="-120"/>
                        </a:rPr>
                        <a:t>READER’S SITUATION</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6D2E46"/>
                    </a:solidFill>
                  </a:tcPr>
                </a:tc>
                <a:tc>
                  <a:txBody>
                    <a:bodyPr/>
                    <a:lstStyle/>
                    <a:p>
                      <a:pPr indent="0" marL="0">
                        <a:buNone/>
                      </a:pPr>
                      <a:r>
                        <a:rPr lang="en-US" sz="1600" b="1" dirty="0">
                          <a:solidFill>
                            <a:srgbClr val="F7F2E9"/>
                          </a:solidFill>
                          <a:latin typeface="Segoe UI" pitchFamily="34" charset="0"/>
                          <a:ea typeface="Segoe UI" pitchFamily="34" charset="-122"/>
                          <a:cs typeface="Segoe UI" pitchFamily="34" charset="-120"/>
                        </a:rPr>
                        <a:t>WHAT THE AUTHOR BUILDS</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6D2E46"/>
                    </a:solidFill>
                  </a:tcPr>
                </a:tc>
                <a:tc>
                  <a:txBody>
                    <a:bodyPr/>
                    <a:lstStyle/>
                    <a:p>
                      <a:pPr indent="0" marL="0">
                        <a:buNone/>
                      </a:pPr>
                      <a:r>
                        <a:rPr lang="en-US" sz="1600" b="1" dirty="0">
                          <a:solidFill>
                            <a:srgbClr val="F7F2E9"/>
                          </a:solidFill>
                          <a:latin typeface="Segoe UI" pitchFamily="34" charset="0"/>
                          <a:ea typeface="Segoe UI" pitchFamily="34" charset="-122"/>
                          <a:cs typeface="Segoe UI" pitchFamily="34" charset="-120"/>
                        </a:rPr>
                        <a:t>WHAT NOT TO ASSUME</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6D2E46"/>
                    </a:solidFill>
                  </a:tcPr>
                </a:tc>
              </a:tr>
              <a:tr h="685800">
                <a:tc>
                  <a:txBody>
                    <a:bodyPr/>
                    <a:lstStyle/>
                    <a:p>
                      <a:pPr indent="0" marL="0">
                        <a:buNone/>
                      </a:pPr>
                      <a:r>
                        <a:rPr lang="en-US" sz="1600" b="1" dirty="0">
                          <a:solidFill>
                            <a:srgbClr val="6D2E46"/>
                          </a:solidFill>
                          <a:latin typeface="Segoe UI" pitchFamily="34" charset="0"/>
                          <a:ea typeface="Segoe UI" pitchFamily="34" charset="-122"/>
                          <a:cs typeface="Segoe UI" pitchFamily="34" charset="-120"/>
                        </a:rPr>
                        <a:t>HTML</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Explore at a chosen pace</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Rich text, SVG / Mermaid,</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and local interactions</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Packaging is not script execution</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or browser QA.</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r>
              <a:tr h="685800">
                <a:tc>
                  <a:txBody>
                    <a:bodyPr/>
                    <a:lstStyle/>
                    <a:p>
                      <a:pPr indent="0" marL="0">
                        <a:buNone/>
                      </a:pPr>
                      <a:r>
                        <a:rPr lang="en-US" sz="1600" b="1" dirty="0">
                          <a:solidFill>
                            <a:srgbClr val="6D2E46"/>
                          </a:solidFill>
                          <a:latin typeface="Segoe UI" pitchFamily="34" charset="0"/>
                          <a:ea typeface="Segoe UI" pitchFamily="34" charset="-122"/>
                          <a:cs typeface="Segoe UI" pitchFamily="34" charset="-120"/>
                        </a:rPr>
                        <a:t>PNG</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Scan a fixed-size visual</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A composition made for</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the capture viewport</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A shrunken long article is not</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a readable one-image explanation.</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r>
              <a:tr h="685800">
                <a:tc>
                  <a:txBody>
                    <a:bodyPr/>
                    <a:lstStyle/>
                    <a:p>
                      <a:pPr indent="0" marL="0">
                        <a:buNone/>
                      </a:pPr>
                      <a:r>
                        <a:rPr lang="en-US" sz="1600" b="1" dirty="0">
                          <a:solidFill>
                            <a:srgbClr val="6D2E46"/>
                          </a:solidFill>
                          <a:latin typeface="Segoe UI" pitchFamily="34" charset="0"/>
                          <a:ea typeface="Segoe UI" pitchFamily="34" charset="-122"/>
                          <a:cs typeface="Segoe UI" pitchFamily="34" charset="-120"/>
                        </a:rPr>
                        <a:t>PPTX</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Follow a sequence;</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edit the explanation</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Native text, shapes,</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tables, and charts</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Whole-slide screenshots are not</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native slide authoring.</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FFFCF6"/>
                    </a:solidFill>
                  </a:tcPr>
                </a:tc>
              </a:tr>
              <a:tr h="685800">
                <a:tc>
                  <a:txBody>
                    <a:bodyPr/>
                    <a:lstStyle/>
                    <a:p>
                      <a:pPr indent="0" marL="0">
                        <a:buNone/>
                      </a:pPr>
                      <a:r>
                        <a:rPr lang="en-US" sz="1600" b="1" dirty="0">
                          <a:solidFill>
                            <a:srgbClr val="6D2E46"/>
                          </a:solidFill>
                          <a:latin typeface="Segoe UI" pitchFamily="34" charset="0"/>
                          <a:ea typeface="Segoe UI" pitchFamily="34" charset="-122"/>
                          <a:cs typeface="Segoe UI" pitchFamily="34" charset="-120"/>
                        </a:rPr>
                        <a:t>Video</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See a mechanism change</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over time</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Frame-driven scenes aligned</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to actual audio; captions + SRT</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c>
                  <a:txBody>
                    <a:bodyPr/>
                    <a:lstStyle/>
                    <a:p>
                      <a:pPr indent="0" marL="0">
                        <a:buNone/>
                      </a:pPr>
                      <a:r>
                        <a:rPr lang="en-US" sz="1600" dirty="0">
                          <a:solidFill>
                            <a:srgbClr val="332E31"/>
                          </a:solidFill>
                          <a:latin typeface="Segoe UI" pitchFamily="34" charset="0"/>
                          <a:ea typeface="Segoe UI" pitchFamily="34" charset="-122"/>
                          <a:cs typeface="Segoe UI" pitchFamily="34" charset="-120"/>
                        </a:rPr>
                        <a:t>Encoding is not proof of</a:t>
                      </a:r>
                      <a:endParaRPr lang="en-US" sz="1600" dirty="0">
                        <a:latin typeface="Segoe UI" charset="0"/>
                        <a:ea typeface="Segoe UI" charset="0"/>
                        <a:cs typeface="Segoe UI" charset="0"/>
                      </a:endParaRPr>
                    </a:p>
                    <a:p>
                      <a:pPr indent="0" marL="0">
                        <a:buNone/>
                      </a:pPr>
                      <a:r>
                        <a:rPr lang="en-US" sz="1600" dirty="0">
                          <a:solidFill>
                            <a:srgbClr val="332E31"/>
                          </a:solidFill>
                          <a:latin typeface="Segoe UI" pitchFamily="34" charset="0"/>
                          <a:ea typeface="Segoe UI" pitchFamily="34" charset="-122"/>
                          <a:cs typeface="Segoe UI" pitchFamily="34" charset="-120"/>
                        </a:rPr>
                        <a:t>playback or listening quality.</a:t>
                      </a:r>
                      <a:endParaRPr lang="en-US" sz="1600" dirty="0">
                        <a:latin typeface="Segoe UI" charset="0"/>
                        <a:ea typeface="Segoe UI" charset="0"/>
                        <a:cs typeface="Segoe UI" charset="0"/>
                      </a:endParaRPr>
                    </a:p>
                  </a:txBody>
                  <a:tcPr marL="146304" marR="146304" marT="109728" marB="109728" anchor="mid">
                    <a:lnL w="25400" cap="flat" cmpd="sng" algn="ctr">
                      <a:solidFill>
                        <a:srgbClr val="F7F2E9"/>
                      </a:solidFill>
                      <a:prstDash val="solid"/>
                      <a:round/>
                      <a:headEnd type="none" w="med" len="med"/>
                      <a:tailEnd type="none" w="med" len="med"/>
                    </a:lnL>
                    <a:lnR w="25400" cap="flat" cmpd="sng" algn="ctr">
                      <a:solidFill>
                        <a:srgbClr val="F7F2E9"/>
                      </a:solidFill>
                      <a:prstDash val="solid"/>
                      <a:round/>
                      <a:headEnd type="none" w="med" len="med"/>
                      <a:tailEnd type="none" w="med" len="med"/>
                    </a:lnR>
                    <a:lnT w="25400" cap="flat" cmpd="sng" algn="ctr">
                      <a:solidFill>
                        <a:srgbClr val="F7F2E9"/>
                      </a:solidFill>
                      <a:prstDash val="solid"/>
                      <a:round/>
                      <a:headEnd type="none" w="med" len="med"/>
                      <a:tailEnd type="none" w="med" len="med"/>
                    </a:lnT>
                    <a:lnB w="25400" cap="flat" cmpd="sng" algn="ctr">
                      <a:solidFill>
                        <a:srgbClr val="F7F2E9"/>
                      </a:solidFill>
                      <a:prstDash val="solid"/>
                      <a:round/>
                      <a:headEnd type="none" w="med" len="med"/>
                      <a:tailEnd type="none" w="med" len="med"/>
                    </a:lnB>
                    <a:solidFill>
                      <a:srgbClr val="ECE2D0"/>
                    </a:solidFill>
                  </a:tcPr>
                </a:tc>
              </a:tr>
            </a:tbl>
          </a:graphicData>
        </a:graphic>
      </p:graphicFrame>
      <p:sp>
        <p:nvSpPr>
          <p:cNvPr id="6" name="Text 3"/>
          <p:cNvSpPr/>
          <p:nvPr/>
        </p:nvSpPr>
        <p:spPr>
          <a:xfrm>
            <a:off x="548640" y="5852160"/>
            <a:ext cx="10972800" cy="347472"/>
          </a:xfrm>
          <a:prstGeom prst="rect">
            <a:avLst/>
          </a:prstGeom>
          <a:noFill/>
          <a:ln/>
        </p:spPr>
        <p:txBody>
          <a:bodyPr wrap="square" lIns="0" tIns="0" rIns="0" bIns="0" rtlCol="0" anchor="t"/>
          <a:lstStyle/>
          <a:p>
            <a:pPr indent="0" marL="0">
              <a:buNone/>
            </a:pPr>
            <a:r>
              <a:rPr lang="en-US" sz="2200" b="1" dirty="0">
                <a:solidFill>
                  <a:srgbClr val="6D2E46"/>
                </a:solidFill>
                <a:latin typeface="Segoe UI" pitchFamily="34" charset="0"/>
                <a:ea typeface="Segoe UI" pitchFamily="34" charset="-122"/>
                <a:cs typeface="Segoe UI" pitchFamily="34" charset="-120"/>
              </a:rPr>
              <a:t>Re-authoring preserves the explanation’s logic while changing its reading path.</a:t>
            </a:r>
            <a:endParaRPr lang="en-US" sz="2200" dirty="0"/>
          </a:p>
        </p:txBody>
      </p:sp>
      <p:sp>
        <p:nvSpPr>
          <p:cNvPr id="7" name="Text 4"/>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655B60"/>
                </a:solidFill>
                <a:latin typeface="Segoe UI" pitchFamily="34" charset="0"/>
                <a:ea typeface="Segoe UI" pitchFamily="34" charset="-122"/>
                <a:cs typeface="Segoe UI" pitchFamily="34" charset="-120"/>
              </a:rPr>
              <a:t>AHA  /  README · Architecture · Artifact project contract</a:t>
            </a:r>
            <a:endParaRPr lang="en-US" sz="1100" dirty="0"/>
          </a:p>
        </p:txBody>
      </p:sp>
      <p:sp>
        <p:nvSpPr>
          <p:cNvPr id="8" name="Text 5"/>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655B60"/>
                </a:solidFill>
                <a:latin typeface="Segoe UI" pitchFamily="34" charset="0"/>
                <a:ea typeface="Segoe UI" pitchFamily="34" charset="-122"/>
                <a:cs typeface="Segoe UI" pitchFamily="34" charset="-120"/>
              </a:rPr>
              <a:t>04 / 09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9"/>
        </a:solidFill>
      </p:bgPr>
    </p:bg>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04  /  ACTUAL EXAMPLES</a:t>
            </a:r>
            <a:endParaRPr lang="en-US" sz="1100" dirty="0"/>
          </a:p>
        </p:txBody>
      </p:sp>
      <p:sp>
        <p:nvSpPr>
          <p:cNvPr id="3" name="Text 1"/>
          <p:cNvSpPr/>
          <p:nvPr/>
        </p:nvSpPr>
        <p:spPr>
          <a:xfrm>
            <a:off x="548640" y="841248"/>
            <a:ext cx="11018520" cy="658368"/>
          </a:xfrm>
          <a:prstGeom prst="rect">
            <a:avLst/>
          </a:prstGeom>
          <a:noFill/>
          <a:ln/>
        </p:spPr>
        <p:txBody>
          <a:bodyPr wrap="square" lIns="0" tIns="0" rIns="0" bIns="0" rtlCol="0" anchor="t"/>
          <a:lstStyle/>
          <a:p>
            <a:pPr indent="0" marL="0">
              <a:buNone/>
            </a:pPr>
            <a:r>
              <a:rPr lang="en-US" sz="3300" b="1" dirty="0">
                <a:solidFill>
                  <a:srgbClr val="6D2E46"/>
                </a:solidFill>
                <a:latin typeface="Segoe UI" pitchFamily="34" charset="0"/>
                <a:ea typeface="Segoe UI" pitchFamily="34" charset="-122"/>
                <a:cs typeface="Segoe UI" pitchFamily="34" charset="-120"/>
              </a:rPr>
              <a:t>One project: an exploratory page and a composed poster</a:t>
            </a:r>
            <a:endParaRPr lang="en-US" sz="3300" dirty="0"/>
          </a:p>
        </p:txBody>
      </p:sp>
      <p:sp>
        <p:nvSpPr>
          <p:cNvPr id="4" name="Text 2"/>
          <p:cNvSpPr/>
          <p:nvPr/>
        </p:nvSpPr>
        <p:spPr>
          <a:xfrm>
            <a:off x="548640" y="1645920"/>
            <a:ext cx="10972800" cy="438912"/>
          </a:xfrm>
          <a:prstGeom prst="rect">
            <a:avLst/>
          </a:prstGeom>
          <a:noFill/>
          <a:ln/>
        </p:spPr>
        <p:txBody>
          <a:bodyPr wrap="square" lIns="0" tIns="0" rIns="0" bIns="0" rtlCol="0" anchor="t"/>
          <a:lstStyle/>
          <a:p>
            <a:pPr indent="0" marL="0">
              <a:buNone/>
            </a:pPr>
            <a:r>
              <a:rPr lang="en-US" sz="2000" dirty="0">
                <a:solidFill>
                  <a:srgbClr val="332E31"/>
                </a:solidFill>
                <a:latin typeface="Segoe UI" pitchFamily="34" charset="0"/>
                <a:ea typeface="Segoe UI" pitchFamily="34" charset="-122"/>
                <a:cs typeface="Segoe UI" pitchFamily="34" charset="-120"/>
              </a:rPr>
              <a:t>These are the companion artifacts made from this same research—not generic format icons.</a:t>
            </a:r>
            <a:endParaRPr lang="en-US" sz="2000" dirty="0"/>
          </a:p>
        </p:txBody>
      </p:sp>
      <p:sp>
        <p:nvSpPr>
          <p:cNvPr id="5" name="Text 3"/>
          <p:cNvSpPr/>
          <p:nvPr/>
        </p:nvSpPr>
        <p:spPr>
          <a:xfrm>
            <a:off x="548640" y="2258568"/>
            <a:ext cx="713232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HTML  /  CHOOSE A FORMAT</a:t>
            </a:r>
            <a:endParaRPr lang="en-US" sz="1100" dirty="0"/>
          </a:p>
        </p:txBody>
      </p:sp>
      <p:pic>
        <p:nvPicPr>
          <p:cNvPr id="6" name="Image 0" descr="Actual HTML section showing four format selectors and an explanation of HTML authoring.">    </p:cNvPr>
          <p:cNvPicPr>
            <a:picLocks noChangeAspect="1"/>
          </p:cNvPicPr>
          <p:nvPr/>
        </p:nvPicPr>
        <p:blipFill>
          <a:blip r:embed="rId1"/>
          <a:stretch>
            <a:fillRect/>
          </a:stretch>
        </p:blipFill>
        <p:spPr>
          <a:xfrm>
            <a:off x="548640" y="2560320"/>
            <a:ext cx="7178040" cy="3209160"/>
          </a:xfrm>
          <a:prstGeom prst="rect">
            <a:avLst/>
          </a:prstGeom>
        </p:spPr>
      </p:pic>
      <p:sp>
        <p:nvSpPr>
          <p:cNvPr id="7" name="Text 4"/>
          <p:cNvSpPr/>
          <p:nvPr/>
        </p:nvSpPr>
        <p:spPr>
          <a:xfrm>
            <a:off x="548640" y="5870448"/>
            <a:ext cx="7178040" cy="274320"/>
          </a:xfrm>
          <a:prstGeom prst="rect">
            <a:avLst/>
          </a:prstGeom>
          <a:noFill/>
          <a:ln/>
        </p:spPr>
        <p:txBody>
          <a:bodyPr wrap="square" lIns="0" tIns="0" rIns="0" bIns="0" rtlCol="0" anchor="t"/>
          <a:lstStyle/>
          <a:p>
            <a:pPr indent="0" marL="0">
              <a:buNone/>
            </a:pPr>
            <a:r>
              <a:rPr lang="en-US" sz="1600" dirty="0">
                <a:solidFill>
                  <a:srgbClr val="332E31"/>
                </a:solidFill>
                <a:latin typeface="Segoe UI" pitchFamily="34" charset="0"/>
                <a:ea typeface="Segoe UI" pitchFamily="34" charset="-122"/>
                <a:cs typeface="Segoe UI" pitchFamily="34" charset="-120"/>
              </a:rPr>
              <a:t>Offline controls; English / Chinese. Open the HTML to interact.</a:t>
            </a:r>
            <a:endParaRPr lang="en-US" sz="1600" dirty="0"/>
          </a:p>
        </p:txBody>
      </p:sp>
      <p:sp>
        <p:nvSpPr>
          <p:cNvPr id="8" name="Text 5"/>
          <p:cNvSpPr/>
          <p:nvPr/>
        </p:nvSpPr>
        <p:spPr>
          <a:xfrm>
            <a:off x="8156448" y="2258568"/>
            <a:ext cx="347472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PNG  /  READ THE WHOLE PATH</a:t>
            </a:r>
            <a:endParaRPr lang="en-US" sz="1100" dirty="0"/>
          </a:p>
        </p:txBody>
      </p:sp>
      <p:pic>
        <p:nvPicPr>
          <p:cNvPr id="9" name="Image 1" descr="Actual portrait infographic, shown as a thumbnail; open the companion PNG to read it at full size.">    </p:cNvPr>
          <p:cNvPicPr>
            <a:picLocks noChangeAspect="1"/>
          </p:cNvPicPr>
          <p:nvPr/>
        </p:nvPicPr>
        <p:blipFill>
          <a:blip r:embed="rId2"/>
          <a:stretch>
            <a:fillRect/>
          </a:stretch>
        </p:blipFill>
        <p:spPr>
          <a:xfrm>
            <a:off x="8714232" y="2651760"/>
            <a:ext cx="1783080" cy="2971800"/>
          </a:xfrm>
          <a:prstGeom prst="rect">
            <a:avLst/>
          </a:prstGeom>
        </p:spPr>
      </p:pic>
      <p:sp>
        <p:nvSpPr>
          <p:cNvPr id="10" name="Text 6"/>
          <p:cNvSpPr/>
          <p:nvPr/>
        </p:nvSpPr>
        <p:spPr>
          <a:xfrm>
            <a:off x="8156448" y="5669280"/>
            <a:ext cx="3474720" cy="457200"/>
          </a:xfrm>
          <a:prstGeom prst="rect">
            <a:avLst/>
          </a:prstGeom>
          <a:noFill/>
          <a:ln/>
        </p:spPr>
        <p:txBody>
          <a:bodyPr wrap="square" lIns="0" tIns="0" rIns="0" bIns="0" rtlCol="0" anchor="t"/>
          <a:lstStyle/>
          <a:p>
            <a:pPr indent="0" marL="0">
              <a:buNone/>
            </a:pPr>
            <a:r>
              <a:rPr lang="en-US" sz="1400" dirty="0">
                <a:solidFill>
                  <a:srgbClr val="655B60"/>
                </a:solidFill>
                <a:latin typeface="Segoe UI" pitchFamily="34" charset="0"/>
                <a:ea typeface="Segoe UI" pitchFamily="34" charset="-122"/>
                <a:cs typeface="Segoe UI" pitchFamily="34" charset="-120"/>
              </a:rPr>
              <a:t>A purpose-built 1080 × 1800 composition.</a:t>
            </a:r>
            <a:endParaRPr lang="en-US" sz="1400" dirty="0"/>
          </a:p>
          <a:p>
            <a:pPr indent="0" marL="0">
              <a:buNone/>
            </a:pPr>
            <a:r>
              <a:rPr lang="en-US" sz="1400" dirty="0">
                <a:solidFill>
                  <a:srgbClr val="655B60"/>
                </a:solidFill>
                <a:latin typeface="Segoe UI" pitchFamily="34" charset="0"/>
                <a:ea typeface="Segoe UI" pitchFamily="34" charset="-122"/>
                <a:cs typeface="Segoe UI" pitchFamily="34" charset="-120"/>
              </a:rPr>
              <a:t>Thumbnail here; full size in the example.</a:t>
            </a:r>
            <a:endParaRPr lang="en-US" sz="1400" dirty="0"/>
          </a:p>
        </p:txBody>
      </p:sp>
      <p:sp>
        <p:nvSpPr>
          <p:cNvPr id="11" name="Text 7"/>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655B60"/>
                </a:solidFill>
                <a:latin typeface="Segoe UI" pitchFamily="34" charset="0"/>
                <a:ea typeface="Segoe UI" pitchFamily="34" charset="-122"/>
                <a:cs typeface="Segoe UI" pitchFamily="34" charset="-120"/>
              </a:rPr>
              <a:t>AHA  /  Actual companion HTML and PNG · shared research, separately designed layouts</a:t>
            </a:r>
            <a:endParaRPr lang="en-US" sz="1100" dirty="0"/>
          </a:p>
        </p:txBody>
      </p:sp>
      <p:sp>
        <p:nvSpPr>
          <p:cNvPr id="12" name="Text 8"/>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655B60"/>
                </a:solidFill>
                <a:latin typeface="Segoe UI" pitchFamily="34" charset="0"/>
                <a:ea typeface="Segoe UI" pitchFamily="34" charset="-122"/>
                <a:cs typeface="Segoe UI" pitchFamily="34" charset="-120"/>
              </a:rPr>
              <a:t>05 / 09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E9"/>
        </a:solidFill>
      </p:bgPr>
    </p:bg>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05  /  PPTX + VIDEO IN ACTION</a:t>
            </a:r>
            <a:endParaRPr lang="en-US" sz="1100" dirty="0"/>
          </a:p>
        </p:txBody>
      </p:sp>
      <p:sp>
        <p:nvSpPr>
          <p:cNvPr id="3" name="Text 1"/>
          <p:cNvSpPr/>
          <p:nvPr/>
        </p:nvSpPr>
        <p:spPr>
          <a:xfrm>
            <a:off x="548640" y="841248"/>
            <a:ext cx="11018520" cy="658368"/>
          </a:xfrm>
          <a:prstGeom prst="rect">
            <a:avLst/>
          </a:prstGeom>
          <a:noFill/>
          <a:ln/>
        </p:spPr>
        <p:txBody>
          <a:bodyPr wrap="square" lIns="0" tIns="0" rIns="0" bIns="0" rtlCol="0" anchor="t"/>
          <a:lstStyle/>
          <a:p>
            <a:pPr indent="0" marL="0">
              <a:buNone/>
            </a:pPr>
            <a:r>
              <a:rPr lang="en-US" sz="3300" b="1" dirty="0">
                <a:solidFill>
                  <a:srgbClr val="6D2E46"/>
                </a:solidFill>
                <a:latin typeface="Segoe UI" pitchFamily="34" charset="0"/>
                <a:ea typeface="Segoe UI" pitchFamily="34" charset="-122"/>
                <a:cs typeface="Segoe UI" pitchFamily="34" charset="-120"/>
              </a:rPr>
              <a:t>Watch a source revision change, then an approval gate open</a:t>
            </a:r>
            <a:endParaRPr lang="en-US" sz="3300" dirty="0"/>
          </a:p>
        </p:txBody>
      </p:sp>
      <p:pic>
        <p:nvPicPr>
          <p:cNvPr id="4" name="Image 0" descr="Animated eight-second loop: source revision A becomes B and the output is rebuilt; then approved narration passes a gate.">    </p:cNvPr>
          <p:cNvPicPr>
            <a:picLocks noChangeAspect="1"/>
          </p:cNvPicPr>
          <p:nvPr/>
        </p:nvPicPr>
        <p:blipFill>
          <a:blip r:embed="rId1"/>
          <a:stretch>
            <a:fillRect/>
          </a:stretch>
        </p:blipFill>
        <p:spPr>
          <a:xfrm>
            <a:off x="548640" y="1856232"/>
            <a:ext cx="7406640" cy="4169664"/>
          </a:xfrm>
          <a:prstGeom prst="rect">
            <a:avLst/>
          </a:prstGeom>
        </p:spPr>
      </p:pic>
      <p:sp>
        <p:nvSpPr>
          <p:cNvPr id="5" name="Text 2"/>
          <p:cNvSpPr/>
          <p:nvPr/>
        </p:nvSpPr>
        <p:spPr>
          <a:xfrm>
            <a:off x="8266176" y="1892808"/>
            <a:ext cx="3364992"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THE PPTX EXAMPLE IS THIS SLIDE</a:t>
            </a:r>
            <a:endParaRPr lang="en-US" sz="1100" dirty="0"/>
          </a:p>
        </p:txBody>
      </p:sp>
      <p:sp>
        <p:nvSpPr>
          <p:cNvPr id="6" name="Text 3"/>
          <p:cNvSpPr/>
          <p:nvPr/>
        </p:nvSpPr>
        <p:spPr>
          <a:xfrm>
            <a:off x="8266176" y="2304288"/>
            <a:ext cx="3273552" cy="859536"/>
          </a:xfrm>
          <a:prstGeom prst="rect">
            <a:avLst/>
          </a:prstGeom>
          <a:noFill/>
          <a:ln/>
        </p:spPr>
        <p:txBody>
          <a:bodyPr wrap="square" lIns="0" tIns="0" rIns="0" bIns="0" rtlCol="0" anchor="t"/>
          <a:lstStyle/>
          <a:p>
            <a:pPr indent="0" marL="0">
              <a:buNone/>
            </a:pPr>
            <a:r>
              <a:rPr lang="en-US" sz="2300" b="1" dirty="0">
                <a:solidFill>
                  <a:srgbClr val="6D2E46"/>
                </a:solidFill>
                <a:latin typeface="Segoe UI" pitchFamily="34" charset="0"/>
                <a:ea typeface="Segoe UI" pitchFamily="34" charset="-122"/>
                <a:cs typeface="Segoe UI" pitchFamily="34" charset="-120"/>
              </a:rPr>
              <a:t>Native text stays editable.</a:t>
            </a:r>
            <a:endParaRPr lang="en-US" sz="2300" dirty="0"/>
          </a:p>
          <a:p>
            <a:pPr indent="0" marL="0">
              <a:buNone/>
            </a:pPr>
            <a:r>
              <a:rPr lang="en-US" sz="2300" b="1" dirty="0">
                <a:solidFill>
                  <a:srgbClr val="6D2E46"/>
                </a:solidFill>
                <a:latin typeface="Segoe UI" pitchFamily="34" charset="0"/>
                <a:ea typeface="Segoe UI" pitchFamily="34" charset="-122"/>
                <a:cs typeface="Segoe UI" pitchFamily="34" charset="-120"/>
              </a:rPr>
              <a:t>The motion is an embedded GIF.</a:t>
            </a:r>
            <a:endParaRPr lang="en-US" sz="2300" dirty="0"/>
          </a:p>
        </p:txBody>
      </p:sp>
      <p:sp>
        <p:nvSpPr>
          <p:cNvPr id="7" name="Text 4"/>
          <p:cNvSpPr/>
          <p:nvPr/>
        </p:nvSpPr>
        <p:spPr>
          <a:xfrm>
            <a:off x="8266176" y="3493008"/>
            <a:ext cx="3273552" cy="877824"/>
          </a:xfrm>
          <a:prstGeom prst="rect">
            <a:avLst/>
          </a:prstGeom>
          <a:noFill/>
          <a:ln/>
        </p:spPr>
        <p:txBody>
          <a:bodyPr wrap="square" lIns="0" tIns="0" rIns="0" bIns="0" rtlCol="0" anchor="t"/>
          <a:lstStyle/>
          <a:p>
            <a:pPr indent="0" marL="0">
              <a:buNone/>
            </a:pPr>
            <a:r>
              <a:rPr lang="en-US" sz="1900" dirty="0">
                <a:solidFill>
                  <a:srgbClr val="332E31"/>
                </a:solidFill>
                <a:latin typeface="Segoe UI" pitchFamily="34" charset="0"/>
                <a:ea typeface="Segoe UI" pitchFamily="34" charset="-122"/>
                <a:cs typeface="Segoe UI" pitchFamily="34" charset="-120"/>
              </a:rPr>
              <a:t>Play in a slideshow to see the loop. A static preview may show only its first frame.</a:t>
            </a:r>
            <a:endParaRPr lang="en-US" sz="1900" dirty="0"/>
          </a:p>
        </p:txBody>
      </p:sp>
      <p:sp>
        <p:nvSpPr>
          <p:cNvPr id="8" name="Text 5"/>
          <p:cNvSpPr/>
          <p:nvPr/>
        </p:nvSpPr>
        <p:spPr>
          <a:xfrm>
            <a:off x="8266176" y="4617720"/>
            <a:ext cx="3273552" cy="1225296"/>
          </a:xfrm>
          <a:prstGeom prst="rect">
            <a:avLst/>
          </a:prstGeom>
          <a:noFill/>
          <a:ln/>
        </p:spPr>
        <p:txBody>
          <a:bodyPr wrap="square" lIns="0" tIns="0" rIns="0" bIns="0" rtlCol="0" anchor="t"/>
          <a:lstStyle/>
          <a:p>
            <a:pPr indent="0" marL="0">
              <a:buNone/>
            </a:pPr>
            <a:r>
              <a:rPr lang="en-US" sz="1700" dirty="0">
                <a:solidFill>
                  <a:srgbClr val="655B60"/>
                </a:solidFill>
                <a:latin typeface="Segoe UI" pitchFamily="34" charset="0"/>
                <a:ea typeface="Segoe UI" pitchFamily="34" charset="-122"/>
                <a:cs typeface="Segoe UI" pitchFamily="34" charset="-120"/>
              </a:rPr>
              <a:t>Video source supplies both scenes. The final narrated video uses measured speech timing—not this silent preview’s four seconds per scene.</a:t>
            </a:r>
            <a:endParaRPr lang="en-US" sz="1700" dirty="0"/>
          </a:p>
        </p:txBody>
      </p:sp>
      <p:sp>
        <p:nvSpPr>
          <p:cNvPr id="9" name="Text 6"/>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655B60"/>
                </a:solidFill>
                <a:latin typeface="Segoe UI" pitchFamily="34" charset="0"/>
                <a:ea typeface="Segoe UI" pitchFamily="34" charset="-122"/>
                <a:cs typeface="Segoe UI" pitchFamily="34" charset="-120"/>
              </a:rPr>
              <a:t>AHA  /  Actual frame-driven scenes · silent 8 s preview · not an embedded narrated MP4</a:t>
            </a:r>
            <a:endParaRPr lang="en-US" sz="1100" dirty="0"/>
          </a:p>
        </p:txBody>
      </p:sp>
      <p:sp>
        <p:nvSpPr>
          <p:cNvPr id="10" name="Text 7"/>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655B60"/>
                </a:solidFill>
                <a:latin typeface="Segoe UI" pitchFamily="34" charset="0"/>
                <a:ea typeface="Segoe UI" pitchFamily="34" charset="-122"/>
                <a:cs typeface="Segoe UI" pitchFamily="34" charset="-120"/>
              </a:rPr>
              <a:t>06 / 09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2E9"/>
        </a:solidFill>
      </p:bgPr>
    </p:bg>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06  /  PERMISSION BOUNDARIES</a:t>
            </a:r>
            <a:endParaRPr lang="en-US" sz="1100" dirty="0"/>
          </a:p>
        </p:txBody>
      </p:sp>
      <p:sp>
        <p:nvSpPr>
          <p:cNvPr id="3" name="Text 1"/>
          <p:cNvSpPr/>
          <p:nvPr/>
        </p:nvSpPr>
        <p:spPr>
          <a:xfrm>
            <a:off x="548640" y="841248"/>
            <a:ext cx="11018520" cy="658368"/>
          </a:xfrm>
          <a:prstGeom prst="rect">
            <a:avLst/>
          </a:prstGeom>
          <a:noFill/>
          <a:ln/>
        </p:spPr>
        <p:txBody>
          <a:bodyPr wrap="square" lIns="0" tIns="0" rIns="0" bIns="0" rtlCol="0" anchor="t"/>
          <a:lstStyle/>
          <a:p>
            <a:pPr indent="0" marL="0">
              <a:buNone/>
            </a:pPr>
            <a:r>
              <a:rPr lang="en-US" sz="3300" b="1" dirty="0">
                <a:solidFill>
                  <a:srgbClr val="6D2E46"/>
                </a:solidFill>
                <a:latin typeface="Segoe UI" pitchFamily="34" charset="0"/>
                <a:ea typeface="Segoe UI" pitchFamily="34" charset="-122"/>
                <a:cs typeface="Segoe UI" pitchFamily="34" charset="-120"/>
              </a:rPr>
              <a:t>Separate local execution from online narration</a:t>
            </a:r>
            <a:endParaRPr lang="en-US" sz="3300" dirty="0"/>
          </a:p>
        </p:txBody>
      </p:sp>
      <p:sp>
        <p:nvSpPr>
          <p:cNvPr id="4" name="Text 2"/>
          <p:cNvSpPr/>
          <p:nvPr/>
        </p:nvSpPr>
        <p:spPr>
          <a:xfrm>
            <a:off x="548640" y="1664208"/>
            <a:ext cx="10972800" cy="438912"/>
          </a:xfrm>
          <a:prstGeom prst="rect">
            <a:avLst/>
          </a:prstGeom>
          <a:noFill/>
          <a:ln/>
        </p:spPr>
        <p:txBody>
          <a:bodyPr wrap="square" lIns="0" tIns="0" rIns="0" bIns="0" rtlCol="0" anchor="t"/>
          <a:lstStyle/>
          <a:p>
            <a:pPr indent="0" marL="0">
              <a:buNone/>
            </a:pPr>
            <a:r>
              <a:rPr lang="en-US" sz="2000" dirty="0">
                <a:solidFill>
                  <a:srgbClr val="332E31"/>
                </a:solidFill>
                <a:latin typeface="Segoe UI" pitchFamily="34" charset="0"/>
                <a:ea typeface="Segoe UI" pitchFamily="34" charset="-122"/>
                <a:cs typeface="Segoe UI" pitchFamily="34" charset="-120"/>
              </a:rPr>
              <a:t>A request for a visual artifact does not authorize arbitrary code or external speech services.</a:t>
            </a:r>
            <a:endParaRPr lang="en-US" sz="2000" dirty="0"/>
          </a:p>
        </p:txBody>
      </p:sp>
      <p:sp>
        <p:nvSpPr>
          <p:cNvPr id="5" name="Shape 3"/>
          <p:cNvSpPr/>
          <p:nvPr/>
        </p:nvSpPr>
        <p:spPr>
          <a:xfrm>
            <a:off x="548640" y="2386584"/>
            <a:ext cx="5394960" cy="2971800"/>
          </a:xfrm>
          <a:prstGeom prst="rect">
            <a:avLst/>
          </a:prstGeom>
          <a:solidFill>
            <a:srgbClr val="FFFCF6"/>
          </a:solidFill>
          <a:ln w="8890">
            <a:solidFill>
              <a:srgbClr val="FFFCF6"/>
            </a:solidFill>
            <a:prstDash val="solid"/>
          </a:ln>
        </p:spPr>
      </p:sp>
      <p:sp>
        <p:nvSpPr>
          <p:cNvPr id="6" name="Shape 4"/>
          <p:cNvSpPr/>
          <p:nvPr/>
        </p:nvSpPr>
        <p:spPr>
          <a:xfrm>
            <a:off x="6236208" y="2386584"/>
            <a:ext cx="5394960" cy="2971800"/>
          </a:xfrm>
          <a:prstGeom prst="rect">
            <a:avLst/>
          </a:prstGeom>
          <a:solidFill>
            <a:srgbClr val="6D2E46"/>
          </a:solidFill>
          <a:ln w="8890">
            <a:solidFill>
              <a:srgbClr val="6D2E46"/>
            </a:solidFill>
            <a:prstDash val="solid"/>
          </a:ln>
        </p:spPr>
      </p:sp>
      <p:sp>
        <p:nvSpPr>
          <p:cNvPr id="7" name="Text 5"/>
          <p:cNvSpPr/>
          <p:nvPr/>
        </p:nvSpPr>
        <p:spPr>
          <a:xfrm>
            <a:off x="822960" y="2670048"/>
            <a:ext cx="475488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LOCAL EXECUTION  /  NOT A SANDBOX</a:t>
            </a:r>
            <a:endParaRPr lang="en-US" sz="1100" dirty="0"/>
          </a:p>
        </p:txBody>
      </p:sp>
      <p:sp>
        <p:nvSpPr>
          <p:cNvPr id="8" name="Text 6"/>
          <p:cNvSpPr/>
          <p:nvPr/>
        </p:nvSpPr>
        <p:spPr>
          <a:xfrm>
            <a:off x="822960" y="3118104"/>
            <a:ext cx="4718304" cy="795528"/>
          </a:xfrm>
          <a:prstGeom prst="rect">
            <a:avLst/>
          </a:prstGeom>
          <a:noFill/>
          <a:ln/>
        </p:spPr>
        <p:txBody>
          <a:bodyPr wrap="square" lIns="0" tIns="0" rIns="0" bIns="0" rtlCol="0" anchor="t"/>
          <a:lstStyle/>
          <a:p>
            <a:pPr indent="0" marL="0">
              <a:buNone/>
            </a:pPr>
            <a:r>
              <a:rPr lang="en-US" sz="2600" b="1" dirty="0">
                <a:solidFill>
                  <a:srgbClr val="6D2E46"/>
                </a:solidFill>
                <a:latin typeface="Segoe UI" pitchFamily="34" charset="0"/>
                <a:ea typeface="Segoe UI" pitchFamily="34" charset="-122"/>
                <a:cs typeface="Segoe UI" pitchFamily="34" charset="-120"/>
              </a:rPr>
              <a:t>Review the source,</a:t>
            </a:r>
            <a:endParaRPr lang="en-US" sz="2600" dirty="0"/>
          </a:p>
          <a:p>
            <a:pPr indent="0" marL="0">
              <a:buNone/>
            </a:pPr>
            <a:r>
              <a:rPr lang="en-US" sz="2600" b="1" dirty="0">
                <a:solidFill>
                  <a:srgbClr val="6D2E46"/>
                </a:solidFill>
                <a:latin typeface="Segoe UI" pitchFamily="34" charset="0"/>
                <a:ea typeface="Segoe UI" pitchFamily="34" charset="-122"/>
                <a:cs typeface="Segoe UI" pitchFamily="34" charset="-120"/>
              </a:rPr>
              <a:t>then approve execution.</a:t>
            </a:r>
            <a:endParaRPr lang="en-US" sz="2600" dirty="0"/>
          </a:p>
        </p:txBody>
      </p:sp>
      <p:sp>
        <p:nvSpPr>
          <p:cNvPr id="9" name="Text 7"/>
          <p:cNvSpPr/>
          <p:nvPr/>
        </p:nvSpPr>
        <p:spPr>
          <a:xfrm>
            <a:off x="822960" y="4233672"/>
            <a:ext cx="4681728" cy="896112"/>
          </a:xfrm>
          <a:prstGeom prst="rect">
            <a:avLst/>
          </a:prstGeom>
          <a:noFill/>
          <a:ln/>
        </p:spPr>
        <p:txBody>
          <a:bodyPr wrap="square" lIns="0" tIns="0" rIns="0" bIns="0" rtlCol="0" anchor="t"/>
          <a:lstStyle/>
          <a:p>
            <a:pPr indent="0" marL="0">
              <a:buNone/>
            </a:pPr>
            <a:r>
              <a:rPr lang="en-US" sz="1800" dirty="0">
                <a:solidFill>
                  <a:srgbClr val="332E31"/>
                </a:solidFill>
                <a:latin typeface="Segoe UI" pitchFamily="34" charset="0"/>
                <a:ea typeface="Segoe UI" pitchFamily="34" charset="-122"/>
                <a:cs typeface="Segoe UI" pitchFamily="34" charset="-120"/>
              </a:rPr>
              <a:t>Browser rendering and the PPTX author module run code. Node has host privileges; a flag or timeout is not an OS sandbox.</a:t>
            </a:r>
            <a:endParaRPr lang="en-US" sz="1800" dirty="0"/>
          </a:p>
        </p:txBody>
      </p:sp>
      <p:sp>
        <p:nvSpPr>
          <p:cNvPr id="10" name="Text 8"/>
          <p:cNvSpPr/>
          <p:nvPr/>
        </p:nvSpPr>
        <p:spPr>
          <a:xfrm>
            <a:off x="6510528" y="2670048"/>
            <a:ext cx="4754880" cy="256032"/>
          </a:xfrm>
          <a:prstGeom prst="rect">
            <a:avLst/>
          </a:prstGeom>
          <a:noFill/>
          <a:ln/>
        </p:spPr>
        <p:txBody>
          <a:bodyPr wrap="square" lIns="0" tIns="0" rIns="0" bIns="0" rtlCol="0" anchor="t"/>
          <a:lstStyle/>
          <a:p>
            <a:pPr indent="0" marL="0">
              <a:buNone/>
            </a:pPr>
            <a:r>
              <a:rPr lang="en-US" sz="1100" b="1" spc="150" kern="0" dirty="0">
                <a:solidFill>
                  <a:srgbClr val="EACBD5"/>
                </a:solidFill>
                <a:latin typeface="Segoe UI" pitchFamily="34" charset="0"/>
                <a:ea typeface="Segoe UI" pitchFamily="34" charset="-122"/>
                <a:cs typeface="Segoe UI" pitchFamily="34" charset="-120"/>
              </a:rPr>
              <a:t>EXTERNAL VOICE  /  EXACT-PLAN APPROVAL</a:t>
            </a:r>
            <a:endParaRPr lang="en-US" sz="1100" dirty="0"/>
          </a:p>
        </p:txBody>
      </p:sp>
      <p:sp>
        <p:nvSpPr>
          <p:cNvPr id="11" name="Text 9"/>
          <p:cNvSpPr/>
          <p:nvPr/>
        </p:nvSpPr>
        <p:spPr>
          <a:xfrm>
            <a:off x="6510528" y="3118104"/>
            <a:ext cx="4718304" cy="795528"/>
          </a:xfrm>
          <a:prstGeom prst="rect">
            <a:avLst/>
          </a:prstGeom>
          <a:noFill/>
          <a:ln/>
        </p:spPr>
        <p:txBody>
          <a:bodyPr wrap="square" lIns="0" tIns="0" rIns="0" bIns="0" rtlCol="0" anchor="t"/>
          <a:lstStyle/>
          <a:p>
            <a:pPr indent="0" marL="0">
              <a:buNone/>
            </a:pPr>
            <a:r>
              <a:rPr lang="en-US" sz="2600" b="1" dirty="0">
                <a:solidFill>
                  <a:srgbClr val="F7F2E9"/>
                </a:solidFill>
                <a:latin typeface="Segoe UI" pitchFamily="34" charset="0"/>
                <a:ea typeface="Segoe UI" pitchFamily="34" charset="-122"/>
                <a:cs typeface="Segoe UI" pitchFamily="34" charset="-120"/>
              </a:rPr>
              <a:t>Approve the exact plan</a:t>
            </a:r>
            <a:endParaRPr lang="en-US" sz="2600" dirty="0"/>
          </a:p>
          <a:p>
            <a:pPr indent="0" marL="0">
              <a:buNone/>
            </a:pPr>
            <a:r>
              <a:rPr lang="en-US" sz="2600" b="1" dirty="0">
                <a:solidFill>
                  <a:srgbClr val="F7F2E9"/>
                </a:solidFill>
                <a:latin typeface="Segoe UI" pitchFamily="34" charset="0"/>
                <a:ea typeface="Segoe UI" pitchFamily="34" charset="-122"/>
                <a:cs typeface="Segoe UI" pitchFamily="34" charset="-120"/>
              </a:rPr>
              <a:t>and its external disclosure.</a:t>
            </a:r>
            <a:endParaRPr lang="en-US" sz="2600" dirty="0"/>
          </a:p>
        </p:txBody>
      </p:sp>
      <p:sp>
        <p:nvSpPr>
          <p:cNvPr id="12" name="Text 10"/>
          <p:cNvSpPr/>
          <p:nvPr/>
        </p:nvSpPr>
        <p:spPr>
          <a:xfrm>
            <a:off x="6510528" y="4233672"/>
            <a:ext cx="4681728" cy="896112"/>
          </a:xfrm>
          <a:prstGeom prst="rect">
            <a:avLst/>
          </a:prstGeom>
          <a:noFill/>
          <a:ln/>
        </p:spPr>
        <p:txBody>
          <a:bodyPr wrap="square" lIns="0" tIns="0" rIns="0" bIns="0" rtlCol="0" anchor="t"/>
          <a:lstStyle/>
          <a:p>
            <a:pPr indent="0" marL="0">
              <a:buNone/>
            </a:pPr>
            <a:r>
              <a:rPr lang="en-US" sz="1800" dirty="0">
                <a:solidFill>
                  <a:srgbClr val="F7F2E9"/>
                </a:solidFill>
                <a:latin typeface="Segoe UI" pitchFamily="34" charset="0"/>
                <a:ea typeface="Segoe UI" pitchFamily="34" charset="-122"/>
                <a:cs typeface="Segoe UI" pitchFamily="34" charset="-120"/>
              </a:rPr>
              <a:t>For online TTS, approve the full narration, provider, voice, rate, and plan hash. Changed bindings require renewed review.</a:t>
            </a:r>
            <a:endParaRPr lang="en-US" sz="1800" dirty="0"/>
          </a:p>
        </p:txBody>
      </p:sp>
      <p:sp>
        <p:nvSpPr>
          <p:cNvPr id="13" name="Text 11"/>
          <p:cNvSpPr/>
          <p:nvPr/>
        </p:nvSpPr>
        <p:spPr>
          <a:xfrm>
            <a:off x="548640" y="5641848"/>
            <a:ext cx="246888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IMPORTANT DISTINCTION</a:t>
            </a:r>
            <a:endParaRPr lang="en-US" sz="1100" dirty="0"/>
          </a:p>
        </p:txBody>
      </p:sp>
      <p:sp>
        <p:nvSpPr>
          <p:cNvPr id="14" name="Text 12"/>
          <p:cNvSpPr/>
          <p:nvPr/>
        </p:nvSpPr>
        <p:spPr>
          <a:xfrm>
            <a:off x="3154680" y="5596128"/>
            <a:ext cx="8458200" cy="566928"/>
          </a:xfrm>
          <a:prstGeom prst="rect">
            <a:avLst/>
          </a:prstGeom>
          <a:noFill/>
          <a:ln/>
        </p:spPr>
        <p:txBody>
          <a:bodyPr wrap="square" lIns="0" tIns="0" rIns="0" bIns="0" rtlCol="0" anchor="t"/>
          <a:lstStyle/>
          <a:p>
            <a:pPr indent="0" marL="0">
              <a:buNone/>
            </a:pPr>
            <a:r>
              <a:rPr lang="en-US" sz="1800" dirty="0">
                <a:solidFill>
                  <a:srgbClr val="332E31"/>
                </a:solidFill>
                <a:latin typeface="Segoe UI" pitchFamily="34" charset="0"/>
                <a:ea typeface="Segoe UI" pitchFamily="34" charset="-122"/>
                <a:cs typeface="Segoe UI" pitchFamily="34" charset="-120"/>
              </a:rPr>
              <a:t>HTML packaging does not execute author scripts. Online service availability remains unproven until observed.</a:t>
            </a:r>
            <a:endParaRPr lang="en-US" sz="1800" dirty="0"/>
          </a:p>
        </p:txBody>
      </p:sp>
      <p:sp>
        <p:nvSpPr>
          <p:cNvPr id="15" name="Text 13"/>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655B60"/>
                </a:solidFill>
                <a:latin typeface="Segoe UI" pitchFamily="34" charset="0"/>
                <a:ea typeface="Segoe UI" pitchFamily="34" charset="-122"/>
                <a:cs typeface="Segoe UI" pitchFamily="34" charset="-120"/>
              </a:rPr>
              <a:t>AHA  /  Execution contract · Render implementation · Video plan identity</a:t>
            </a:r>
            <a:endParaRPr lang="en-US" sz="1100" dirty="0"/>
          </a:p>
        </p:txBody>
      </p:sp>
      <p:sp>
        <p:nvSpPr>
          <p:cNvPr id="16" name="Text 14"/>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655B60"/>
                </a:solidFill>
                <a:latin typeface="Segoe UI" pitchFamily="34" charset="0"/>
                <a:ea typeface="Segoe UI" pitchFamily="34" charset="-122"/>
                <a:cs typeface="Segoe UI" pitchFamily="34" charset="-120"/>
              </a:rPr>
              <a:t>07 / 09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9"/>
        </a:solidFill>
      </p:bgPr>
    </p:bg>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07  /  LANGUAGE &amp; DISTRIBUTION</a:t>
            </a:r>
            <a:endParaRPr lang="en-US" sz="1100" dirty="0"/>
          </a:p>
        </p:txBody>
      </p:sp>
      <p:sp>
        <p:nvSpPr>
          <p:cNvPr id="3" name="Text 1"/>
          <p:cNvSpPr/>
          <p:nvPr/>
        </p:nvSpPr>
        <p:spPr>
          <a:xfrm>
            <a:off x="548640" y="841248"/>
            <a:ext cx="11018520" cy="658368"/>
          </a:xfrm>
          <a:prstGeom prst="rect">
            <a:avLst/>
          </a:prstGeom>
          <a:noFill/>
          <a:ln/>
        </p:spPr>
        <p:txBody>
          <a:bodyPr wrap="square" lIns="0" tIns="0" rIns="0" bIns="0" rtlCol="0" anchor="t"/>
          <a:lstStyle/>
          <a:p>
            <a:pPr indent="0" marL="0">
              <a:buNone/>
            </a:pPr>
            <a:r>
              <a:rPr lang="en-US" sz="3300" b="1" dirty="0">
                <a:solidFill>
                  <a:srgbClr val="6D2E46"/>
                </a:solidFill>
                <a:latin typeface="Segoe UI" pitchFamily="34" charset="0"/>
                <a:ea typeface="Segoe UI" pitchFamily="34" charset="-122"/>
                <a:cs typeface="Segoe UI" pitchFamily="34" charset="-120"/>
              </a:rPr>
              <a:t>Language and packaging change how Aha travels</a:t>
            </a:r>
            <a:endParaRPr lang="en-US" sz="3300" dirty="0"/>
          </a:p>
        </p:txBody>
      </p:sp>
      <p:sp>
        <p:nvSpPr>
          <p:cNvPr id="4" name="Text 2"/>
          <p:cNvSpPr/>
          <p:nvPr/>
        </p:nvSpPr>
        <p:spPr>
          <a:xfrm>
            <a:off x="548640" y="1874520"/>
            <a:ext cx="512064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LANGUAGE CHANGES EXPRESSION</a:t>
            </a:r>
            <a:endParaRPr lang="en-US" sz="1100" dirty="0"/>
          </a:p>
        </p:txBody>
      </p:sp>
      <p:sp>
        <p:nvSpPr>
          <p:cNvPr id="5" name="Text 3"/>
          <p:cNvSpPr/>
          <p:nvPr/>
        </p:nvSpPr>
        <p:spPr>
          <a:xfrm>
            <a:off x="548640" y="2267712"/>
            <a:ext cx="5074920" cy="731520"/>
          </a:xfrm>
          <a:prstGeom prst="rect">
            <a:avLst/>
          </a:prstGeom>
          <a:noFill/>
          <a:ln/>
        </p:spPr>
        <p:txBody>
          <a:bodyPr wrap="square" lIns="0" tIns="0" rIns="0" bIns="0" rtlCol="0" anchor="t"/>
          <a:lstStyle/>
          <a:p>
            <a:pPr indent="0" marL="0">
              <a:buNone/>
            </a:pPr>
            <a:r>
              <a:rPr lang="en-US" sz="2500" b="1" dirty="0">
                <a:solidFill>
                  <a:srgbClr val="6D2E46"/>
                </a:solidFill>
                <a:latin typeface="Segoe UI" pitchFamily="34" charset="0"/>
                <a:ea typeface="Segoe UI" pitchFamily="34" charset="-122"/>
                <a:cs typeface="Segoe UI" pitchFamily="34" charset="-120"/>
              </a:rPr>
              <a:t>It does not rewrite the research snapshot.</a:t>
            </a:r>
            <a:endParaRPr lang="en-US" sz="2500" dirty="0"/>
          </a:p>
        </p:txBody>
      </p:sp>
      <p:sp>
        <p:nvSpPr>
          <p:cNvPr id="6" name="Shape 4"/>
          <p:cNvSpPr/>
          <p:nvPr/>
        </p:nvSpPr>
        <p:spPr>
          <a:xfrm>
            <a:off x="548640" y="3063240"/>
            <a:ext cx="5148072" cy="0"/>
          </a:xfrm>
          <a:prstGeom prst="line">
            <a:avLst/>
          </a:prstGeom>
          <a:noFill/>
          <a:ln w="10160">
            <a:solidFill>
              <a:srgbClr val="CDBFBE"/>
            </a:solidFill>
            <a:prstDash val="solid"/>
          </a:ln>
        </p:spPr>
      </p:sp>
      <p:sp>
        <p:nvSpPr>
          <p:cNvPr id="7" name="Text 5"/>
          <p:cNvSpPr/>
          <p:nvPr/>
        </p:nvSpPr>
        <p:spPr>
          <a:xfrm>
            <a:off x="548640" y="3218688"/>
            <a:ext cx="2359152" cy="429768"/>
          </a:xfrm>
          <a:prstGeom prst="rect">
            <a:avLst/>
          </a:prstGeom>
          <a:noFill/>
          <a:ln/>
        </p:spPr>
        <p:txBody>
          <a:bodyPr wrap="square" lIns="0" tIns="0" rIns="0" bIns="0" rtlCol="0" anchor="t"/>
          <a:lstStyle/>
          <a:p>
            <a:pPr indent="0" marL="0">
              <a:buNone/>
            </a:pPr>
            <a:r>
              <a:rPr lang="en-US" sz="1600" b="1" dirty="0">
                <a:solidFill>
                  <a:srgbClr val="6D2E46"/>
                </a:solidFill>
                <a:latin typeface="Segoe UI" pitchFamily="34" charset="0"/>
                <a:ea typeface="Segoe UI" pitchFamily="34" charset="-122"/>
                <a:cs typeface="Segoe UI" pitchFamily="34" charset="-120"/>
              </a:rPr>
              <a:t>New HTML</a:t>
            </a:r>
            <a:endParaRPr lang="en-US" sz="1600" dirty="0"/>
          </a:p>
        </p:txBody>
      </p:sp>
      <p:sp>
        <p:nvSpPr>
          <p:cNvPr id="8" name="Text 6"/>
          <p:cNvSpPr/>
          <p:nvPr/>
        </p:nvSpPr>
        <p:spPr>
          <a:xfrm>
            <a:off x="3081528" y="3218688"/>
            <a:ext cx="2615184" cy="512064"/>
          </a:xfrm>
          <a:prstGeom prst="rect">
            <a:avLst/>
          </a:prstGeom>
          <a:noFill/>
          <a:ln/>
        </p:spPr>
        <p:txBody>
          <a:bodyPr wrap="square" lIns="0" tIns="0" rIns="0" bIns="0" rtlCol="0" anchor="t"/>
          <a:lstStyle/>
          <a:p>
            <a:pPr indent="0" marL="0">
              <a:buNone/>
            </a:pPr>
            <a:r>
              <a:rPr lang="en-US" sz="1600" dirty="0">
                <a:solidFill>
                  <a:srgbClr val="332E31"/>
                </a:solidFill>
                <a:latin typeface="Segoe UI" pitchFamily="34" charset="0"/>
                <a:ea typeface="Segoe UI" pitchFamily="34" charset="-122"/>
                <a:cs typeface="Segoe UI" pitchFamily="34" charset="-120"/>
              </a:rPr>
              <a:t>Bilingual; English shown first</a:t>
            </a:r>
            <a:endParaRPr lang="en-US" sz="1600" dirty="0"/>
          </a:p>
        </p:txBody>
      </p:sp>
      <p:sp>
        <p:nvSpPr>
          <p:cNvPr id="9" name="Shape 7"/>
          <p:cNvSpPr/>
          <p:nvPr/>
        </p:nvSpPr>
        <p:spPr>
          <a:xfrm>
            <a:off x="548640" y="3776472"/>
            <a:ext cx="5148072" cy="0"/>
          </a:xfrm>
          <a:prstGeom prst="line">
            <a:avLst/>
          </a:prstGeom>
          <a:noFill/>
          <a:ln w="10160">
            <a:solidFill>
              <a:srgbClr val="CDBFBE"/>
            </a:solidFill>
            <a:prstDash val="solid"/>
          </a:ln>
        </p:spPr>
      </p:sp>
      <p:sp>
        <p:nvSpPr>
          <p:cNvPr id="10" name="Text 8"/>
          <p:cNvSpPr/>
          <p:nvPr/>
        </p:nvSpPr>
        <p:spPr>
          <a:xfrm>
            <a:off x="548640" y="3931920"/>
            <a:ext cx="2359152" cy="429768"/>
          </a:xfrm>
          <a:prstGeom prst="rect">
            <a:avLst/>
          </a:prstGeom>
          <a:noFill/>
          <a:ln/>
        </p:spPr>
        <p:txBody>
          <a:bodyPr wrap="square" lIns="0" tIns="0" rIns="0" bIns="0" rtlCol="0" anchor="t"/>
          <a:lstStyle/>
          <a:p>
            <a:pPr indent="0" marL="0">
              <a:buNone/>
            </a:pPr>
            <a:r>
              <a:rPr lang="en-US" sz="1600" b="1" dirty="0">
                <a:solidFill>
                  <a:srgbClr val="6D2E46"/>
                </a:solidFill>
                <a:latin typeface="Segoe UI" pitchFamily="34" charset="0"/>
                <a:ea typeface="Segoe UI" pitchFamily="34" charset="-122"/>
                <a:cs typeface="Segoe UI" pitchFamily="34" charset="-120"/>
              </a:rPr>
              <a:t>New PNG / PPTX / video</a:t>
            </a:r>
            <a:endParaRPr lang="en-US" sz="1600" dirty="0"/>
          </a:p>
        </p:txBody>
      </p:sp>
      <p:sp>
        <p:nvSpPr>
          <p:cNvPr id="11" name="Text 9"/>
          <p:cNvSpPr/>
          <p:nvPr/>
        </p:nvSpPr>
        <p:spPr>
          <a:xfrm>
            <a:off x="3081528" y="3931920"/>
            <a:ext cx="2615184" cy="512064"/>
          </a:xfrm>
          <a:prstGeom prst="rect">
            <a:avLst/>
          </a:prstGeom>
          <a:noFill/>
          <a:ln/>
        </p:spPr>
        <p:txBody>
          <a:bodyPr wrap="square" lIns="0" tIns="0" rIns="0" bIns="0" rtlCol="0" anchor="t"/>
          <a:lstStyle/>
          <a:p>
            <a:pPr indent="0" marL="0">
              <a:buNone/>
            </a:pPr>
            <a:r>
              <a:rPr lang="en-US" sz="1600" dirty="0">
                <a:solidFill>
                  <a:srgbClr val="332E31"/>
                </a:solidFill>
                <a:latin typeface="Segoe UI" pitchFamily="34" charset="0"/>
                <a:ea typeface="Segoe UI" pitchFamily="34" charset="-122"/>
                <a:cs typeface="Segoe UI" pitchFamily="34" charset="-120"/>
              </a:rPr>
              <a:t>English by default</a:t>
            </a:r>
            <a:endParaRPr lang="en-US" sz="1600" dirty="0"/>
          </a:p>
        </p:txBody>
      </p:sp>
      <p:sp>
        <p:nvSpPr>
          <p:cNvPr id="12" name="Shape 10"/>
          <p:cNvSpPr/>
          <p:nvPr/>
        </p:nvSpPr>
        <p:spPr>
          <a:xfrm>
            <a:off x="548640" y="4489704"/>
            <a:ext cx="5148072" cy="0"/>
          </a:xfrm>
          <a:prstGeom prst="line">
            <a:avLst/>
          </a:prstGeom>
          <a:noFill/>
          <a:ln w="10160">
            <a:solidFill>
              <a:srgbClr val="CDBFBE"/>
            </a:solidFill>
            <a:prstDash val="solid"/>
          </a:ln>
        </p:spPr>
      </p:sp>
      <p:sp>
        <p:nvSpPr>
          <p:cNvPr id="13" name="Text 11"/>
          <p:cNvSpPr/>
          <p:nvPr/>
        </p:nvSpPr>
        <p:spPr>
          <a:xfrm>
            <a:off x="548640" y="4645152"/>
            <a:ext cx="2359152" cy="429768"/>
          </a:xfrm>
          <a:prstGeom prst="rect">
            <a:avLst/>
          </a:prstGeom>
          <a:noFill/>
          <a:ln/>
        </p:spPr>
        <p:txBody>
          <a:bodyPr wrap="square" lIns="0" tIns="0" rIns="0" bIns="0" rtlCol="0" anchor="t"/>
          <a:lstStyle/>
          <a:p>
            <a:pPr indent="0" marL="0">
              <a:buNone/>
            </a:pPr>
            <a:r>
              <a:rPr lang="en-US" sz="1600" b="1" dirty="0">
                <a:solidFill>
                  <a:srgbClr val="6D2E46"/>
                </a:solidFill>
                <a:latin typeface="Segoe UI" pitchFamily="34" charset="0"/>
                <a:ea typeface="Segoe UI" pitchFamily="34" charset="-122"/>
                <a:cs typeface="Segoe UI" pitchFamily="34" charset="-120"/>
              </a:rPr>
              <a:t>Explicit Chinese choice</a:t>
            </a:r>
            <a:endParaRPr lang="en-US" sz="1600" dirty="0"/>
          </a:p>
        </p:txBody>
      </p:sp>
      <p:sp>
        <p:nvSpPr>
          <p:cNvPr id="14" name="Text 12"/>
          <p:cNvSpPr/>
          <p:nvPr/>
        </p:nvSpPr>
        <p:spPr>
          <a:xfrm>
            <a:off x="3081528" y="4645152"/>
            <a:ext cx="2615184" cy="512064"/>
          </a:xfrm>
          <a:prstGeom prst="rect">
            <a:avLst/>
          </a:prstGeom>
          <a:noFill/>
          <a:ln/>
        </p:spPr>
        <p:txBody>
          <a:bodyPr wrap="square" lIns="0" tIns="0" rIns="0" bIns="0" rtlCol="0" anchor="t"/>
          <a:lstStyle/>
          <a:p>
            <a:pPr indent="0" marL="0">
              <a:buNone/>
            </a:pPr>
            <a:r>
              <a:rPr lang="en-US" sz="1600" dirty="0">
                <a:solidFill>
                  <a:srgbClr val="332E31"/>
                </a:solidFill>
                <a:latin typeface="Segoe UI" pitchFamily="34" charset="0"/>
                <a:ea typeface="Segoe UI" pitchFamily="34" charset="-122"/>
                <a:cs typeface="Segoe UI" pitchFamily="34" charset="-120"/>
              </a:rPr>
              <a:t>Chinese artifact; same research</a:t>
            </a:r>
            <a:endParaRPr lang="en-US" sz="1600" dirty="0"/>
          </a:p>
        </p:txBody>
      </p:sp>
      <p:sp>
        <p:nvSpPr>
          <p:cNvPr id="15" name="Text 13"/>
          <p:cNvSpPr/>
          <p:nvPr/>
        </p:nvSpPr>
        <p:spPr>
          <a:xfrm>
            <a:off x="548640" y="5623560"/>
            <a:ext cx="5166360" cy="539496"/>
          </a:xfrm>
          <a:prstGeom prst="rect">
            <a:avLst/>
          </a:prstGeom>
          <a:noFill/>
          <a:ln/>
        </p:spPr>
        <p:txBody>
          <a:bodyPr wrap="square" lIns="0" tIns="0" rIns="0" bIns="0" rtlCol="0" anchor="t"/>
          <a:lstStyle/>
          <a:p>
            <a:pPr indent="0" marL="0">
              <a:buNone/>
            </a:pPr>
            <a:r>
              <a:rPr lang="en-US" sz="1600" dirty="0">
                <a:solidFill>
                  <a:srgbClr val="655B60"/>
                </a:solidFill>
                <a:latin typeface="Segoe UI" pitchFamily="34" charset="0"/>
                <a:ea typeface="Segoe UI" pitchFamily="34" charset="-122"/>
                <a:cs typeface="Segoe UI" pitchFamily="34" charset="-120"/>
              </a:rPr>
              <a:t>The Agent writes and reviews translations.</a:t>
            </a:r>
            <a:endParaRPr lang="en-US" sz="1600" dirty="0"/>
          </a:p>
          <a:p>
            <a:pPr indent="0" marL="0">
              <a:buNone/>
            </a:pPr>
            <a:r>
              <a:rPr lang="en-US" sz="1600" dirty="0">
                <a:solidFill>
                  <a:srgbClr val="655B60"/>
                </a:solidFill>
                <a:latin typeface="Segoe UI" pitchFamily="34" charset="0"/>
                <a:ea typeface="Segoe UI" pitchFamily="34" charset="-122"/>
                <a:cs typeface="Segoe UI" pitchFamily="34" charset="-120"/>
              </a:rPr>
              <a:t>A language field is not translation certification.</a:t>
            </a:r>
            <a:endParaRPr lang="en-US" sz="1600" dirty="0"/>
          </a:p>
        </p:txBody>
      </p:sp>
      <p:sp>
        <p:nvSpPr>
          <p:cNvPr id="16" name="Shape 14"/>
          <p:cNvSpPr/>
          <p:nvPr/>
        </p:nvSpPr>
        <p:spPr>
          <a:xfrm>
            <a:off x="6254496" y="1874520"/>
            <a:ext cx="5376672" cy="4251960"/>
          </a:xfrm>
          <a:prstGeom prst="rect">
            <a:avLst/>
          </a:prstGeom>
          <a:solidFill>
            <a:srgbClr val="FFFCF6"/>
          </a:solidFill>
          <a:ln w="8890">
            <a:solidFill>
              <a:srgbClr val="FFFCF6"/>
            </a:solidFill>
            <a:prstDash val="solid"/>
          </a:ln>
        </p:spPr>
      </p:sp>
      <p:sp>
        <p:nvSpPr>
          <p:cNvPr id="17" name="Text 15"/>
          <p:cNvSpPr/>
          <p:nvPr/>
        </p:nvSpPr>
        <p:spPr>
          <a:xfrm>
            <a:off x="6528816" y="2148840"/>
            <a:ext cx="4800600" cy="256032"/>
          </a:xfrm>
          <a:prstGeom prst="rect">
            <a:avLst/>
          </a:prstGeom>
          <a:noFill/>
          <a:ln/>
        </p:spPr>
        <p:txBody>
          <a:bodyPr wrap="square" lIns="0" tIns="0" rIns="0" bIns="0" rtlCol="0" anchor="t"/>
          <a:lstStyle/>
          <a:p>
            <a:pPr indent="0" marL="0">
              <a:buNone/>
            </a:pPr>
            <a:r>
              <a:rPr lang="en-US" sz="1100" b="1" spc="150" kern="0" dirty="0">
                <a:solidFill>
                  <a:srgbClr val="6D2E46"/>
                </a:solidFill>
                <a:latin typeface="Segoe UI" pitchFamily="34" charset="0"/>
                <a:ea typeface="Segoe UI" pitchFamily="34" charset="-122"/>
                <a:cs typeface="Segoe UI" pitchFamily="34" charset="-120"/>
              </a:rPr>
              <a:t>DISTRIBUTION CARRIES CAPABILITY</a:t>
            </a:r>
            <a:endParaRPr lang="en-US" sz="1100" dirty="0"/>
          </a:p>
        </p:txBody>
      </p:sp>
      <p:sp>
        <p:nvSpPr>
          <p:cNvPr id="18" name="Text 16"/>
          <p:cNvSpPr/>
          <p:nvPr/>
        </p:nvSpPr>
        <p:spPr>
          <a:xfrm>
            <a:off x="6528816" y="2596896"/>
            <a:ext cx="4709160" cy="758952"/>
          </a:xfrm>
          <a:prstGeom prst="rect">
            <a:avLst/>
          </a:prstGeom>
          <a:noFill/>
          <a:ln/>
        </p:spPr>
        <p:txBody>
          <a:bodyPr wrap="square" lIns="0" tIns="0" rIns="0" bIns="0" rtlCol="0" anchor="t"/>
          <a:lstStyle/>
          <a:p>
            <a:pPr indent="0" marL="0">
              <a:buNone/>
            </a:pPr>
            <a:r>
              <a:rPr lang="en-US" sz="2500" b="1" dirty="0">
                <a:solidFill>
                  <a:srgbClr val="6D2E46"/>
                </a:solidFill>
                <a:latin typeface="Segoe UI" pitchFamily="34" charset="0"/>
                <a:ea typeface="Segoe UI" pitchFamily="34" charset="-122"/>
                <a:cs typeface="Segoe UI" pitchFamily="34" charset="-120"/>
              </a:rPr>
              <a:t>Build → two self-contained Skill bundles</a:t>
            </a:r>
            <a:endParaRPr lang="en-US" sz="2500" dirty="0"/>
          </a:p>
        </p:txBody>
      </p:sp>
      <p:sp>
        <p:nvSpPr>
          <p:cNvPr id="19" name="Text 17"/>
          <p:cNvSpPr/>
          <p:nvPr/>
        </p:nvSpPr>
        <p:spPr>
          <a:xfrm>
            <a:off x="6528816" y="3611880"/>
            <a:ext cx="4681728" cy="859536"/>
          </a:xfrm>
          <a:prstGeom prst="rect">
            <a:avLst/>
          </a:prstGeom>
          <a:noFill/>
          <a:ln/>
        </p:spPr>
        <p:txBody>
          <a:bodyPr wrap="square" lIns="0" tIns="0" rIns="0" bIns="0" rtlCol="0" anchor="t"/>
          <a:lstStyle/>
          <a:p>
            <a:pPr indent="0" marL="0">
              <a:buNone/>
            </a:pPr>
            <a:r>
              <a:rPr lang="en-US" sz="2000" dirty="0">
                <a:solidFill>
                  <a:srgbClr val="332E31"/>
                </a:solidFill>
                <a:latin typeface="Segoe UI" pitchFamily="34" charset="0"/>
                <a:ea typeface="Segoe UI" pitchFamily="34" charset="-122"/>
                <a:cs typeface="Segoe UI" pitchFamily="34" charset="-120"/>
              </a:rPr>
              <a:t>Each carries its CLI, schemas, references, and local libraries—not just the source Skill folder.</a:t>
            </a:r>
            <a:endParaRPr lang="en-US" sz="2000" dirty="0"/>
          </a:p>
        </p:txBody>
      </p:sp>
      <p:sp>
        <p:nvSpPr>
          <p:cNvPr id="20" name="Text 18"/>
          <p:cNvSpPr/>
          <p:nvPr/>
        </p:nvSpPr>
        <p:spPr>
          <a:xfrm>
            <a:off x="6528816" y="4718304"/>
            <a:ext cx="4681728" cy="548640"/>
          </a:xfrm>
          <a:prstGeom prst="rect">
            <a:avLst/>
          </a:prstGeom>
          <a:noFill/>
          <a:ln/>
        </p:spPr>
        <p:txBody>
          <a:bodyPr wrap="square" lIns="0" tIns="0" rIns="0" bIns="0" rtlCol="0" anchor="t"/>
          <a:lstStyle/>
          <a:p>
            <a:pPr indent="0" marL="0">
              <a:buNone/>
            </a:pPr>
            <a:r>
              <a:rPr lang="en-US" sz="1800" dirty="0">
                <a:solidFill>
                  <a:srgbClr val="332E31"/>
                </a:solidFill>
                <a:latin typeface="Segoe UI" pitchFamily="34" charset="0"/>
                <a:ea typeface="Segoe UI" pitchFamily="34" charset="-122"/>
                <a:cs typeface="Segoe UI" pitchFamily="34" charset="-120"/>
              </a:rPr>
              <a:t>Browser and media tools are prepared separately.</a:t>
            </a:r>
            <a:endParaRPr lang="en-US" sz="1800" dirty="0"/>
          </a:p>
        </p:txBody>
      </p:sp>
      <p:sp>
        <p:nvSpPr>
          <p:cNvPr id="21" name="Text 19"/>
          <p:cNvSpPr/>
          <p:nvPr/>
        </p:nvSpPr>
        <p:spPr>
          <a:xfrm>
            <a:off x="6528816" y="5495544"/>
            <a:ext cx="4681728" cy="475488"/>
          </a:xfrm>
          <a:prstGeom prst="rect">
            <a:avLst/>
          </a:prstGeom>
          <a:noFill/>
          <a:ln/>
        </p:spPr>
        <p:txBody>
          <a:bodyPr wrap="square" lIns="0" tIns="0" rIns="0" bIns="0" rtlCol="0" anchor="t"/>
          <a:lstStyle/>
          <a:p>
            <a:pPr indent="0" marL="0">
              <a:buNone/>
            </a:pPr>
            <a:r>
              <a:rPr lang="en-US" sz="1600" dirty="0">
                <a:solidFill>
                  <a:srgbClr val="655B60"/>
                </a:solidFill>
                <a:latin typeface="Segoe UI" pitchFamily="34" charset="0"/>
                <a:ea typeface="Segoe UI" pitchFamily="34" charset="-122"/>
                <a:cs typeface="Segoe UI" pitchFamily="34" charset="-120"/>
              </a:rPr>
              <a:t>Build success ≠ published release,</a:t>
            </a:r>
            <a:endParaRPr lang="en-US" sz="1600" dirty="0"/>
          </a:p>
          <a:p>
            <a:pPr indent="0" marL="0">
              <a:buNone/>
            </a:pPr>
            <a:r>
              <a:rPr lang="en-US" sz="1600" dirty="0">
                <a:solidFill>
                  <a:srgbClr val="655B60"/>
                </a:solidFill>
                <a:latin typeface="Segoe UI" pitchFamily="34" charset="0"/>
                <a:ea typeface="Segoe UI" pitchFamily="34" charset="-122"/>
                <a:cs typeface="Segoe UI" pitchFamily="34" charset="-120"/>
              </a:rPr>
              <a:t>host discovery, or installation acceptance.</a:t>
            </a:r>
            <a:endParaRPr lang="en-US" sz="1600" dirty="0"/>
          </a:p>
        </p:txBody>
      </p:sp>
      <p:sp>
        <p:nvSpPr>
          <p:cNvPr id="22" name="Text 20"/>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655B60"/>
                </a:solidFill>
                <a:latin typeface="Segoe UI" pitchFamily="34" charset="0"/>
                <a:ea typeface="Segoe UI" pitchFamily="34" charset="-122"/>
                <a:cs typeface="Segoe UI" pitchFamily="34" charset="-120"/>
              </a:rPr>
              <a:t>AHA  /  Language contract · Artifact defaults · Build implementation · Architecture</a:t>
            </a:r>
            <a:endParaRPr lang="en-US" sz="1100" dirty="0"/>
          </a:p>
        </p:txBody>
      </p:sp>
      <p:sp>
        <p:nvSpPr>
          <p:cNvPr id="23" name="Text 21"/>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655B60"/>
                </a:solidFill>
                <a:latin typeface="Segoe UI" pitchFamily="34" charset="0"/>
                <a:ea typeface="Segoe UI" pitchFamily="34" charset="-122"/>
                <a:cs typeface="Segoe UI" pitchFamily="34" charset="-120"/>
              </a:rPr>
              <a:t>08 / 09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92629"/>
        </a:solidFill>
      </p:bgPr>
    </p:bg>
    <p:spTree>
      <p:nvGrpSpPr>
        <p:cNvPr id="1" name=""/>
        <p:cNvGrpSpPr/>
        <p:nvPr/>
      </p:nvGrpSpPr>
      <p:grpSpPr>
        <a:xfrm>
          <a:off x="0" y="0"/>
          <a:ext cx="0" cy="0"/>
          <a:chOff x="0" y="0"/>
          <a:chExt cx="0" cy="0"/>
        </a:xfrm>
      </p:grpSpPr>
      <p:sp>
        <p:nvSpPr>
          <p:cNvPr id="2" name="Text 0"/>
          <p:cNvSpPr/>
          <p:nvPr/>
        </p:nvSpPr>
        <p:spPr>
          <a:xfrm>
            <a:off x="548640" y="393192"/>
            <a:ext cx="10972800" cy="256032"/>
          </a:xfrm>
          <a:prstGeom prst="rect">
            <a:avLst/>
          </a:prstGeom>
          <a:noFill/>
          <a:ln/>
        </p:spPr>
        <p:txBody>
          <a:bodyPr wrap="square" lIns="0" tIns="0" rIns="0" bIns="0" rtlCol="0" anchor="t"/>
          <a:lstStyle/>
          <a:p>
            <a:pPr indent="0" marL="0">
              <a:buNone/>
            </a:pPr>
            <a:r>
              <a:rPr lang="en-US" sz="1100" b="1" spc="150" kern="0" dirty="0">
                <a:solidFill>
                  <a:srgbClr val="EACBD5"/>
                </a:solidFill>
                <a:latin typeface="Segoe UI" pitchFamily="34" charset="0"/>
                <a:ea typeface="Segoe UI" pitchFamily="34" charset="-122"/>
                <a:cs typeface="Segoe UI" pitchFamily="34" charset="-120"/>
              </a:rPr>
              <a:t>08  /  WHAT “DONE” MEANS</a:t>
            </a:r>
            <a:endParaRPr lang="en-US" sz="1100" dirty="0"/>
          </a:p>
        </p:txBody>
      </p:sp>
      <p:sp>
        <p:nvSpPr>
          <p:cNvPr id="3" name="Text 1"/>
          <p:cNvSpPr/>
          <p:nvPr/>
        </p:nvSpPr>
        <p:spPr>
          <a:xfrm>
            <a:off x="548640" y="859536"/>
            <a:ext cx="11018520" cy="704088"/>
          </a:xfrm>
          <a:prstGeom prst="rect">
            <a:avLst/>
          </a:prstGeom>
          <a:noFill/>
          <a:ln/>
        </p:spPr>
        <p:txBody>
          <a:bodyPr wrap="square" lIns="0" tIns="0" rIns="0" bIns="0" rtlCol="0" anchor="t"/>
          <a:lstStyle/>
          <a:p>
            <a:pPr indent="0" marL="0">
              <a:buNone/>
            </a:pPr>
            <a:r>
              <a:rPr lang="en-US" sz="3300" b="1" dirty="0">
                <a:solidFill>
                  <a:srgbClr val="F7F2E9"/>
                </a:solidFill>
                <a:latin typeface="Segoe UI" pitchFamily="34" charset="0"/>
                <a:ea typeface="Segoe UI" pitchFamily="34" charset="-122"/>
                <a:cs typeface="Segoe UI" pitchFamily="34" charset="-120"/>
              </a:rPr>
              <a:t>A valid file is not yet a good explanation</a:t>
            </a:r>
            <a:endParaRPr lang="en-US" sz="3300" dirty="0"/>
          </a:p>
        </p:txBody>
      </p:sp>
      <p:sp>
        <p:nvSpPr>
          <p:cNvPr id="4" name="Text 2"/>
          <p:cNvSpPr/>
          <p:nvPr/>
        </p:nvSpPr>
        <p:spPr>
          <a:xfrm>
            <a:off x="548640" y="1993392"/>
            <a:ext cx="384048" cy="274320"/>
          </a:xfrm>
          <a:prstGeom prst="rect">
            <a:avLst/>
          </a:prstGeom>
          <a:noFill/>
          <a:ln/>
        </p:spPr>
        <p:txBody>
          <a:bodyPr wrap="square" lIns="0" tIns="0" rIns="0" bIns="0" rtlCol="0" anchor="t"/>
          <a:lstStyle/>
          <a:p>
            <a:pPr indent="0" marL="0">
              <a:buNone/>
            </a:pPr>
            <a:r>
              <a:rPr lang="en-US" sz="1400" dirty="0">
                <a:solidFill>
                  <a:srgbClr val="EACBD5"/>
                </a:solidFill>
                <a:latin typeface="Consolas" pitchFamily="34" charset="0"/>
                <a:ea typeface="Consolas" pitchFamily="34" charset="-122"/>
                <a:cs typeface="Consolas" pitchFamily="34" charset="-120"/>
              </a:rPr>
              <a:t>01</a:t>
            </a:r>
            <a:endParaRPr lang="en-US" sz="1400" dirty="0"/>
          </a:p>
        </p:txBody>
      </p:sp>
      <p:sp>
        <p:nvSpPr>
          <p:cNvPr id="5" name="Text 3"/>
          <p:cNvSpPr/>
          <p:nvPr/>
        </p:nvSpPr>
        <p:spPr>
          <a:xfrm>
            <a:off x="1124712" y="1975104"/>
            <a:ext cx="2313432" cy="457200"/>
          </a:xfrm>
          <a:prstGeom prst="rect">
            <a:avLst/>
          </a:prstGeom>
          <a:noFill/>
          <a:ln/>
        </p:spPr>
        <p:txBody>
          <a:bodyPr wrap="square" lIns="0" tIns="0" rIns="0" bIns="0" rtlCol="0" anchor="t"/>
          <a:lstStyle/>
          <a:p>
            <a:pPr indent="0" marL="0">
              <a:buNone/>
            </a:pPr>
            <a:r>
              <a:rPr lang="en-US" sz="1750" b="1" dirty="0">
                <a:solidFill>
                  <a:srgbClr val="F7F2E9"/>
                </a:solidFill>
                <a:latin typeface="Segoe UI" pitchFamily="34" charset="0"/>
                <a:ea typeface="Segoe UI" pitchFamily="34" charset="-122"/>
                <a:cs typeface="Segoe UI" pitchFamily="34" charset="-120"/>
              </a:rPr>
              <a:t>Research support</a:t>
            </a:r>
            <a:endParaRPr lang="en-US" sz="1750" dirty="0"/>
          </a:p>
        </p:txBody>
      </p:sp>
      <p:sp>
        <p:nvSpPr>
          <p:cNvPr id="6" name="Text 4"/>
          <p:cNvSpPr/>
          <p:nvPr/>
        </p:nvSpPr>
        <p:spPr>
          <a:xfrm>
            <a:off x="3675888" y="1975104"/>
            <a:ext cx="4215384" cy="512064"/>
          </a:xfrm>
          <a:prstGeom prst="rect">
            <a:avLst/>
          </a:prstGeom>
          <a:noFill/>
          <a:ln/>
        </p:spPr>
        <p:txBody>
          <a:bodyPr wrap="square" lIns="0" tIns="0" rIns="0" bIns="0" rtlCol="0" anchor="t"/>
          <a:lstStyle/>
          <a:p>
            <a:pPr indent="0" marL="0">
              <a:buNone/>
            </a:pPr>
            <a:r>
              <a:rPr lang="en-US" sz="1700" dirty="0">
                <a:solidFill>
                  <a:srgbClr val="ECE2D0"/>
                </a:solidFill>
                <a:latin typeface="Segoe UI" pitchFamily="34" charset="0"/>
                <a:ea typeface="Segoe UI" pitchFamily="34" charset="-122"/>
                <a:cs typeface="Segoe UI" pitchFamily="34" charset="-120"/>
              </a:rPr>
              <a:t>Do the cited sources support the claims?</a:t>
            </a:r>
            <a:endParaRPr lang="en-US" sz="1700" dirty="0"/>
          </a:p>
        </p:txBody>
      </p:sp>
      <p:sp>
        <p:nvSpPr>
          <p:cNvPr id="7" name="Shape 5"/>
          <p:cNvSpPr/>
          <p:nvPr/>
        </p:nvSpPr>
        <p:spPr>
          <a:xfrm>
            <a:off x="1124712" y="2542032"/>
            <a:ext cx="6766560" cy="0"/>
          </a:xfrm>
          <a:prstGeom prst="line">
            <a:avLst/>
          </a:prstGeom>
          <a:noFill/>
          <a:ln w="10160">
            <a:solidFill>
              <a:srgbClr val="655B60"/>
            </a:solidFill>
            <a:prstDash val="solid"/>
          </a:ln>
        </p:spPr>
      </p:sp>
      <p:sp>
        <p:nvSpPr>
          <p:cNvPr id="8" name="Text 6"/>
          <p:cNvSpPr/>
          <p:nvPr/>
        </p:nvSpPr>
        <p:spPr>
          <a:xfrm>
            <a:off x="548640" y="2706624"/>
            <a:ext cx="384048" cy="274320"/>
          </a:xfrm>
          <a:prstGeom prst="rect">
            <a:avLst/>
          </a:prstGeom>
          <a:noFill/>
          <a:ln/>
        </p:spPr>
        <p:txBody>
          <a:bodyPr wrap="square" lIns="0" tIns="0" rIns="0" bIns="0" rtlCol="0" anchor="t"/>
          <a:lstStyle/>
          <a:p>
            <a:pPr indent="0" marL="0">
              <a:buNone/>
            </a:pPr>
            <a:r>
              <a:rPr lang="en-US" sz="1400" dirty="0">
                <a:solidFill>
                  <a:srgbClr val="EACBD5"/>
                </a:solidFill>
                <a:latin typeface="Consolas" pitchFamily="34" charset="0"/>
                <a:ea typeface="Consolas" pitchFamily="34" charset="-122"/>
                <a:cs typeface="Consolas" pitchFamily="34" charset="-120"/>
              </a:rPr>
              <a:t>02</a:t>
            </a:r>
            <a:endParaRPr lang="en-US" sz="1400" dirty="0"/>
          </a:p>
        </p:txBody>
      </p:sp>
      <p:sp>
        <p:nvSpPr>
          <p:cNvPr id="9" name="Text 7"/>
          <p:cNvSpPr/>
          <p:nvPr/>
        </p:nvSpPr>
        <p:spPr>
          <a:xfrm>
            <a:off x="1124712" y="2688336"/>
            <a:ext cx="2313432" cy="457200"/>
          </a:xfrm>
          <a:prstGeom prst="rect">
            <a:avLst/>
          </a:prstGeom>
          <a:noFill/>
          <a:ln/>
        </p:spPr>
        <p:txBody>
          <a:bodyPr wrap="square" lIns="0" tIns="0" rIns="0" bIns="0" rtlCol="0" anchor="t"/>
          <a:lstStyle/>
          <a:p>
            <a:pPr indent="0" marL="0">
              <a:buNone/>
            </a:pPr>
            <a:r>
              <a:rPr lang="en-US" sz="1750" b="1" dirty="0">
                <a:solidFill>
                  <a:srgbClr val="F7F2E9"/>
                </a:solidFill>
                <a:latin typeface="Segoe UI" pitchFamily="34" charset="0"/>
                <a:ea typeface="Segoe UI" pitchFamily="34" charset="-122"/>
                <a:cs typeface="Segoe UI" pitchFamily="34" charset="-120"/>
              </a:rPr>
              <a:t>Explanation clarity</a:t>
            </a:r>
            <a:endParaRPr lang="en-US" sz="1750" dirty="0"/>
          </a:p>
        </p:txBody>
      </p:sp>
      <p:sp>
        <p:nvSpPr>
          <p:cNvPr id="10" name="Text 8"/>
          <p:cNvSpPr/>
          <p:nvPr/>
        </p:nvSpPr>
        <p:spPr>
          <a:xfrm>
            <a:off x="3675888" y="2688336"/>
            <a:ext cx="4215384" cy="512064"/>
          </a:xfrm>
          <a:prstGeom prst="rect">
            <a:avLst/>
          </a:prstGeom>
          <a:noFill/>
          <a:ln/>
        </p:spPr>
        <p:txBody>
          <a:bodyPr wrap="square" lIns="0" tIns="0" rIns="0" bIns="0" rtlCol="0" anchor="t"/>
          <a:lstStyle/>
          <a:p>
            <a:pPr indent="0" marL="0">
              <a:buNone/>
            </a:pPr>
            <a:r>
              <a:rPr lang="en-US" sz="1700" dirty="0">
                <a:solidFill>
                  <a:srgbClr val="ECE2D0"/>
                </a:solidFill>
                <a:latin typeface="Segoe UI" pitchFamily="34" charset="0"/>
                <a:ea typeface="Segoe UI" pitchFamily="34" charset="-122"/>
                <a:cs typeface="Segoe UI" pitchFamily="34" charset="-120"/>
              </a:rPr>
              <a:t>Can the reader follow the reasoning between them?</a:t>
            </a:r>
            <a:endParaRPr lang="en-US" sz="1700" dirty="0"/>
          </a:p>
        </p:txBody>
      </p:sp>
      <p:sp>
        <p:nvSpPr>
          <p:cNvPr id="11" name="Shape 9"/>
          <p:cNvSpPr/>
          <p:nvPr/>
        </p:nvSpPr>
        <p:spPr>
          <a:xfrm>
            <a:off x="1124712" y="3255264"/>
            <a:ext cx="6766560" cy="0"/>
          </a:xfrm>
          <a:prstGeom prst="line">
            <a:avLst/>
          </a:prstGeom>
          <a:noFill/>
          <a:ln w="10160">
            <a:solidFill>
              <a:srgbClr val="655B60"/>
            </a:solidFill>
            <a:prstDash val="solid"/>
          </a:ln>
        </p:spPr>
      </p:sp>
      <p:sp>
        <p:nvSpPr>
          <p:cNvPr id="12" name="Text 10"/>
          <p:cNvSpPr/>
          <p:nvPr/>
        </p:nvSpPr>
        <p:spPr>
          <a:xfrm>
            <a:off x="548640" y="3419856"/>
            <a:ext cx="384048" cy="274320"/>
          </a:xfrm>
          <a:prstGeom prst="rect">
            <a:avLst/>
          </a:prstGeom>
          <a:noFill/>
          <a:ln/>
        </p:spPr>
        <p:txBody>
          <a:bodyPr wrap="square" lIns="0" tIns="0" rIns="0" bIns="0" rtlCol="0" anchor="t"/>
          <a:lstStyle/>
          <a:p>
            <a:pPr indent="0" marL="0">
              <a:buNone/>
            </a:pPr>
            <a:r>
              <a:rPr lang="en-US" sz="1400" dirty="0">
                <a:solidFill>
                  <a:srgbClr val="EACBD5"/>
                </a:solidFill>
                <a:latin typeface="Consolas" pitchFamily="34" charset="0"/>
                <a:ea typeface="Consolas" pitchFamily="34" charset="-122"/>
                <a:cs typeface="Consolas" pitchFamily="34" charset="-120"/>
              </a:rPr>
              <a:t>03</a:t>
            </a:r>
            <a:endParaRPr lang="en-US" sz="1400" dirty="0"/>
          </a:p>
        </p:txBody>
      </p:sp>
      <p:sp>
        <p:nvSpPr>
          <p:cNvPr id="13" name="Text 11"/>
          <p:cNvSpPr/>
          <p:nvPr/>
        </p:nvSpPr>
        <p:spPr>
          <a:xfrm>
            <a:off x="1124712" y="3401568"/>
            <a:ext cx="2313432" cy="457200"/>
          </a:xfrm>
          <a:prstGeom prst="rect">
            <a:avLst/>
          </a:prstGeom>
          <a:noFill/>
          <a:ln/>
        </p:spPr>
        <p:txBody>
          <a:bodyPr wrap="square" lIns="0" tIns="0" rIns="0" bIns="0" rtlCol="0" anchor="t"/>
          <a:lstStyle/>
          <a:p>
            <a:pPr indent="0" marL="0">
              <a:buNone/>
            </a:pPr>
            <a:r>
              <a:rPr lang="en-US" sz="1750" b="1" dirty="0">
                <a:solidFill>
                  <a:srgbClr val="F7F2E9"/>
                </a:solidFill>
                <a:latin typeface="Segoe UI" pitchFamily="34" charset="0"/>
                <a:ea typeface="Segoe UI" pitchFamily="34" charset="-122"/>
                <a:cs typeface="Segoe UI" pitchFamily="34" charset="-120"/>
              </a:rPr>
              <a:t>Visuals + editing</a:t>
            </a:r>
            <a:endParaRPr lang="en-US" sz="1750" dirty="0"/>
          </a:p>
        </p:txBody>
      </p:sp>
      <p:sp>
        <p:nvSpPr>
          <p:cNvPr id="14" name="Text 12"/>
          <p:cNvSpPr/>
          <p:nvPr/>
        </p:nvSpPr>
        <p:spPr>
          <a:xfrm>
            <a:off x="3675888" y="3401568"/>
            <a:ext cx="4215384" cy="512064"/>
          </a:xfrm>
          <a:prstGeom prst="rect">
            <a:avLst/>
          </a:prstGeom>
          <a:noFill/>
          <a:ln/>
        </p:spPr>
        <p:txBody>
          <a:bodyPr wrap="square" lIns="0" tIns="0" rIns="0" bIns="0" rtlCol="0" anchor="t"/>
          <a:lstStyle/>
          <a:p>
            <a:pPr indent="0" marL="0">
              <a:buNone/>
            </a:pPr>
            <a:r>
              <a:rPr lang="en-US" sz="1700" dirty="0">
                <a:solidFill>
                  <a:srgbClr val="ECE2D0"/>
                </a:solidFill>
                <a:latin typeface="Segoe UI" pitchFamily="34" charset="0"/>
                <a:ea typeface="Segoe UI" pitchFamily="34" charset="-122"/>
                <a:cs typeface="Segoe UI" pitchFamily="34" charset="-120"/>
              </a:rPr>
              <a:t>Does the actual artifact read and edit well?</a:t>
            </a:r>
            <a:endParaRPr lang="en-US" sz="1700" dirty="0"/>
          </a:p>
        </p:txBody>
      </p:sp>
      <p:sp>
        <p:nvSpPr>
          <p:cNvPr id="15" name="Shape 13"/>
          <p:cNvSpPr/>
          <p:nvPr/>
        </p:nvSpPr>
        <p:spPr>
          <a:xfrm>
            <a:off x="1124712" y="3968496"/>
            <a:ext cx="6766560" cy="0"/>
          </a:xfrm>
          <a:prstGeom prst="line">
            <a:avLst/>
          </a:prstGeom>
          <a:noFill/>
          <a:ln w="10160">
            <a:solidFill>
              <a:srgbClr val="655B60"/>
            </a:solidFill>
            <a:prstDash val="solid"/>
          </a:ln>
        </p:spPr>
      </p:sp>
      <p:sp>
        <p:nvSpPr>
          <p:cNvPr id="16" name="Text 14"/>
          <p:cNvSpPr/>
          <p:nvPr/>
        </p:nvSpPr>
        <p:spPr>
          <a:xfrm>
            <a:off x="548640" y="4133088"/>
            <a:ext cx="384048" cy="274320"/>
          </a:xfrm>
          <a:prstGeom prst="rect">
            <a:avLst/>
          </a:prstGeom>
          <a:noFill/>
          <a:ln/>
        </p:spPr>
        <p:txBody>
          <a:bodyPr wrap="square" lIns="0" tIns="0" rIns="0" bIns="0" rtlCol="0" anchor="t"/>
          <a:lstStyle/>
          <a:p>
            <a:pPr indent="0" marL="0">
              <a:buNone/>
            </a:pPr>
            <a:r>
              <a:rPr lang="en-US" sz="1400" dirty="0">
                <a:solidFill>
                  <a:srgbClr val="EACBD5"/>
                </a:solidFill>
                <a:latin typeface="Consolas" pitchFamily="34" charset="0"/>
                <a:ea typeface="Consolas" pitchFamily="34" charset="-122"/>
                <a:cs typeface="Consolas" pitchFamily="34" charset="-120"/>
              </a:rPr>
              <a:t>04</a:t>
            </a:r>
            <a:endParaRPr lang="en-US" sz="1400" dirty="0"/>
          </a:p>
        </p:txBody>
      </p:sp>
      <p:sp>
        <p:nvSpPr>
          <p:cNvPr id="17" name="Text 15"/>
          <p:cNvSpPr/>
          <p:nvPr/>
        </p:nvSpPr>
        <p:spPr>
          <a:xfrm>
            <a:off x="1124712" y="4114800"/>
            <a:ext cx="2313432" cy="457200"/>
          </a:xfrm>
          <a:prstGeom prst="rect">
            <a:avLst/>
          </a:prstGeom>
          <a:noFill/>
          <a:ln/>
        </p:spPr>
        <p:txBody>
          <a:bodyPr wrap="square" lIns="0" tIns="0" rIns="0" bIns="0" rtlCol="0" anchor="t"/>
          <a:lstStyle/>
          <a:p>
            <a:pPr indent="0" marL="0">
              <a:buNone/>
            </a:pPr>
            <a:r>
              <a:rPr lang="en-US" sz="1750" b="1" dirty="0">
                <a:solidFill>
                  <a:srgbClr val="F7F2E9"/>
                </a:solidFill>
                <a:latin typeface="Segoe UI" pitchFamily="34" charset="0"/>
                <a:ea typeface="Segoe UI" pitchFamily="34" charset="-122"/>
                <a:cs typeface="Segoe UI" pitchFamily="34" charset="-120"/>
              </a:rPr>
              <a:t>Runtime integrity</a:t>
            </a:r>
            <a:endParaRPr lang="en-US" sz="1750" dirty="0"/>
          </a:p>
        </p:txBody>
      </p:sp>
      <p:sp>
        <p:nvSpPr>
          <p:cNvPr id="18" name="Text 16"/>
          <p:cNvSpPr/>
          <p:nvPr/>
        </p:nvSpPr>
        <p:spPr>
          <a:xfrm>
            <a:off x="3675888" y="4114800"/>
            <a:ext cx="4215384" cy="512064"/>
          </a:xfrm>
          <a:prstGeom prst="rect">
            <a:avLst/>
          </a:prstGeom>
          <a:noFill/>
          <a:ln/>
        </p:spPr>
        <p:txBody>
          <a:bodyPr wrap="square" lIns="0" tIns="0" rIns="0" bIns="0" rtlCol="0" anchor="t"/>
          <a:lstStyle/>
          <a:p>
            <a:pPr indent="0" marL="0">
              <a:buNone/>
            </a:pPr>
            <a:r>
              <a:rPr lang="en-US" sz="1700" dirty="0">
                <a:solidFill>
                  <a:srgbClr val="ECE2D0"/>
                </a:solidFill>
                <a:latin typeface="Segoe UI" pitchFamily="34" charset="0"/>
                <a:ea typeface="Segoe UI" pitchFamily="34" charset="-122"/>
                <a:cs typeface="Segoe UI" pitchFamily="34" charset="-120"/>
              </a:rPr>
              <a:t>Do checks and receipts match the tested candidate?</a:t>
            </a:r>
            <a:endParaRPr lang="en-US" sz="1700" dirty="0"/>
          </a:p>
        </p:txBody>
      </p:sp>
      <p:sp>
        <p:nvSpPr>
          <p:cNvPr id="19" name="Shape 17"/>
          <p:cNvSpPr/>
          <p:nvPr/>
        </p:nvSpPr>
        <p:spPr>
          <a:xfrm>
            <a:off x="1124712" y="4681728"/>
            <a:ext cx="6766560" cy="0"/>
          </a:xfrm>
          <a:prstGeom prst="line">
            <a:avLst/>
          </a:prstGeom>
          <a:noFill/>
          <a:ln w="10160">
            <a:solidFill>
              <a:srgbClr val="655B60"/>
            </a:solidFill>
            <a:prstDash val="solid"/>
          </a:ln>
        </p:spPr>
      </p:sp>
      <p:sp>
        <p:nvSpPr>
          <p:cNvPr id="20" name="Text 18"/>
          <p:cNvSpPr/>
          <p:nvPr/>
        </p:nvSpPr>
        <p:spPr>
          <a:xfrm>
            <a:off x="548640" y="4846320"/>
            <a:ext cx="384048" cy="274320"/>
          </a:xfrm>
          <a:prstGeom prst="rect">
            <a:avLst/>
          </a:prstGeom>
          <a:noFill/>
          <a:ln/>
        </p:spPr>
        <p:txBody>
          <a:bodyPr wrap="square" lIns="0" tIns="0" rIns="0" bIns="0" rtlCol="0" anchor="t"/>
          <a:lstStyle/>
          <a:p>
            <a:pPr indent="0" marL="0">
              <a:buNone/>
            </a:pPr>
            <a:r>
              <a:rPr lang="en-US" sz="1400" dirty="0">
                <a:solidFill>
                  <a:srgbClr val="EACBD5"/>
                </a:solidFill>
                <a:latin typeface="Consolas" pitchFamily="34" charset="0"/>
                <a:ea typeface="Consolas" pitchFamily="34" charset="-122"/>
                <a:cs typeface="Consolas" pitchFamily="34" charset="-120"/>
              </a:rPr>
              <a:t>05</a:t>
            </a:r>
            <a:endParaRPr lang="en-US" sz="1400" dirty="0"/>
          </a:p>
        </p:txBody>
      </p:sp>
      <p:sp>
        <p:nvSpPr>
          <p:cNvPr id="21" name="Text 19"/>
          <p:cNvSpPr/>
          <p:nvPr/>
        </p:nvSpPr>
        <p:spPr>
          <a:xfrm>
            <a:off x="1124712" y="4828032"/>
            <a:ext cx="2313432" cy="457200"/>
          </a:xfrm>
          <a:prstGeom prst="rect">
            <a:avLst/>
          </a:prstGeom>
          <a:noFill/>
          <a:ln/>
        </p:spPr>
        <p:txBody>
          <a:bodyPr wrap="square" lIns="0" tIns="0" rIns="0" bIns="0" rtlCol="0" anchor="t"/>
          <a:lstStyle/>
          <a:p>
            <a:pPr indent="0" marL="0">
              <a:buNone/>
            </a:pPr>
            <a:r>
              <a:rPr lang="en-US" sz="1750" b="1" dirty="0">
                <a:solidFill>
                  <a:srgbClr val="F7F2E9"/>
                </a:solidFill>
                <a:latin typeface="Segoe UI" pitchFamily="34" charset="0"/>
                <a:ea typeface="Segoe UI" pitchFamily="34" charset="-122"/>
                <a:cs typeface="Segoe UI" pitchFamily="34" charset="-120"/>
              </a:rPr>
              <a:t>Human understanding</a:t>
            </a:r>
            <a:endParaRPr lang="en-US" sz="1750" dirty="0"/>
          </a:p>
        </p:txBody>
      </p:sp>
      <p:sp>
        <p:nvSpPr>
          <p:cNvPr id="22" name="Text 20"/>
          <p:cNvSpPr/>
          <p:nvPr/>
        </p:nvSpPr>
        <p:spPr>
          <a:xfrm>
            <a:off x="3675888" y="4828032"/>
            <a:ext cx="4215384" cy="512064"/>
          </a:xfrm>
          <a:prstGeom prst="rect">
            <a:avLst/>
          </a:prstGeom>
          <a:noFill/>
          <a:ln/>
        </p:spPr>
        <p:txBody>
          <a:bodyPr wrap="square" lIns="0" tIns="0" rIns="0" bIns="0" rtlCol="0" anchor="t"/>
          <a:lstStyle/>
          <a:p>
            <a:pPr indent="0" marL="0">
              <a:buNone/>
            </a:pPr>
            <a:r>
              <a:rPr lang="en-US" sz="1700" dirty="0">
                <a:solidFill>
                  <a:srgbClr val="ECE2D0"/>
                </a:solidFill>
                <a:latin typeface="Segoe UI" pitchFamily="34" charset="0"/>
                <a:ea typeface="Segoe UI" pitchFamily="34" charset="-122"/>
                <a:cs typeface="Segoe UI" pitchFamily="34" charset="-120"/>
              </a:rPr>
              <a:t>Can a real person explain or apply the idea?</a:t>
            </a:r>
            <a:endParaRPr lang="en-US" sz="1700" dirty="0"/>
          </a:p>
        </p:txBody>
      </p:sp>
      <p:sp>
        <p:nvSpPr>
          <p:cNvPr id="23" name="Shape 21"/>
          <p:cNvSpPr/>
          <p:nvPr/>
        </p:nvSpPr>
        <p:spPr>
          <a:xfrm>
            <a:off x="8302752" y="1975104"/>
            <a:ext cx="3337560" cy="3575304"/>
          </a:xfrm>
          <a:prstGeom prst="rect">
            <a:avLst/>
          </a:prstGeom>
          <a:solidFill>
            <a:srgbClr val="6D2E46"/>
          </a:solidFill>
          <a:ln w="8890">
            <a:solidFill>
              <a:srgbClr val="6D2E46"/>
            </a:solidFill>
            <a:prstDash val="solid"/>
          </a:ln>
        </p:spPr>
      </p:sp>
      <p:sp>
        <p:nvSpPr>
          <p:cNvPr id="24" name="Text 22"/>
          <p:cNvSpPr/>
          <p:nvPr/>
        </p:nvSpPr>
        <p:spPr>
          <a:xfrm>
            <a:off x="8586216" y="2258568"/>
            <a:ext cx="2779776" cy="256032"/>
          </a:xfrm>
          <a:prstGeom prst="rect">
            <a:avLst/>
          </a:prstGeom>
          <a:noFill/>
          <a:ln/>
        </p:spPr>
        <p:txBody>
          <a:bodyPr wrap="square" lIns="0" tIns="0" rIns="0" bIns="0" rtlCol="0" anchor="t"/>
          <a:lstStyle/>
          <a:p>
            <a:pPr indent="0" marL="0">
              <a:buNone/>
            </a:pPr>
            <a:r>
              <a:rPr lang="en-US" sz="1100" b="1" spc="150" kern="0" dirty="0">
                <a:solidFill>
                  <a:srgbClr val="EACBD5"/>
                </a:solidFill>
                <a:latin typeface="Segoe UI" pitchFamily="34" charset="0"/>
                <a:ea typeface="Segoe UI" pitchFamily="34" charset="-122"/>
                <a:cs typeface="Segoe UI" pitchFamily="34" charset="-120"/>
              </a:rPr>
              <a:t>THE AHA APPROACH</a:t>
            </a:r>
            <a:endParaRPr lang="en-US" sz="1100" dirty="0"/>
          </a:p>
        </p:txBody>
      </p:sp>
      <p:sp>
        <p:nvSpPr>
          <p:cNvPr id="25" name="Text 23"/>
          <p:cNvSpPr/>
          <p:nvPr/>
        </p:nvSpPr>
        <p:spPr>
          <a:xfrm>
            <a:off x="8586216" y="2779776"/>
            <a:ext cx="2752344" cy="1572768"/>
          </a:xfrm>
          <a:prstGeom prst="rect">
            <a:avLst/>
          </a:prstGeom>
          <a:noFill/>
          <a:ln/>
        </p:spPr>
        <p:txBody>
          <a:bodyPr wrap="square" lIns="0" tIns="0" rIns="0" bIns="0" rtlCol="0" anchor="t"/>
          <a:lstStyle/>
          <a:p>
            <a:pPr indent="0" marL="0">
              <a:buNone/>
            </a:pPr>
            <a:r>
              <a:rPr lang="en-US" sz="2800" b="1" dirty="0">
                <a:solidFill>
                  <a:srgbClr val="F7F2E9"/>
                </a:solidFill>
                <a:latin typeface="Segoe UI" pitchFamily="34" charset="0"/>
                <a:ea typeface="Segoe UI" pitchFamily="34" charset="-122"/>
                <a:cs typeface="Segoe UI" pitchFamily="34" charset="-120"/>
              </a:rPr>
              <a:t>Investigate.</a:t>
            </a:r>
            <a:endParaRPr lang="en-US" sz="2800" dirty="0"/>
          </a:p>
          <a:p>
            <a:pPr indent="0" marL="0">
              <a:buNone/>
            </a:pPr>
            <a:r>
              <a:rPr lang="en-US" sz="2800" b="1" dirty="0">
                <a:solidFill>
                  <a:srgbClr val="F7F2E9"/>
                </a:solidFill>
                <a:latin typeface="Segoe UI" pitchFamily="34" charset="0"/>
                <a:ea typeface="Segoe UI" pitchFamily="34" charset="-122"/>
                <a:cs typeface="Segoe UI" pitchFamily="34" charset="-120"/>
              </a:rPr>
              <a:t>Author deliberately.</a:t>
            </a:r>
            <a:endParaRPr lang="en-US" sz="2800" dirty="0"/>
          </a:p>
          <a:p>
            <a:pPr indent="0" marL="0">
              <a:buNone/>
            </a:pPr>
            <a:r>
              <a:rPr lang="en-US" sz="2800" b="1" dirty="0">
                <a:solidFill>
                  <a:srgbClr val="F7F2E9"/>
                </a:solidFill>
                <a:latin typeface="Segoe UI" pitchFamily="34" charset="0"/>
                <a:ea typeface="Segoe UI" pitchFamily="34" charset="-122"/>
                <a:cs typeface="Segoe UI" pitchFamily="34" charset="-120"/>
              </a:rPr>
              <a:t>Check each layer.</a:t>
            </a:r>
            <a:endParaRPr lang="en-US" sz="2800" dirty="0"/>
          </a:p>
        </p:txBody>
      </p:sp>
      <p:sp>
        <p:nvSpPr>
          <p:cNvPr id="26" name="Text 24"/>
          <p:cNvSpPr/>
          <p:nvPr/>
        </p:nvSpPr>
        <p:spPr>
          <a:xfrm>
            <a:off x="8586216" y="4608576"/>
            <a:ext cx="2752344" cy="731520"/>
          </a:xfrm>
          <a:prstGeom prst="rect">
            <a:avLst/>
          </a:prstGeom>
          <a:noFill/>
          <a:ln/>
        </p:spPr>
        <p:txBody>
          <a:bodyPr wrap="square" lIns="0" tIns="0" rIns="0" bIns="0" rtlCol="0" anchor="t"/>
          <a:lstStyle/>
          <a:p>
            <a:pPr indent="0" marL="0">
              <a:buNone/>
            </a:pPr>
            <a:r>
              <a:rPr lang="en-US" sz="1800" dirty="0">
                <a:solidFill>
                  <a:srgbClr val="F7F2E9"/>
                </a:solidFill>
                <a:latin typeface="Segoe UI" pitchFamily="34" charset="0"/>
                <a:ea typeface="Segoe UI" pitchFamily="34" charset="-122"/>
                <a:cs typeface="Segoe UI" pitchFamily="34" charset="-120"/>
              </a:rPr>
              <a:t>Preserve the source.</a:t>
            </a:r>
            <a:endParaRPr lang="en-US" sz="1800" dirty="0"/>
          </a:p>
          <a:p>
            <a:pPr indent="0" marL="0">
              <a:buNone/>
            </a:pPr>
            <a:r>
              <a:rPr lang="en-US" sz="1800" dirty="0">
                <a:solidFill>
                  <a:srgbClr val="F7F2E9"/>
                </a:solidFill>
                <a:latin typeface="Segoe UI" pitchFamily="34" charset="0"/>
                <a:ea typeface="Segoe UI" pitchFamily="34" charset="-122"/>
                <a:cs typeface="Segoe UI" pitchFamily="34" charset="-120"/>
              </a:rPr>
              <a:t>Disclose what is still untested.</a:t>
            </a:r>
            <a:endParaRPr lang="en-US" sz="1800" dirty="0"/>
          </a:p>
        </p:txBody>
      </p:sp>
      <p:sp>
        <p:nvSpPr>
          <p:cNvPr id="27" name="Text 25"/>
          <p:cNvSpPr/>
          <p:nvPr/>
        </p:nvSpPr>
        <p:spPr>
          <a:xfrm>
            <a:off x="548640" y="5870448"/>
            <a:ext cx="11018520" cy="356616"/>
          </a:xfrm>
          <a:prstGeom prst="rect">
            <a:avLst/>
          </a:prstGeom>
          <a:noFill/>
          <a:ln/>
        </p:spPr>
        <p:txBody>
          <a:bodyPr wrap="square" lIns="0" tIns="0" rIns="0" bIns="0" rtlCol="0" anchor="t"/>
          <a:lstStyle/>
          <a:p>
            <a:pPr indent="0" marL="0">
              <a:buNone/>
            </a:pPr>
            <a:r>
              <a:rPr lang="en-US" sz="1700" dirty="0">
                <a:solidFill>
                  <a:srgbClr val="EACBD5"/>
                </a:solidFill>
                <a:latin typeface="Segoe UI" pitchFamily="34" charset="0"/>
                <a:ea typeface="Segoe UI" pitchFamily="34" charset="-122"/>
                <a:cs typeface="Segoe UI" pitchFamily="34" charset="-120"/>
              </a:rPr>
              <a:t>These checks complement one another. Agent review is not an independent human comprehension study.</a:t>
            </a:r>
            <a:endParaRPr lang="en-US" sz="1700" dirty="0"/>
          </a:p>
        </p:txBody>
      </p:sp>
      <p:sp>
        <p:nvSpPr>
          <p:cNvPr id="28" name="Text 26"/>
          <p:cNvSpPr/>
          <p:nvPr/>
        </p:nvSpPr>
        <p:spPr>
          <a:xfrm>
            <a:off x="548640" y="6318504"/>
            <a:ext cx="10287000" cy="256032"/>
          </a:xfrm>
          <a:prstGeom prst="rect">
            <a:avLst/>
          </a:prstGeom>
          <a:noFill/>
          <a:ln/>
        </p:spPr>
        <p:txBody>
          <a:bodyPr wrap="square" lIns="0" tIns="0" rIns="0" bIns="0" rtlCol="0" anchor="t"/>
          <a:lstStyle/>
          <a:p>
            <a:pPr indent="0" marL="0">
              <a:buNone/>
            </a:pPr>
            <a:r>
              <a:rPr lang="en-US" sz="1100" dirty="0">
                <a:solidFill>
                  <a:srgbClr val="EACBD5"/>
                </a:solidFill>
                <a:latin typeface="Segoe UI" pitchFamily="34" charset="0"/>
                <a:ea typeface="Segoe UI" pitchFamily="34" charset="-122"/>
                <a:cs typeface="Segoe UI" pitchFamily="34" charset="-120"/>
              </a:rPr>
              <a:t>AHA  /  Architecture · Explain Skill  |  scope: repository description, not measured effectiveness</a:t>
            </a:r>
            <a:endParaRPr lang="en-US" sz="1100" dirty="0"/>
          </a:p>
        </p:txBody>
      </p:sp>
      <p:sp>
        <p:nvSpPr>
          <p:cNvPr id="29" name="Text 27"/>
          <p:cNvSpPr/>
          <p:nvPr/>
        </p:nvSpPr>
        <p:spPr>
          <a:xfrm>
            <a:off x="10881360" y="6318504"/>
            <a:ext cx="758952" cy="256032"/>
          </a:xfrm>
          <a:prstGeom prst="rect">
            <a:avLst/>
          </a:prstGeom>
          <a:noFill/>
          <a:ln/>
        </p:spPr>
        <p:txBody>
          <a:bodyPr wrap="square" lIns="0" tIns="0" rIns="0" bIns="0" rtlCol="0" anchor="t"/>
          <a:lstStyle/>
          <a:p>
            <a:pPr algn="r" indent="0" marL="0">
              <a:buNone/>
            </a:pPr>
            <a:r>
              <a:rPr lang="en-US" sz="1100" dirty="0">
                <a:solidFill>
                  <a:srgbClr val="EACBD5"/>
                </a:solidFill>
                <a:latin typeface="Segoe UI" pitchFamily="34" charset="0"/>
                <a:ea typeface="Segoe UI" pitchFamily="34" charset="-122"/>
                <a:cs typeface="Segoe UI" pitchFamily="34" charset="-120"/>
              </a:rPr>
              <a:t>09 / 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Aha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Aha: traceable research, freely authored explanations</dc:title>
  <dc:subject>An introduction to Aha at repository commit a013ea7</dc:subject>
  <dc:creator>Aha</dc:creator>
  <cp:lastModifiedBy>Aha</cp:lastModifiedBy>
  <cp:revision>1</cp:revision>
  <dcterms:created xsi:type="dcterms:W3CDTF">2026-09-15T06:27:50Z</dcterms:created>
  <dcterms:modified xsi:type="dcterms:W3CDTF">2026-09-15T06:27:50Z</dcterms:modified>
</cp:coreProperties>
</file>