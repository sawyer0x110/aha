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Incoming</c:v>
                </c:pt>
              </c:strCache>
            </c:strRef>
          </c:tx>
          <c:spPr>
            <a:solidFill>
              <a:srgbClr val="242424"/>
            </a:solidFill>
            <a:ln w="31750" cap="flat">
              <a:solidFill>
                <a:srgbClr val="2424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42424"/>
              </a:solidFill>
              <a:ln w="9525" cap="flat">
                <a:solidFill>
                  <a:srgbClr val="242424"/>
                </a:solidFill>
                <a:prstDash val="solid"/>
                <a:round/>
              </a:ln>
              <a:effectLst/>
            </c:spPr>
          </c:marker>
          <c:cat>
            <c:multiLvlStrRef>
              <c:f>Sheet1!$A$2:$A$34</c:f>
              <c:multiLvlStrCache>
                <c:ptCount val="33"/>
                <c:lvl>
                  <c:pt idx="0">
                    <c:v>0</c:v>
                  </c:pt>
                  <c:pt idx="1">
                    <c:v/>
                  </c:pt>
                  <c:pt idx="2">
                    <c:v/>
                  </c:pt>
                  <c:pt idx="3">
                    <c:v/>
                  </c:pt>
                  <c:pt idx="4">
                    <c:v/>
                  </c:pt>
                  <c:pt idx="5">
                    <c:v/>
                  </c:pt>
                  <c:pt idx="6">
                    <c:v/>
                  </c:pt>
                  <c:pt idx="7">
                    <c:v/>
                  </c:pt>
                  <c:pt idx="8">
                    <c:v>0.25</c:v>
                  </c:pt>
                  <c:pt idx="9">
                    <c:v/>
                  </c:pt>
                  <c:pt idx="10">
                    <c:v/>
                  </c:pt>
                  <c:pt idx="11">
                    <c:v/>
                  </c:pt>
                  <c:pt idx="12">
                    <c:v/>
                  </c:pt>
                  <c:pt idx="13">
                    <c:v/>
                  </c:pt>
                  <c:pt idx="14">
                    <c:v/>
                  </c:pt>
                  <c:pt idx="15">
                    <c:v/>
                  </c:pt>
                  <c:pt idx="16">
                    <c:v>0.5</c:v>
                  </c:pt>
                  <c:pt idx="17">
                    <c:v/>
                  </c:pt>
                  <c:pt idx="18">
                    <c:v/>
                  </c:pt>
                  <c:pt idx="19">
                    <c:v/>
                  </c:pt>
                  <c:pt idx="20">
                    <c:v/>
                  </c:pt>
                  <c:pt idx="21">
                    <c:v/>
                  </c:pt>
                  <c:pt idx="22">
                    <c:v/>
                  </c:pt>
                  <c:pt idx="23">
                    <c:v/>
                  </c:pt>
                  <c:pt idx="24">
                    <c:v>0.75</c:v>
                  </c:pt>
                  <c:pt idx="25">
                    <c:v/>
                  </c:pt>
                  <c:pt idx="26">
                    <c:v/>
                  </c:pt>
                  <c:pt idx="27">
                    <c:v/>
                  </c:pt>
                  <c:pt idx="28">
                    <c:v/>
                  </c:pt>
                  <c:pt idx="29">
                    <c:v/>
                  </c:pt>
                  <c:pt idx="30">
                    <c:v/>
                  </c:pt>
                  <c:pt idx="31">
                    <c:v/>
                  </c:pt>
                  <c:pt idx="32">
                    <c:v>1</c:v>
                  </c:pt>
                </c:lvl>
              </c:multiLvlStrCache>
            </c:multiLvlStrRef>
          </c:cat>
          <c:val>
            <c:numRef>
              <c:f>Sheet1!$B$2:$B$34</c:f>
              <c:numCache>
                <c:formatCode>General</c:formatCode>
                <c:ptCount val="33"/>
                <c:pt idx="0">
                  <c:v>0</c:v>
                </c:pt>
                <c:pt idx="1">
                  <c:v>0.19509032201612825</c:v>
                </c:pt>
                <c:pt idx="2">
                  <c:v>0.3826834323650898</c:v>
                </c:pt>
                <c:pt idx="3">
                  <c:v>0.5555702330196022</c:v>
                </c:pt>
                <c:pt idx="4">
                  <c:v>0.7071067811865475</c:v>
                </c:pt>
                <c:pt idx="5">
                  <c:v>0.8314696123025452</c:v>
                </c:pt>
                <c:pt idx="6">
                  <c:v>0.9238795325112867</c:v>
                </c:pt>
                <c:pt idx="7">
                  <c:v>0.9807852804032304</c:v>
                </c:pt>
                <c:pt idx="8">
                  <c:v>1</c:v>
                </c:pt>
                <c:pt idx="9">
                  <c:v>0.9807852804032304</c:v>
                </c:pt>
                <c:pt idx="10">
                  <c:v>0.9238795325112867</c:v>
                </c:pt>
                <c:pt idx="11">
                  <c:v>0.8314696123025453</c:v>
                </c:pt>
                <c:pt idx="12">
                  <c:v>0.7071067811865476</c:v>
                </c:pt>
                <c:pt idx="13">
                  <c:v>0.5555702330196022</c:v>
                </c:pt>
                <c:pt idx="14">
                  <c:v>0.3826834323650899</c:v>
                </c:pt>
                <c:pt idx="15">
                  <c:v>0.1950903220161286</c:v>
                </c:pt>
                <c:pt idx="16">
                  <c:v>1.2246467991473532e-16</c:v>
                </c:pt>
                <c:pt idx="17">
                  <c:v>-0.19509032201612836</c:v>
                </c:pt>
                <c:pt idx="18">
                  <c:v>-0.38268343236508967</c:v>
                </c:pt>
                <c:pt idx="19">
                  <c:v>-0.555570233019602</c:v>
                </c:pt>
                <c:pt idx="20">
                  <c:v>-0.7071067811865475</c:v>
                </c:pt>
                <c:pt idx="21">
                  <c:v>-0.8314696123025452</c:v>
                </c:pt>
                <c:pt idx="22">
                  <c:v>-0.9238795325112865</c:v>
                </c:pt>
                <c:pt idx="23">
                  <c:v>-0.9807852804032303</c:v>
                </c:pt>
                <c:pt idx="24">
                  <c:v>-1</c:v>
                </c:pt>
                <c:pt idx="25">
                  <c:v>-0.9807852804032304</c:v>
                </c:pt>
                <c:pt idx="26">
                  <c:v>-0.9238795325112866</c:v>
                </c:pt>
                <c:pt idx="27">
                  <c:v>-0.8314696123025455</c:v>
                </c:pt>
                <c:pt idx="28">
                  <c:v>-0.7071067811865477</c:v>
                </c:pt>
                <c:pt idx="29">
                  <c:v>-0.5555702330196022</c:v>
                </c:pt>
                <c:pt idx="30">
                  <c:v>-0.3826834323650904</c:v>
                </c:pt>
                <c:pt idx="31">
                  <c:v>-0.19509032201612872</c:v>
                </c:pt>
                <c:pt idx="32">
                  <c:v>-2.4492935982947064e-16</c:v>
                </c:pt>
              </c:numCache>
            </c:numRef>
          </c:val>
          <c:smooth val="0"/>
        </c:ser>
        <c:ser>
          <c:idx val="1"/>
          <c:order val="1"/>
          <c:tx>
            <c:strRef>
              <c:f>Sheet1!$C$1</c:f>
              <c:strCache>
                <c:ptCount val="1"/>
                <c:pt idx="0">
                  <c:v>Speaker</c:v>
                </c:pt>
              </c:strCache>
            </c:strRef>
          </c:tx>
          <c:spPr>
            <a:solidFill>
              <a:srgbClr val="919191"/>
            </a:solidFill>
            <a:ln w="31750" cap="flat">
              <a:solidFill>
                <a:srgbClr val="91919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919191"/>
              </a:solidFill>
              <a:ln w="9525" cap="flat">
                <a:solidFill>
                  <a:srgbClr val="919191"/>
                </a:solidFill>
                <a:prstDash val="solid"/>
                <a:round/>
              </a:ln>
              <a:effectLst/>
            </c:spPr>
          </c:marker>
          <c:cat>
            <c:multiLvlStrRef>
              <c:f>Sheet1!$A$2:$A$34</c:f>
              <c:multiLvlStrCache>
                <c:ptCount val="33"/>
                <c:lvl>
                  <c:pt idx="0">
                    <c:v>0</c:v>
                  </c:pt>
                  <c:pt idx="1">
                    <c:v/>
                  </c:pt>
                  <c:pt idx="2">
                    <c:v/>
                  </c:pt>
                  <c:pt idx="3">
                    <c:v/>
                  </c:pt>
                  <c:pt idx="4">
                    <c:v/>
                  </c:pt>
                  <c:pt idx="5">
                    <c:v/>
                  </c:pt>
                  <c:pt idx="6">
                    <c:v/>
                  </c:pt>
                  <c:pt idx="7">
                    <c:v/>
                  </c:pt>
                  <c:pt idx="8">
                    <c:v>0.25</c:v>
                  </c:pt>
                  <c:pt idx="9">
                    <c:v/>
                  </c:pt>
                  <c:pt idx="10">
                    <c:v/>
                  </c:pt>
                  <c:pt idx="11">
                    <c:v/>
                  </c:pt>
                  <c:pt idx="12">
                    <c:v/>
                  </c:pt>
                  <c:pt idx="13">
                    <c:v/>
                  </c:pt>
                  <c:pt idx="14">
                    <c:v/>
                  </c:pt>
                  <c:pt idx="15">
                    <c:v/>
                  </c:pt>
                  <c:pt idx="16">
                    <c:v>0.5</c:v>
                  </c:pt>
                  <c:pt idx="17">
                    <c:v/>
                  </c:pt>
                  <c:pt idx="18">
                    <c:v/>
                  </c:pt>
                  <c:pt idx="19">
                    <c:v/>
                  </c:pt>
                  <c:pt idx="20">
                    <c:v/>
                  </c:pt>
                  <c:pt idx="21">
                    <c:v/>
                  </c:pt>
                  <c:pt idx="22">
                    <c:v/>
                  </c:pt>
                  <c:pt idx="23">
                    <c:v/>
                  </c:pt>
                  <c:pt idx="24">
                    <c:v>0.75</c:v>
                  </c:pt>
                  <c:pt idx="25">
                    <c:v/>
                  </c:pt>
                  <c:pt idx="26">
                    <c:v/>
                  </c:pt>
                  <c:pt idx="27">
                    <c:v/>
                  </c:pt>
                  <c:pt idx="28">
                    <c:v/>
                  </c:pt>
                  <c:pt idx="29">
                    <c:v/>
                  </c:pt>
                  <c:pt idx="30">
                    <c:v/>
                  </c:pt>
                  <c:pt idx="31">
                    <c:v/>
                  </c:pt>
                  <c:pt idx="32">
                    <c:v>1</c:v>
                  </c:pt>
                </c:lvl>
              </c:multiLvlStrCache>
            </c:multiLvlStrRef>
          </c:cat>
          <c:val>
            <c:numRef>
              <c:f>Sheet1!$C$2:$C$34</c:f>
              <c:numCache>
                <c:formatCode>General</c:formatCode>
                <c:ptCount val="33"/>
                <c:pt idx="0">
                  <c:v>0</c:v>
                </c:pt>
                <c:pt idx="1">
                  <c:v>-0.19509032201612825</c:v>
                </c:pt>
                <c:pt idx="2">
                  <c:v>-0.3826834323650898</c:v>
                </c:pt>
                <c:pt idx="3">
                  <c:v>-0.5555702330196022</c:v>
                </c:pt>
                <c:pt idx="4">
                  <c:v>-0.7071067811865475</c:v>
                </c:pt>
                <c:pt idx="5">
                  <c:v>-0.8314696123025452</c:v>
                </c:pt>
                <c:pt idx="6">
                  <c:v>-0.9238795325112867</c:v>
                </c:pt>
                <c:pt idx="7">
                  <c:v>-0.9807852804032304</c:v>
                </c:pt>
                <c:pt idx="8">
                  <c:v>-1</c:v>
                </c:pt>
                <c:pt idx="9">
                  <c:v>-0.9807852804032304</c:v>
                </c:pt>
                <c:pt idx="10">
                  <c:v>-0.9238795325112867</c:v>
                </c:pt>
                <c:pt idx="11">
                  <c:v>-0.8314696123025453</c:v>
                </c:pt>
                <c:pt idx="12">
                  <c:v>-0.7071067811865476</c:v>
                </c:pt>
                <c:pt idx="13">
                  <c:v>-0.5555702330196022</c:v>
                </c:pt>
                <c:pt idx="14">
                  <c:v>-0.3826834323650899</c:v>
                </c:pt>
                <c:pt idx="15">
                  <c:v>-0.1950903220161286</c:v>
                </c:pt>
                <c:pt idx="16">
                  <c:v>-1.2246467991473532e-16</c:v>
                </c:pt>
                <c:pt idx="17">
                  <c:v>0.19509032201612836</c:v>
                </c:pt>
                <c:pt idx="18">
                  <c:v>0.38268343236508967</c:v>
                </c:pt>
                <c:pt idx="19">
                  <c:v>0.555570233019602</c:v>
                </c:pt>
                <c:pt idx="20">
                  <c:v>0.7071067811865475</c:v>
                </c:pt>
                <c:pt idx="21">
                  <c:v>0.8314696123025452</c:v>
                </c:pt>
                <c:pt idx="22">
                  <c:v>0.9238795325112865</c:v>
                </c:pt>
                <c:pt idx="23">
                  <c:v>0.9807852804032303</c:v>
                </c:pt>
                <c:pt idx="24">
                  <c:v>1</c:v>
                </c:pt>
                <c:pt idx="25">
                  <c:v>0.9807852804032304</c:v>
                </c:pt>
                <c:pt idx="26">
                  <c:v>0.9238795325112866</c:v>
                </c:pt>
                <c:pt idx="27">
                  <c:v>0.8314696123025455</c:v>
                </c:pt>
                <c:pt idx="28">
                  <c:v>0.7071067811865477</c:v>
                </c:pt>
                <c:pt idx="29">
                  <c:v>0.5555702330196022</c:v>
                </c:pt>
                <c:pt idx="30">
                  <c:v>0.3826834323650904</c:v>
                </c:pt>
                <c:pt idx="31">
                  <c:v>0.19509032201612872</c:v>
                </c:pt>
                <c:pt idx="32">
                  <c:v>2.4492935982947064e-16</c:v>
                </c:pt>
              </c:numCache>
            </c:numRef>
          </c:val>
          <c:smooth val="0"/>
        </c:ser>
        <c:ser>
          <c:idx val="2"/>
          <c:order val="2"/>
          <c:tx>
            <c:strRef>
              <c:f>Sheet1!$D$1</c:f>
              <c:strCache>
                <c:ptCount val="1"/>
                <c:pt idx="0">
                  <c:v>Sum</c:v>
                </c:pt>
              </c:strCache>
            </c:strRef>
          </c:tx>
          <c:spPr>
            <a:solidFill>
              <a:srgbClr val="B11F4B"/>
            </a:solidFill>
            <a:ln w="31750" cap="flat">
              <a:solidFill>
                <a:srgbClr val="B11F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11F4B"/>
              </a:solidFill>
              <a:ln w="9525" cap="flat">
                <a:solidFill>
                  <a:srgbClr val="B11F4B"/>
                </a:solidFill>
                <a:prstDash val="solid"/>
                <a:round/>
              </a:ln>
              <a:effectLst/>
            </c:spPr>
          </c:marker>
          <c:cat>
            <c:multiLvlStrRef>
              <c:f>Sheet1!$A$2:$A$34</c:f>
              <c:multiLvlStrCache>
                <c:ptCount val="33"/>
                <c:lvl>
                  <c:pt idx="0">
                    <c:v>0</c:v>
                  </c:pt>
                  <c:pt idx="1">
                    <c:v/>
                  </c:pt>
                  <c:pt idx="2">
                    <c:v/>
                  </c:pt>
                  <c:pt idx="3">
                    <c:v/>
                  </c:pt>
                  <c:pt idx="4">
                    <c:v/>
                  </c:pt>
                  <c:pt idx="5">
                    <c:v/>
                  </c:pt>
                  <c:pt idx="6">
                    <c:v/>
                  </c:pt>
                  <c:pt idx="7">
                    <c:v/>
                  </c:pt>
                  <c:pt idx="8">
                    <c:v>0.25</c:v>
                  </c:pt>
                  <c:pt idx="9">
                    <c:v/>
                  </c:pt>
                  <c:pt idx="10">
                    <c:v/>
                  </c:pt>
                  <c:pt idx="11">
                    <c:v/>
                  </c:pt>
                  <c:pt idx="12">
                    <c:v/>
                  </c:pt>
                  <c:pt idx="13">
                    <c:v/>
                  </c:pt>
                  <c:pt idx="14">
                    <c:v/>
                  </c:pt>
                  <c:pt idx="15">
                    <c:v/>
                  </c:pt>
                  <c:pt idx="16">
                    <c:v>0.5</c:v>
                  </c:pt>
                  <c:pt idx="17">
                    <c:v/>
                  </c:pt>
                  <c:pt idx="18">
                    <c:v/>
                  </c:pt>
                  <c:pt idx="19">
                    <c:v/>
                  </c:pt>
                  <c:pt idx="20">
                    <c:v/>
                  </c:pt>
                  <c:pt idx="21">
                    <c:v/>
                  </c:pt>
                  <c:pt idx="22">
                    <c:v/>
                  </c:pt>
                  <c:pt idx="23">
                    <c:v/>
                  </c:pt>
                  <c:pt idx="24">
                    <c:v>0.75</c:v>
                  </c:pt>
                  <c:pt idx="25">
                    <c:v/>
                  </c:pt>
                  <c:pt idx="26">
                    <c:v/>
                  </c:pt>
                  <c:pt idx="27">
                    <c:v/>
                  </c:pt>
                  <c:pt idx="28">
                    <c:v/>
                  </c:pt>
                  <c:pt idx="29">
                    <c:v/>
                  </c:pt>
                  <c:pt idx="30">
                    <c:v/>
                  </c:pt>
                  <c:pt idx="31">
                    <c:v/>
                  </c:pt>
                  <c:pt idx="32">
                    <c:v>1</c:v>
                  </c:pt>
                </c:lvl>
              </c:multiLvlStrCache>
            </c:multiLvlStrRef>
          </c:cat>
          <c:val>
            <c:numRef>
              <c:f>Sheet1!$D$2:$D$34</c:f>
              <c:numCache>
                <c:formatCode>General</c:formatCode>
                <c:ptCount val="33"/>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
          <c:min val="-2"/>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solidFill>
          <a:srgbClr val="FFFFFF"/>
        </a:solidFill>
        <a:ln>
          <a:noFill/>
        </a:ln>
        <a:effectLst/>
      </c:spPr>
    </c:plotArea>
    <c:legend>
      <c:legendPos val="b"/>
      <c:overlay val="0"/>
      <c:txPr>
        <a:bodyPr/>
        <a:lstStyle/>
        <a:p>
          <a:pPr>
            <a:defRPr sz="1300">      </a:defRPr>
          </a:pPr>
          <a:endParaRPr lang="en-US"/>
        </a:p>
      </c:txPr>
    </c:legend>
    <c:plotVisOnly val="1"/>
    <c:dispBlanksAs val="span"/>
  </c:chart>
  <c:spPr>
    <a:solidFill>
      <a:srgbClr val="F7F4EF"/>
    </a:solidFill>
    <a:ln w="12700" cap="flat">
      <a:solidFill>
        <a:srgbClr val="F7F4EF"/>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Incoming</c:v>
                </c:pt>
              </c:strCache>
            </c:strRef>
          </c:tx>
          <c:spPr>
            <a:solidFill>
              <a:srgbClr val="242424"/>
            </a:solidFill>
            <a:ln w="31750" cap="flat">
              <a:solidFill>
                <a:srgbClr val="2424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42424"/>
              </a:solidFill>
              <a:ln w="9525" cap="flat">
                <a:solidFill>
                  <a:srgbClr val="242424"/>
                </a:solidFill>
                <a:prstDash val="solid"/>
                <a:round/>
              </a:ln>
              <a:effectLst/>
            </c:spPr>
          </c:marker>
          <c:cat>
            <c:multiLvlStrRef>
              <c:f>Sheet1!$A$2:$A$34</c:f>
              <c:multiLvlStrCache>
                <c:ptCount val="33"/>
                <c:lvl>
                  <c:pt idx="0">
                    <c:v>0</c:v>
                  </c:pt>
                  <c:pt idx="1">
                    <c:v/>
                  </c:pt>
                  <c:pt idx="2">
                    <c:v/>
                  </c:pt>
                  <c:pt idx="3">
                    <c:v/>
                  </c:pt>
                  <c:pt idx="4">
                    <c:v/>
                  </c:pt>
                  <c:pt idx="5">
                    <c:v/>
                  </c:pt>
                  <c:pt idx="6">
                    <c:v/>
                  </c:pt>
                  <c:pt idx="7">
                    <c:v/>
                  </c:pt>
                  <c:pt idx="8">
                    <c:v>0.25</c:v>
                  </c:pt>
                  <c:pt idx="9">
                    <c:v/>
                  </c:pt>
                  <c:pt idx="10">
                    <c:v/>
                  </c:pt>
                  <c:pt idx="11">
                    <c:v/>
                  </c:pt>
                  <c:pt idx="12">
                    <c:v/>
                  </c:pt>
                  <c:pt idx="13">
                    <c:v/>
                  </c:pt>
                  <c:pt idx="14">
                    <c:v/>
                  </c:pt>
                  <c:pt idx="15">
                    <c:v/>
                  </c:pt>
                  <c:pt idx="16">
                    <c:v>0.5</c:v>
                  </c:pt>
                  <c:pt idx="17">
                    <c:v/>
                  </c:pt>
                  <c:pt idx="18">
                    <c:v/>
                  </c:pt>
                  <c:pt idx="19">
                    <c:v/>
                  </c:pt>
                  <c:pt idx="20">
                    <c:v/>
                  </c:pt>
                  <c:pt idx="21">
                    <c:v/>
                  </c:pt>
                  <c:pt idx="22">
                    <c:v/>
                  </c:pt>
                  <c:pt idx="23">
                    <c:v/>
                  </c:pt>
                  <c:pt idx="24">
                    <c:v>0.75</c:v>
                  </c:pt>
                  <c:pt idx="25">
                    <c:v/>
                  </c:pt>
                  <c:pt idx="26">
                    <c:v/>
                  </c:pt>
                  <c:pt idx="27">
                    <c:v/>
                  </c:pt>
                  <c:pt idx="28">
                    <c:v/>
                  </c:pt>
                  <c:pt idx="29">
                    <c:v/>
                  </c:pt>
                  <c:pt idx="30">
                    <c:v/>
                  </c:pt>
                  <c:pt idx="31">
                    <c:v/>
                  </c:pt>
                  <c:pt idx="32">
                    <c:v>1</c:v>
                  </c:pt>
                </c:lvl>
              </c:multiLvlStrCache>
            </c:multiLvlStrRef>
          </c:cat>
          <c:val>
            <c:numRef>
              <c:f>Sheet1!$B$2:$B$34</c:f>
              <c:numCache>
                <c:formatCode>General</c:formatCode>
                <c:ptCount val="33"/>
                <c:pt idx="0">
                  <c:v>0</c:v>
                </c:pt>
                <c:pt idx="1">
                  <c:v>0.19509032201612825</c:v>
                </c:pt>
                <c:pt idx="2">
                  <c:v>0.3826834323650898</c:v>
                </c:pt>
                <c:pt idx="3">
                  <c:v>0.5555702330196022</c:v>
                </c:pt>
                <c:pt idx="4">
                  <c:v>0.7071067811865475</c:v>
                </c:pt>
                <c:pt idx="5">
                  <c:v>0.8314696123025452</c:v>
                </c:pt>
                <c:pt idx="6">
                  <c:v>0.9238795325112867</c:v>
                </c:pt>
                <c:pt idx="7">
                  <c:v>0.9807852804032304</c:v>
                </c:pt>
                <c:pt idx="8">
                  <c:v>1</c:v>
                </c:pt>
                <c:pt idx="9">
                  <c:v>0.9807852804032304</c:v>
                </c:pt>
                <c:pt idx="10">
                  <c:v>0.9238795325112867</c:v>
                </c:pt>
                <c:pt idx="11">
                  <c:v>0.8314696123025453</c:v>
                </c:pt>
                <c:pt idx="12">
                  <c:v>0.7071067811865476</c:v>
                </c:pt>
                <c:pt idx="13">
                  <c:v>0.5555702330196022</c:v>
                </c:pt>
                <c:pt idx="14">
                  <c:v>0.3826834323650899</c:v>
                </c:pt>
                <c:pt idx="15">
                  <c:v>0.1950903220161286</c:v>
                </c:pt>
                <c:pt idx="16">
                  <c:v>1.2246467991473532e-16</c:v>
                </c:pt>
                <c:pt idx="17">
                  <c:v>-0.19509032201612836</c:v>
                </c:pt>
                <c:pt idx="18">
                  <c:v>-0.38268343236508967</c:v>
                </c:pt>
                <c:pt idx="19">
                  <c:v>-0.555570233019602</c:v>
                </c:pt>
                <c:pt idx="20">
                  <c:v>-0.7071067811865475</c:v>
                </c:pt>
                <c:pt idx="21">
                  <c:v>-0.8314696123025452</c:v>
                </c:pt>
                <c:pt idx="22">
                  <c:v>-0.9238795325112865</c:v>
                </c:pt>
                <c:pt idx="23">
                  <c:v>-0.9807852804032303</c:v>
                </c:pt>
                <c:pt idx="24">
                  <c:v>-1</c:v>
                </c:pt>
                <c:pt idx="25">
                  <c:v>-0.9807852804032304</c:v>
                </c:pt>
                <c:pt idx="26">
                  <c:v>-0.9238795325112866</c:v>
                </c:pt>
                <c:pt idx="27">
                  <c:v>-0.8314696123025455</c:v>
                </c:pt>
                <c:pt idx="28">
                  <c:v>-0.7071067811865477</c:v>
                </c:pt>
                <c:pt idx="29">
                  <c:v>-0.5555702330196022</c:v>
                </c:pt>
                <c:pt idx="30">
                  <c:v>-0.3826834323650904</c:v>
                </c:pt>
                <c:pt idx="31">
                  <c:v>-0.19509032201612872</c:v>
                </c:pt>
                <c:pt idx="32">
                  <c:v>-2.4492935982947064e-16</c:v>
                </c:pt>
              </c:numCache>
            </c:numRef>
          </c:val>
          <c:smooth val="0"/>
        </c:ser>
        <c:ser>
          <c:idx val="1"/>
          <c:order val="1"/>
          <c:tx>
            <c:strRef>
              <c:f>Sheet1!$C$1</c:f>
              <c:strCache>
                <c:ptCount val="1"/>
                <c:pt idx="0">
                  <c:v>Speaker</c:v>
                </c:pt>
              </c:strCache>
            </c:strRef>
          </c:tx>
          <c:spPr>
            <a:solidFill>
              <a:srgbClr val="919191"/>
            </a:solidFill>
            <a:ln w="31750" cap="flat">
              <a:solidFill>
                <a:srgbClr val="91919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919191"/>
              </a:solidFill>
              <a:ln w="9525" cap="flat">
                <a:solidFill>
                  <a:srgbClr val="919191"/>
                </a:solidFill>
                <a:prstDash val="solid"/>
                <a:round/>
              </a:ln>
              <a:effectLst/>
            </c:spPr>
          </c:marker>
          <c:cat>
            <c:multiLvlStrRef>
              <c:f>Sheet1!$A$2:$A$34</c:f>
              <c:multiLvlStrCache>
                <c:ptCount val="33"/>
                <c:lvl>
                  <c:pt idx="0">
                    <c:v>0</c:v>
                  </c:pt>
                  <c:pt idx="1">
                    <c:v/>
                  </c:pt>
                  <c:pt idx="2">
                    <c:v/>
                  </c:pt>
                  <c:pt idx="3">
                    <c:v/>
                  </c:pt>
                  <c:pt idx="4">
                    <c:v/>
                  </c:pt>
                  <c:pt idx="5">
                    <c:v/>
                  </c:pt>
                  <c:pt idx="6">
                    <c:v/>
                  </c:pt>
                  <c:pt idx="7">
                    <c:v/>
                  </c:pt>
                  <c:pt idx="8">
                    <c:v>0.25</c:v>
                  </c:pt>
                  <c:pt idx="9">
                    <c:v/>
                  </c:pt>
                  <c:pt idx="10">
                    <c:v/>
                  </c:pt>
                  <c:pt idx="11">
                    <c:v/>
                  </c:pt>
                  <c:pt idx="12">
                    <c:v/>
                  </c:pt>
                  <c:pt idx="13">
                    <c:v/>
                  </c:pt>
                  <c:pt idx="14">
                    <c:v/>
                  </c:pt>
                  <c:pt idx="15">
                    <c:v/>
                  </c:pt>
                  <c:pt idx="16">
                    <c:v>0.5</c:v>
                  </c:pt>
                  <c:pt idx="17">
                    <c:v/>
                  </c:pt>
                  <c:pt idx="18">
                    <c:v/>
                  </c:pt>
                  <c:pt idx="19">
                    <c:v/>
                  </c:pt>
                  <c:pt idx="20">
                    <c:v/>
                  </c:pt>
                  <c:pt idx="21">
                    <c:v/>
                  </c:pt>
                  <c:pt idx="22">
                    <c:v/>
                  </c:pt>
                  <c:pt idx="23">
                    <c:v/>
                  </c:pt>
                  <c:pt idx="24">
                    <c:v>0.75</c:v>
                  </c:pt>
                  <c:pt idx="25">
                    <c:v/>
                  </c:pt>
                  <c:pt idx="26">
                    <c:v/>
                  </c:pt>
                  <c:pt idx="27">
                    <c:v/>
                  </c:pt>
                  <c:pt idx="28">
                    <c:v/>
                  </c:pt>
                  <c:pt idx="29">
                    <c:v/>
                  </c:pt>
                  <c:pt idx="30">
                    <c:v/>
                  </c:pt>
                  <c:pt idx="31">
                    <c:v/>
                  </c:pt>
                  <c:pt idx="32">
                    <c:v>1</c:v>
                  </c:pt>
                </c:lvl>
              </c:multiLvlStrCache>
            </c:multiLvlStrRef>
          </c:cat>
          <c:val>
            <c:numRef>
              <c:f>Sheet1!$C$2:$C$34</c:f>
              <c:numCache>
                <c:formatCode>General</c:formatCode>
                <c:ptCount val="33"/>
                <c:pt idx="0">
                  <c:v>1</c:v>
                </c:pt>
                <c:pt idx="1">
                  <c:v>0.9807852804032304</c:v>
                </c:pt>
                <c:pt idx="2">
                  <c:v>0.9238795325112867</c:v>
                </c:pt>
                <c:pt idx="3">
                  <c:v>0.8314696123025452</c:v>
                </c:pt>
                <c:pt idx="4">
                  <c:v>0.7071067811865475</c:v>
                </c:pt>
                <c:pt idx="5">
                  <c:v>0.5555702330196022</c:v>
                </c:pt>
                <c:pt idx="6">
                  <c:v>0.3826834323650898</c:v>
                </c:pt>
                <c:pt idx="7">
                  <c:v>0.19509032201612825</c:v>
                </c:pt>
                <c:pt idx="8">
                  <c:v>0</c:v>
                </c:pt>
                <c:pt idx="9">
                  <c:v>-0.19509032201612825</c:v>
                </c:pt>
                <c:pt idx="10">
                  <c:v>-0.3826834323650898</c:v>
                </c:pt>
                <c:pt idx="11">
                  <c:v>-0.5555702330196021</c:v>
                </c:pt>
                <c:pt idx="12">
                  <c:v>-0.7071067811865475</c:v>
                </c:pt>
                <c:pt idx="13">
                  <c:v>-0.8314696123025453</c:v>
                </c:pt>
                <c:pt idx="14">
                  <c:v>-0.9238795325112867</c:v>
                </c:pt>
                <c:pt idx="15">
                  <c:v>-0.9807852804032304</c:v>
                </c:pt>
                <c:pt idx="16">
                  <c:v>-1</c:v>
                </c:pt>
                <c:pt idx="17">
                  <c:v>-0.9807852804032304</c:v>
                </c:pt>
                <c:pt idx="18">
                  <c:v>-0.9238795325112867</c:v>
                </c:pt>
                <c:pt idx="19">
                  <c:v>-0.8314696123025453</c:v>
                </c:pt>
                <c:pt idx="20">
                  <c:v>-0.7071067811865476</c:v>
                </c:pt>
                <c:pt idx="21">
                  <c:v>-0.5555702330196022</c:v>
                </c:pt>
                <c:pt idx="22">
                  <c:v>-0.3826834323650903</c:v>
                </c:pt>
                <c:pt idx="23">
                  <c:v>-0.1950903220161286</c:v>
                </c:pt>
                <c:pt idx="24">
                  <c:v>-1.2246467991473532e-16</c:v>
                </c:pt>
                <c:pt idx="25">
                  <c:v>0.19509032201612836</c:v>
                </c:pt>
                <c:pt idx="26">
                  <c:v>0.38268343236509006</c:v>
                </c:pt>
                <c:pt idx="27">
                  <c:v>0.555570233019602</c:v>
                </c:pt>
                <c:pt idx="28">
                  <c:v>0.7071067811865475</c:v>
                </c:pt>
                <c:pt idx="29">
                  <c:v>0.8314696123025452</c:v>
                </c:pt>
                <c:pt idx="30">
                  <c:v>0.9238795325112865</c:v>
                </c:pt>
                <c:pt idx="31">
                  <c:v>0.9807852804032303</c:v>
                </c:pt>
                <c:pt idx="32">
                  <c:v>1</c:v>
                </c:pt>
              </c:numCache>
            </c:numRef>
          </c:val>
          <c:smooth val="0"/>
        </c:ser>
        <c:ser>
          <c:idx val="2"/>
          <c:order val="2"/>
          <c:tx>
            <c:strRef>
              <c:f>Sheet1!$D$1</c:f>
              <c:strCache>
                <c:ptCount val="1"/>
                <c:pt idx="0">
                  <c:v>Sum</c:v>
                </c:pt>
              </c:strCache>
            </c:strRef>
          </c:tx>
          <c:spPr>
            <a:solidFill>
              <a:srgbClr val="B11F4B"/>
            </a:solidFill>
            <a:ln w="31750" cap="flat">
              <a:solidFill>
                <a:srgbClr val="B11F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11F4B"/>
              </a:solidFill>
              <a:ln w="9525" cap="flat">
                <a:solidFill>
                  <a:srgbClr val="B11F4B"/>
                </a:solidFill>
                <a:prstDash val="solid"/>
                <a:round/>
              </a:ln>
              <a:effectLst/>
            </c:spPr>
          </c:marker>
          <c:cat>
            <c:multiLvlStrRef>
              <c:f>Sheet1!$A$2:$A$34</c:f>
              <c:multiLvlStrCache>
                <c:ptCount val="33"/>
                <c:lvl>
                  <c:pt idx="0">
                    <c:v>0</c:v>
                  </c:pt>
                  <c:pt idx="1">
                    <c:v/>
                  </c:pt>
                  <c:pt idx="2">
                    <c:v/>
                  </c:pt>
                  <c:pt idx="3">
                    <c:v/>
                  </c:pt>
                  <c:pt idx="4">
                    <c:v/>
                  </c:pt>
                  <c:pt idx="5">
                    <c:v/>
                  </c:pt>
                  <c:pt idx="6">
                    <c:v/>
                  </c:pt>
                  <c:pt idx="7">
                    <c:v/>
                  </c:pt>
                  <c:pt idx="8">
                    <c:v>0.25</c:v>
                  </c:pt>
                  <c:pt idx="9">
                    <c:v/>
                  </c:pt>
                  <c:pt idx="10">
                    <c:v/>
                  </c:pt>
                  <c:pt idx="11">
                    <c:v/>
                  </c:pt>
                  <c:pt idx="12">
                    <c:v/>
                  </c:pt>
                  <c:pt idx="13">
                    <c:v/>
                  </c:pt>
                  <c:pt idx="14">
                    <c:v/>
                  </c:pt>
                  <c:pt idx="15">
                    <c:v/>
                  </c:pt>
                  <c:pt idx="16">
                    <c:v>0.5</c:v>
                  </c:pt>
                  <c:pt idx="17">
                    <c:v/>
                  </c:pt>
                  <c:pt idx="18">
                    <c:v/>
                  </c:pt>
                  <c:pt idx="19">
                    <c:v/>
                  </c:pt>
                  <c:pt idx="20">
                    <c:v/>
                  </c:pt>
                  <c:pt idx="21">
                    <c:v/>
                  </c:pt>
                  <c:pt idx="22">
                    <c:v/>
                  </c:pt>
                  <c:pt idx="23">
                    <c:v/>
                  </c:pt>
                  <c:pt idx="24">
                    <c:v>0.75</c:v>
                  </c:pt>
                  <c:pt idx="25">
                    <c:v/>
                  </c:pt>
                  <c:pt idx="26">
                    <c:v/>
                  </c:pt>
                  <c:pt idx="27">
                    <c:v/>
                  </c:pt>
                  <c:pt idx="28">
                    <c:v/>
                  </c:pt>
                  <c:pt idx="29">
                    <c:v/>
                  </c:pt>
                  <c:pt idx="30">
                    <c:v/>
                  </c:pt>
                  <c:pt idx="31">
                    <c:v/>
                  </c:pt>
                  <c:pt idx="32">
                    <c:v>1</c:v>
                  </c:pt>
                </c:lvl>
              </c:multiLvlStrCache>
            </c:multiLvlStrRef>
          </c:cat>
          <c:val>
            <c:numRef>
              <c:f>Sheet1!$D$2:$D$34</c:f>
              <c:numCache>
                <c:formatCode>General</c:formatCode>
                <c:ptCount val="33"/>
                <c:pt idx="0">
                  <c:v>1</c:v>
                </c:pt>
                <c:pt idx="1">
                  <c:v>1.1758756024193586</c:v>
                </c:pt>
                <c:pt idx="2">
                  <c:v>1.3065629648763766</c:v>
                </c:pt>
                <c:pt idx="3">
                  <c:v>1.3870398453221475</c:v>
                </c:pt>
                <c:pt idx="4">
                  <c:v>1.414213562373095</c:v>
                </c:pt>
                <c:pt idx="5">
                  <c:v>1.3870398453221475</c:v>
                </c:pt>
                <c:pt idx="6">
                  <c:v>1.3065629648763766</c:v>
                </c:pt>
                <c:pt idx="7">
                  <c:v>1.1758756024193586</c:v>
                </c:pt>
                <c:pt idx="8">
                  <c:v>1</c:v>
                </c:pt>
                <c:pt idx="9">
                  <c:v>0.7856949583871022</c:v>
                </c:pt>
                <c:pt idx="10">
                  <c:v>0.5411961001461969</c:v>
                </c:pt>
                <c:pt idx="11">
                  <c:v>0.2758993792829433</c:v>
                </c:pt>
                <c:pt idx="12">
                  <c:v>1.1102230246251565e-16</c:v>
                </c:pt>
                <c:pt idx="13">
                  <c:v>-0.27589937928294317</c:v>
                </c:pt>
                <c:pt idx="14">
                  <c:v>-0.5411961001461969</c:v>
                </c:pt>
                <c:pt idx="15">
                  <c:v>-0.7856949583871018</c:v>
                </c:pt>
                <c:pt idx="16">
                  <c:v>-0.9999999999999999</c:v>
                </c:pt>
                <c:pt idx="17">
                  <c:v>-1.1758756024193588</c:v>
                </c:pt>
                <c:pt idx="18">
                  <c:v>-1.3065629648763764</c:v>
                </c:pt>
                <c:pt idx="19">
                  <c:v>-1.3870398453221473</c:v>
                </c:pt>
                <c:pt idx="20">
                  <c:v>-1.414213562373095</c:v>
                </c:pt>
                <c:pt idx="21">
                  <c:v>-1.3870398453221475</c:v>
                </c:pt>
                <c:pt idx="22">
                  <c:v>-1.3065629648763768</c:v>
                </c:pt>
                <c:pt idx="23">
                  <c:v>-1.1758756024193588</c:v>
                </c:pt>
                <c:pt idx="24">
                  <c:v>-1.0000000000000002</c:v>
                </c:pt>
                <c:pt idx="25">
                  <c:v>-0.785694958387102</c:v>
                </c:pt>
                <c:pt idx="26">
                  <c:v>-0.5411961001461966</c:v>
                </c:pt>
                <c:pt idx="27">
                  <c:v>-0.2758993792829435</c:v>
                </c:pt>
                <c:pt idx="28">
                  <c:v>-2.220446049250313e-16</c:v>
                </c:pt>
                <c:pt idx="29">
                  <c:v>0.27589937928294306</c:v>
                </c:pt>
                <c:pt idx="30">
                  <c:v>0.5411961001461961</c:v>
                </c:pt>
                <c:pt idx="31">
                  <c:v>0.7856949583871016</c:v>
                </c:pt>
                <c:pt idx="32">
                  <c:v>0.9999999999999998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
          <c:min val="-2"/>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solidFill>
          <a:srgbClr val="FFFFFF"/>
        </a:solidFill>
        <a:ln>
          <a:noFill/>
        </a:ln>
        <a:effectLst/>
      </c:spPr>
    </c:plotArea>
    <c:legend>
      <c:legendPos val="b"/>
      <c:overlay val="0"/>
      <c:txPr>
        <a:bodyPr/>
        <a:lstStyle/>
        <a:p>
          <a:pPr>
            <a:defRPr sz="1300">      </a:defRPr>
          </a:pPr>
          <a:endParaRPr lang="en-US"/>
        </a:p>
      </c:txPr>
    </c:legend>
    <c:plotVisOnly val="1"/>
    <c:dispBlanksAs val="span"/>
  </c:chart>
  <c:spPr>
    <a:solidFill>
      <a:srgbClr val="F7F4EF"/>
    </a:solidFill>
    <a:ln w="12700" cap="flat">
      <a:solidFill>
        <a:srgbClr val="F7F4EF"/>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Aha is not a universal report-to-slide template. Research and explanation are distinct acts of authorship. This deck is source-only until approved rendering and application QA.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host follows the chosen workflow. There is no promised automatic dispatch between the two skills. Dossier identity preserves a particular report and ledger; it does not prove the argument is true.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sizing order is explicit dimensions, destination, reading context, then structure. At a fixed display width, more source pixels do not make labels larger. The deck uses native objects rather than screenshots.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slider in the existing HTML recomputes incoming, speaker and summed SVG paths. Start at zero phase mismatch: equal and opposite input pressures sum to zero in this ideal single-tone model. Advance to the next slide to change only the phase, keeping axes and amplitude fixed.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native slide-to-slide causal build changes the phase condition to ninety degrees while retaining the same chart geometry. The sum is no longer zero; the model peak ratio is about 1.41. This is a progressive presentation build, not an authored PowerPoint timing animation or a measured device result. Both charts remain native editable charts.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interface loads three existing records. Revert case: base and ours contain timeout 30; theirs and the recorded result contain 60. Panels here show only the selected line. This is not a new execution of Git.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 changes the condition: both sides replace the same base line differently. The conflict record keeps HEAD at ours and exposes index stages. The missing merge node is an important consequence, not an animation flourish. Clean text merging would not prove program correctness.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HTML packaging does not execute authored code. Browser and Node render steps require reviewed local execution approval. A source receipt is not semantic, visual, native editing, or learning evidence.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video implementation captures deterministic callbacks and encodes with FFmpeg. Sampled changes do not establish meaningful motion or reproducible frames. Watch and listen to a representative pilot before the full video. No speech has been requested in this handoff.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is read-only code inspection, not a new web study or measured skill-effectiveness claim. New examples are not declared completed. Native charts and shapes are authored; actual PowerPoint rendering and representative edits remain to be tested.
Source basis: read-only Aha commit 31ff1331. No repository tests or new Git/ANC experiment were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92929"/>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FD8EA1"/>
                </a:solidFill>
                <a:latin typeface="Segoe UI" pitchFamily="34" charset="0"/>
                <a:ea typeface="Segoe UI" pitchFamily="34" charset="-122"/>
                <a:cs typeface="Segoe UI" pitchFamily="34" charset="-120"/>
              </a:rPr>
              <a:t>AHA / 01</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DEDEDE"/>
                </a:solidFill>
                <a:latin typeface="Segoe UI" pitchFamily="34" charset="0"/>
                <a:ea typeface="Segoe UI" pitchFamily="34" charset="-122"/>
                <a:cs typeface="Segoe UI" pitchFamily="34" charset="-120"/>
              </a:rPr>
              <a:t>Aha turns supported answers into explanations</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DEDEDE"/>
                </a:solidFill>
                <a:latin typeface="Segoe UI" pitchFamily="34" charset="0"/>
                <a:ea typeface="Segoe UI" pitchFamily="34" charset="-122"/>
                <a:cs typeface="Segoe UI" pitchFamily="34" charset="-120"/>
              </a:rPr>
              <a:t>Aha 31ff1331 · two portable skills · fresh source investigation</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DEDEDE"/>
                </a:solidFill>
                <a:latin typeface="Segoe UI" pitchFamily="34" charset="0"/>
                <a:ea typeface="Segoe UI" pitchFamily="34" charset="-122"/>
                <a:cs typeface="Segoe UI" pitchFamily="34" charset="-120"/>
              </a:rPr>
              <a:t>1</a:t>
            </a:r>
            <a:endParaRPr lang="en-US" sz="1100" dirty="0"/>
          </a:p>
        </p:txBody>
      </p:sp>
      <p:sp>
        <p:nvSpPr>
          <p:cNvPr id="6" name="Text 4"/>
          <p:cNvSpPr/>
          <p:nvPr/>
        </p:nvSpPr>
        <p:spPr>
          <a:xfrm>
            <a:off x="640080" y="2148840"/>
            <a:ext cx="7772400" cy="1737360"/>
          </a:xfrm>
          <a:prstGeom prst="rect">
            <a:avLst/>
          </a:prstGeom>
          <a:noFill/>
          <a:ln/>
        </p:spPr>
        <p:txBody>
          <a:bodyPr wrap="square" lIns="0" tIns="0" rIns="0" bIns="0" rtlCol="0" anchor="ctr"/>
          <a:lstStyle/>
          <a:p>
            <a:pPr indent="0" marL="0">
              <a:buNone/>
            </a:pPr>
            <a:r>
              <a:rPr lang="en-US" sz="3200" dirty="0">
                <a:solidFill>
                  <a:srgbClr val="DEDEDE"/>
                </a:solidFill>
                <a:latin typeface="Segoe UI" pitchFamily="34" charset="0"/>
                <a:ea typeface="Segoe UI" pitchFamily="34" charset="-122"/>
                <a:cs typeface="Segoe UI" pitchFamily="34" charset="-120"/>
              </a:rPr>
              <a:t>Find the answer.</a:t>
            </a:r>
            <a:endParaRPr lang="en-US" sz="3200" dirty="0"/>
          </a:p>
          <a:p>
            <a:pPr indent="0" marL="0">
              <a:buNone/>
            </a:pPr>
            <a:r>
              <a:rPr lang="en-US" sz="3200" dirty="0">
                <a:solidFill>
                  <a:srgbClr val="DEDEDE"/>
                </a:solidFill>
                <a:latin typeface="Segoe UI" pitchFamily="34" charset="0"/>
                <a:ea typeface="Segoe UI" pitchFamily="34" charset="-122"/>
                <a:cs typeface="Segoe UI" pitchFamily="34" charset="-120"/>
              </a:rPr>
              <a:t>Then design how it becomes understandable.</a:t>
            </a:r>
            <a:endParaRPr lang="en-US" sz="3200" dirty="0"/>
          </a:p>
        </p:txBody>
      </p:sp>
      <p:sp>
        <p:nvSpPr>
          <p:cNvPr id="7" name="Shape 5"/>
          <p:cNvSpPr/>
          <p:nvPr/>
        </p:nvSpPr>
        <p:spPr>
          <a:xfrm>
            <a:off x="9372600" y="2240280"/>
            <a:ext cx="1920240" cy="1920240"/>
          </a:xfrm>
          <a:prstGeom prst="rect">
            <a:avLst/>
          </a:prstGeom>
          <a:solidFill>
            <a:srgbClr val="292929"/>
          </a:solidFill>
          <a:ln w="38100">
            <a:solidFill>
              <a:srgbClr val="FD8EA1"/>
            </a:solidFill>
            <a:prstDash val="solid"/>
          </a:ln>
        </p:spPr>
      </p:sp>
      <p:sp>
        <p:nvSpPr>
          <p:cNvPr id="8" name="Text 6"/>
          <p:cNvSpPr/>
          <p:nvPr/>
        </p:nvSpPr>
        <p:spPr>
          <a:xfrm>
            <a:off x="9784080" y="2432304"/>
            <a:ext cx="1097280" cy="1005840"/>
          </a:xfrm>
          <a:prstGeom prst="rect">
            <a:avLst/>
          </a:prstGeom>
          <a:noFill/>
          <a:ln/>
        </p:spPr>
        <p:txBody>
          <a:bodyPr wrap="square" lIns="0" tIns="0" rIns="0" bIns="0" rtlCol="0" anchor="ctr"/>
          <a:lstStyle/>
          <a:p>
            <a:pPr indent="0" marL="0">
              <a:buNone/>
            </a:pPr>
            <a:r>
              <a:rPr lang="en-US" sz="6400" b="1" dirty="0">
                <a:solidFill>
                  <a:srgbClr val="FD8EA1"/>
                </a:solidFill>
                <a:latin typeface="Segoe UI" pitchFamily="34" charset="0"/>
                <a:ea typeface="Segoe UI" pitchFamily="34" charset="-122"/>
                <a:cs typeface="Segoe UI" pitchFamily="34" charset="-120"/>
              </a:rPr>
              <a:t>?</a:t>
            </a:r>
            <a:endParaRPr lang="en-US" sz="6400" dirty="0"/>
          </a:p>
        </p:txBody>
      </p:sp>
      <p:sp>
        <p:nvSpPr>
          <p:cNvPr id="9" name="Text 7"/>
          <p:cNvSpPr/>
          <p:nvPr/>
        </p:nvSpPr>
        <p:spPr>
          <a:xfrm>
            <a:off x="640080" y="4937760"/>
            <a:ext cx="10515600" cy="457200"/>
          </a:xfrm>
          <a:prstGeom prst="rect">
            <a:avLst/>
          </a:prstGeom>
          <a:noFill/>
          <a:ln/>
        </p:spPr>
        <p:txBody>
          <a:bodyPr wrap="square" lIns="0" tIns="0" rIns="0" bIns="0" rtlCol="0" anchor="ctr"/>
          <a:lstStyle/>
          <a:p>
            <a:pPr indent="0" marL="0">
              <a:buNone/>
            </a:pPr>
            <a:r>
              <a:rPr lang="en-US" sz="2400" dirty="0">
                <a:solidFill>
                  <a:srgbClr val="FD8EA1"/>
                </a:solidFill>
                <a:latin typeface="Segoe UI" pitchFamily="34" charset="0"/>
                <a:ea typeface="Segoe UI" pitchFamily="34" charset="-122"/>
                <a:cs typeface="Segoe UI" pitchFamily="34" charset="-120"/>
              </a:rPr>
              <a:t>Evidence → authored source → actual review</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B11F4B"/>
                </a:solidFill>
                <a:latin typeface="Segoe UI" pitchFamily="34" charset="0"/>
                <a:ea typeface="Segoe UI" pitchFamily="34" charset="-122"/>
                <a:cs typeface="Segoe UI" pitchFamily="34" charset="-120"/>
              </a:rPr>
              <a:t>AHA / 02</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242424"/>
                </a:solidFill>
                <a:latin typeface="Segoe UI" pitchFamily="34" charset="0"/>
                <a:ea typeface="Segoe UI" pitchFamily="34" charset="-122"/>
                <a:cs typeface="Segoe UI" pitchFamily="34" charset="-120"/>
              </a:rPr>
              <a:t>Two skills share one research snapshot</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5C5C5C"/>
                </a:solidFill>
                <a:latin typeface="Segoe UI" pitchFamily="34" charset="0"/>
                <a:ea typeface="Segoe UI" pitchFamily="34" charset="-122"/>
                <a:cs typeface="Segoe UI" pitchFamily="34" charset="-120"/>
              </a:rPr>
              <a:t>Sources: skills/aha-research; skills/aha-explain; src/research/dossier.ts</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5C5C5C"/>
                </a:solidFill>
                <a:latin typeface="Segoe UI" pitchFamily="34" charset="0"/>
                <a:ea typeface="Segoe UI" pitchFamily="34" charset="-122"/>
                <a:cs typeface="Segoe UI" pitchFamily="34" charset="-120"/>
              </a:rPr>
              <a:t>2</a:t>
            </a:r>
            <a:endParaRPr lang="en-US" sz="1100" dirty="0"/>
          </a:p>
        </p:txBody>
      </p:sp>
      <p:sp>
        <p:nvSpPr>
          <p:cNvPr id="6" name="Shape 4"/>
          <p:cNvSpPr/>
          <p:nvPr/>
        </p:nvSpPr>
        <p:spPr>
          <a:xfrm>
            <a:off x="548640" y="2057400"/>
            <a:ext cx="3291840" cy="2286000"/>
          </a:xfrm>
          <a:prstGeom prst="rect">
            <a:avLst/>
          </a:prstGeom>
          <a:solidFill>
            <a:srgbClr val="F7E8ED"/>
          </a:solidFill>
          <a:ln w="15240">
            <a:solidFill>
              <a:srgbClr val="B11F4B"/>
            </a:solidFill>
            <a:prstDash val="solid"/>
          </a:ln>
        </p:spPr>
      </p:sp>
      <p:sp>
        <p:nvSpPr>
          <p:cNvPr id="7" name="Text 5"/>
          <p:cNvSpPr/>
          <p:nvPr/>
        </p:nvSpPr>
        <p:spPr>
          <a:xfrm>
            <a:off x="749808" y="2221992"/>
            <a:ext cx="2889504" cy="420624"/>
          </a:xfrm>
          <a:prstGeom prst="rect">
            <a:avLst/>
          </a:prstGeom>
          <a:noFill/>
          <a:ln/>
        </p:spPr>
        <p:txBody>
          <a:bodyPr wrap="square" lIns="0" tIns="0" rIns="0" bIns="0" rtlCol="0" anchor="ctr"/>
          <a:lstStyle/>
          <a:p>
            <a:pPr indent="0" marL="0">
              <a:buNone/>
            </a:pPr>
            <a:r>
              <a:rPr lang="en-US" sz="2400" b="1" dirty="0">
                <a:solidFill>
                  <a:srgbClr val="B11F4B"/>
                </a:solidFill>
                <a:latin typeface="Segoe UI" pitchFamily="34" charset="0"/>
                <a:ea typeface="Segoe UI" pitchFamily="34" charset="-122"/>
                <a:cs typeface="Segoe UI" pitchFamily="34" charset="-120"/>
              </a:rPr>
              <a:t>aha-research</a:t>
            </a:r>
            <a:endParaRPr lang="en-US" sz="2400" dirty="0"/>
          </a:p>
        </p:txBody>
      </p:sp>
      <p:sp>
        <p:nvSpPr>
          <p:cNvPr id="8" name="Text 6"/>
          <p:cNvSpPr/>
          <p:nvPr/>
        </p:nvSpPr>
        <p:spPr>
          <a:xfrm>
            <a:off x="749808" y="2770632"/>
            <a:ext cx="2889504" cy="142646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Question → report</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Claims + evidence + gaps</a:t>
            </a:r>
            <a:endParaRPr lang="en-US" sz="2000" dirty="0"/>
          </a:p>
        </p:txBody>
      </p:sp>
      <p:sp>
        <p:nvSpPr>
          <p:cNvPr id="9" name="Shape 7"/>
          <p:cNvSpPr/>
          <p:nvPr/>
        </p:nvSpPr>
        <p:spPr>
          <a:xfrm>
            <a:off x="4462272" y="2057400"/>
            <a:ext cx="3291840" cy="2286000"/>
          </a:xfrm>
          <a:prstGeom prst="rect">
            <a:avLst/>
          </a:prstGeom>
          <a:solidFill>
            <a:srgbClr val="FFFFFF"/>
          </a:solidFill>
          <a:ln w="15240">
            <a:solidFill>
              <a:srgbClr val="DEDEDE"/>
            </a:solidFill>
            <a:prstDash val="solid"/>
          </a:ln>
        </p:spPr>
      </p:sp>
      <p:sp>
        <p:nvSpPr>
          <p:cNvPr id="10" name="Text 8"/>
          <p:cNvSpPr/>
          <p:nvPr/>
        </p:nvSpPr>
        <p:spPr>
          <a:xfrm>
            <a:off x="4663440" y="2221992"/>
            <a:ext cx="2889504"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Research Dossier</a:t>
            </a:r>
            <a:endParaRPr lang="en-US" sz="2400" dirty="0"/>
          </a:p>
        </p:txBody>
      </p:sp>
      <p:sp>
        <p:nvSpPr>
          <p:cNvPr id="11" name="Text 9"/>
          <p:cNvSpPr/>
          <p:nvPr/>
        </p:nvSpPr>
        <p:spPr>
          <a:xfrm>
            <a:off x="4663440" y="2770632"/>
            <a:ext cx="2889504" cy="142646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Immutable content identity</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Keep uncertainty visible</a:t>
            </a:r>
            <a:endParaRPr lang="en-US" sz="2000" dirty="0"/>
          </a:p>
        </p:txBody>
      </p:sp>
      <p:sp>
        <p:nvSpPr>
          <p:cNvPr id="12" name="Shape 10"/>
          <p:cNvSpPr/>
          <p:nvPr/>
        </p:nvSpPr>
        <p:spPr>
          <a:xfrm>
            <a:off x="8357616" y="2057400"/>
            <a:ext cx="3291840" cy="2286000"/>
          </a:xfrm>
          <a:prstGeom prst="rect">
            <a:avLst/>
          </a:prstGeom>
          <a:solidFill>
            <a:srgbClr val="F7E8ED"/>
          </a:solidFill>
          <a:ln w="15240">
            <a:solidFill>
              <a:srgbClr val="B11F4B"/>
            </a:solidFill>
            <a:prstDash val="solid"/>
          </a:ln>
        </p:spPr>
      </p:sp>
      <p:sp>
        <p:nvSpPr>
          <p:cNvPr id="13" name="Text 11"/>
          <p:cNvSpPr/>
          <p:nvPr/>
        </p:nvSpPr>
        <p:spPr>
          <a:xfrm>
            <a:off x="8558784" y="2221992"/>
            <a:ext cx="2889504" cy="420624"/>
          </a:xfrm>
          <a:prstGeom prst="rect">
            <a:avLst/>
          </a:prstGeom>
          <a:noFill/>
          <a:ln/>
        </p:spPr>
        <p:txBody>
          <a:bodyPr wrap="square" lIns="0" tIns="0" rIns="0" bIns="0" rtlCol="0" anchor="ctr"/>
          <a:lstStyle/>
          <a:p>
            <a:pPr indent="0" marL="0">
              <a:buNone/>
            </a:pPr>
            <a:r>
              <a:rPr lang="en-US" sz="2400" b="1" dirty="0">
                <a:solidFill>
                  <a:srgbClr val="B11F4B"/>
                </a:solidFill>
                <a:latin typeface="Segoe UI" pitchFamily="34" charset="0"/>
                <a:ea typeface="Segoe UI" pitchFamily="34" charset="-122"/>
                <a:cs typeface="Segoe UI" pitchFamily="34" charset="-120"/>
              </a:rPr>
              <a:t>aha-explain</a:t>
            </a:r>
            <a:endParaRPr lang="en-US" sz="2400" dirty="0"/>
          </a:p>
        </p:txBody>
      </p:sp>
      <p:sp>
        <p:nvSpPr>
          <p:cNvPr id="14" name="Text 12"/>
          <p:cNvSpPr/>
          <p:nvPr/>
        </p:nvSpPr>
        <p:spPr>
          <a:xfrm>
            <a:off x="8558784" y="2770632"/>
            <a:ext cx="2889504" cy="142646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Initialize → author</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Check → approve → inspect</a:t>
            </a:r>
            <a:endParaRPr lang="en-US" sz="2000" dirty="0"/>
          </a:p>
        </p:txBody>
      </p:sp>
      <p:sp>
        <p:nvSpPr>
          <p:cNvPr id="15" name="Shape 13"/>
          <p:cNvSpPr/>
          <p:nvPr/>
        </p:nvSpPr>
        <p:spPr>
          <a:xfrm>
            <a:off x="3858768" y="3108960"/>
            <a:ext cx="557784" cy="0"/>
          </a:xfrm>
          <a:prstGeom prst="line">
            <a:avLst/>
          </a:prstGeom>
          <a:noFill/>
          <a:ln w="30480">
            <a:solidFill>
              <a:srgbClr val="5C5C5C"/>
            </a:solidFill>
            <a:prstDash val="solid"/>
            <a:headEnd type="none"/>
            <a:tailEnd type="triangle"/>
          </a:ln>
        </p:spPr>
      </p:sp>
      <p:sp>
        <p:nvSpPr>
          <p:cNvPr id="16" name="Shape 14"/>
          <p:cNvSpPr/>
          <p:nvPr/>
        </p:nvSpPr>
        <p:spPr>
          <a:xfrm>
            <a:off x="7763256" y="3108960"/>
            <a:ext cx="539496" cy="0"/>
          </a:xfrm>
          <a:prstGeom prst="line">
            <a:avLst/>
          </a:prstGeom>
          <a:noFill/>
          <a:ln w="30480">
            <a:solidFill>
              <a:srgbClr val="5C5C5C"/>
            </a:solidFill>
            <a:prstDash val="solid"/>
            <a:headEnd type="none"/>
            <a:tailEnd type="triangle"/>
          </a:ln>
        </p:spPr>
      </p:sp>
      <p:sp>
        <p:nvSpPr>
          <p:cNvPr id="17" name="Text 15"/>
          <p:cNvSpPr/>
          <p:nvPr/>
        </p:nvSpPr>
        <p:spPr>
          <a:xfrm>
            <a:off x="731520" y="4937760"/>
            <a:ext cx="10698480" cy="640080"/>
          </a:xfrm>
          <a:prstGeom prst="rect">
            <a:avLst/>
          </a:prstGeom>
          <a:noFill/>
          <a:ln/>
        </p:spPr>
        <p:txBody>
          <a:bodyPr wrap="square" lIns="0" tIns="0" rIns="0" bIns="0" rtlCol="0" anchor="ctr"/>
          <a:lstStyle/>
          <a:p>
            <a:pPr indent="0" marL="0">
              <a:buNone/>
            </a:pPr>
            <a:r>
              <a:rPr lang="en-US" sz="2500" dirty="0">
                <a:solidFill>
                  <a:srgbClr val="242424"/>
                </a:solidFill>
                <a:latin typeface="Segoe UI" pitchFamily="34" charset="0"/>
                <a:ea typeface="Segoe UI" pitchFamily="34" charset="-122"/>
                <a:cs typeface="Segoe UI" pitchFamily="34" charset="-120"/>
              </a:rPr>
              <a:t>New evidence creates a new snapshot; it does not silently update old works.</a:t>
            </a:r>
            <a:endParaRPr lang="en-US" sz="2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B11F4B"/>
                </a:solidFill>
                <a:latin typeface="Segoe UI" pitchFamily="34" charset="0"/>
                <a:ea typeface="Segoe UI" pitchFamily="34" charset="-122"/>
                <a:cs typeface="Segoe UI" pitchFamily="34" charset="-120"/>
              </a:rPr>
              <a:t>AHA / 03</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242424"/>
                </a:solidFill>
                <a:latin typeface="Segoe UI" pitchFamily="34" charset="0"/>
                <a:ea typeface="Segoe UI" pitchFamily="34" charset="-122"/>
                <a:cs typeface="Segoe UI" pitchFamily="34" charset="-120"/>
              </a:rPr>
              <a:t>Share evidence, not the same composition</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5C5C5C"/>
                </a:solidFill>
                <a:latin typeface="Segoe UI" pitchFamily="34" charset="0"/>
                <a:ea typeface="Segoe UI" pitchFamily="34" charset="-122"/>
                <a:cs typeface="Segoe UI" pitchFamily="34" charset="-120"/>
              </a:rPr>
              <a:t>Sources: artifact-authoring.md; HTML / image / PPTX / video guides</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5C5C5C"/>
                </a:solidFill>
                <a:latin typeface="Segoe UI" pitchFamily="34" charset="0"/>
                <a:ea typeface="Segoe UI" pitchFamily="34" charset="-122"/>
                <a:cs typeface="Segoe UI" pitchFamily="34" charset="-120"/>
              </a:rPr>
              <a:t>3</a:t>
            </a:r>
            <a:endParaRPr lang="en-US" sz="1100" dirty="0"/>
          </a:p>
        </p:txBody>
      </p:sp>
      <p:sp>
        <p:nvSpPr>
          <p:cNvPr id="6" name="Shape 4"/>
          <p:cNvSpPr/>
          <p:nvPr/>
        </p:nvSpPr>
        <p:spPr>
          <a:xfrm>
            <a:off x="640080" y="1938528"/>
            <a:ext cx="5257800" cy="1554480"/>
          </a:xfrm>
          <a:prstGeom prst="rect">
            <a:avLst/>
          </a:prstGeom>
          <a:solidFill>
            <a:srgbClr val="FFFFFF"/>
          </a:solidFill>
          <a:ln w="15240">
            <a:solidFill>
              <a:srgbClr val="DEDEDE"/>
            </a:solidFill>
            <a:prstDash val="solid"/>
          </a:ln>
        </p:spPr>
      </p:sp>
      <p:sp>
        <p:nvSpPr>
          <p:cNvPr id="7" name="Text 5"/>
          <p:cNvSpPr/>
          <p:nvPr/>
        </p:nvSpPr>
        <p:spPr>
          <a:xfrm>
            <a:off x="841248" y="2103120"/>
            <a:ext cx="4855464"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HTML</a:t>
            </a:r>
            <a:endParaRPr lang="en-US" sz="2400" dirty="0"/>
          </a:p>
        </p:txBody>
      </p:sp>
      <p:sp>
        <p:nvSpPr>
          <p:cNvPr id="8" name="Text 6"/>
          <p:cNvSpPr/>
          <p:nvPr/>
        </p:nvSpPr>
        <p:spPr>
          <a:xfrm>
            <a:off x="841248" y="2651760"/>
            <a:ext cx="4855464" cy="69494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Explore a condition</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Inspect a record</a:t>
            </a:r>
            <a:endParaRPr lang="en-US" sz="2000" dirty="0"/>
          </a:p>
        </p:txBody>
      </p:sp>
      <p:sp>
        <p:nvSpPr>
          <p:cNvPr id="9" name="Shape 7"/>
          <p:cNvSpPr/>
          <p:nvPr/>
        </p:nvSpPr>
        <p:spPr>
          <a:xfrm>
            <a:off x="6217920" y="1938528"/>
            <a:ext cx="5257800" cy="1554480"/>
          </a:xfrm>
          <a:prstGeom prst="rect">
            <a:avLst/>
          </a:prstGeom>
          <a:solidFill>
            <a:srgbClr val="F7E8ED"/>
          </a:solidFill>
          <a:ln w="15240">
            <a:solidFill>
              <a:srgbClr val="B11F4B"/>
            </a:solidFill>
            <a:prstDash val="solid"/>
          </a:ln>
        </p:spPr>
      </p:sp>
      <p:sp>
        <p:nvSpPr>
          <p:cNvPr id="10" name="Text 8"/>
          <p:cNvSpPr/>
          <p:nvPr/>
        </p:nvSpPr>
        <p:spPr>
          <a:xfrm>
            <a:off x="6419088" y="2103120"/>
            <a:ext cx="4855464" cy="420624"/>
          </a:xfrm>
          <a:prstGeom prst="rect">
            <a:avLst/>
          </a:prstGeom>
          <a:noFill/>
          <a:ln/>
        </p:spPr>
        <p:txBody>
          <a:bodyPr wrap="square" lIns="0" tIns="0" rIns="0" bIns="0" rtlCol="0" anchor="ctr"/>
          <a:lstStyle/>
          <a:p>
            <a:pPr indent="0" marL="0">
              <a:buNone/>
            </a:pPr>
            <a:r>
              <a:rPr lang="en-US" sz="2400" b="1" dirty="0">
                <a:solidFill>
                  <a:srgbClr val="B11F4B"/>
                </a:solidFill>
                <a:latin typeface="Segoe UI" pitchFamily="34" charset="0"/>
                <a:ea typeface="Segoe UI" pitchFamily="34" charset="-122"/>
                <a:cs typeface="Segoe UI" pitchFamily="34" charset="-120"/>
              </a:rPr>
              <a:t>PNG</a:t>
            </a:r>
            <a:endParaRPr lang="en-US" sz="2400" dirty="0"/>
          </a:p>
        </p:txBody>
      </p:sp>
      <p:sp>
        <p:nvSpPr>
          <p:cNvPr id="11" name="Text 9"/>
          <p:cNvSpPr/>
          <p:nvPr/>
        </p:nvSpPr>
        <p:spPr>
          <a:xfrm>
            <a:off x="6419088" y="2651760"/>
            <a:ext cx="4855464" cy="69494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One self-contained path</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Choose size for display</a:t>
            </a:r>
            <a:endParaRPr lang="en-US" sz="2000" dirty="0"/>
          </a:p>
        </p:txBody>
      </p:sp>
      <p:sp>
        <p:nvSpPr>
          <p:cNvPr id="12" name="Shape 10"/>
          <p:cNvSpPr/>
          <p:nvPr/>
        </p:nvSpPr>
        <p:spPr>
          <a:xfrm>
            <a:off x="640080" y="3639312"/>
            <a:ext cx="5257800" cy="1554480"/>
          </a:xfrm>
          <a:prstGeom prst="rect">
            <a:avLst/>
          </a:prstGeom>
          <a:solidFill>
            <a:srgbClr val="FFFFFF"/>
          </a:solidFill>
          <a:ln w="15240">
            <a:solidFill>
              <a:srgbClr val="DEDEDE"/>
            </a:solidFill>
            <a:prstDash val="solid"/>
          </a:ln>
        </p:spPr>
      </p:sp>
      <p:sp>
        <p:nvSpPr>
          <p:cNvPr id="13" name="Text 11"/>
          <p:cNvSpPr/>
          <p:nvPr/>
        </p:nvSpPr>
        <p:spPr>
          <a:xfrm>
            <a:off x="841248" y="3803904"/>
            <a:ext cx="4855464"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PPTX</a:t>
            </a:r>
            <a:endParaRPr lang="en-US" sz="2400" dirty="0"/>
          </a:p>
        </p:txBody>
      </p:sp>
      <p:sp>
        <p:nvSpPr>
          <p:cNvPr id="14" name="Text 12"/>
          <p:cNvSpPr/>
          <p:nvPr/>
        </p:nvSpPr>
        <p:spPr>
          <a:xfrm>
            <a:off x="841248" y="4352544"/>
            <a:ext cx="4855464" cy="69494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Native text and charts</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Build a spoken sequence</a:t>
            </a:r>
            <a:endParaRPr lang="en-US" sz="2000" dirty="0"/>
          </a:p>
        </p:txBody>
      </p:sp>
      <p:sp>
        <p:nvSpPr>
          <p:cNvPr id="15" name="Shape 13"/>
          <p:cNvSpPr/>
          <p:nvPr/>
        </p:nvSpPr>
        <p:spPr>
          <a:xfrm>
            <a:off x="6217920" y="3639312"/>
            <a:ext cx="5257800" cy="1554480"/>
          </a:xfrm>
          <a:prstGeom prst="rect">
            <a:avLst/>
          </a:prstGeom>
          <a:solidFill>
            <a:srgbClr val="FFFFFF"/>
          </a:solidFill>
          <a:ln w="15240">
            <a:solidFill>
              <a:srgbClr val="DEDEDE"/>
            </a:solidFill>
            <a:prstDash val="solid"/>
          </a:ln>
        </p:spPr>
      </p:sp>
      <p:sp>
        <p:nvSpPr>
          <p:cNvPr id="16" name="Text 14"/>
          <p:cNvSpPr/>
          <p:nvPr/>
        </p:nvSpPr>
        <p:spPr>
          <a:xfrm>
            <a:off x="6419088" y="3803904"/>
            <a:ext cx="4855464"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Video</a:t>
            </a:r>
            <a:endParaRPr lang="en-US" sz="2400" dirty="0"/>
          </a:p>
        </p:txBody>
      </p:sp>
      <p:sp>
        <p:nvSpPr>
          <p:cNvPr id="17" name="Text 15"/>
          <p:cNvSpPr/>
          <p:nvPr/>
        </p:nvSpPr>
        <p:spPr>
          <a:xfrm>
            <a:off x="6419088" y="4352544"/>
            <a:ext cx="4855464" cy="69494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Change condition over time</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Show the consequence</a:t>
            </a:r>
            <a:endParaRPr lang="en-US" sz="2000" dirty="0"/>
          </a:p>
        </p:txBody>
      </p:sp>
      <p:sp>
        <p:nvSpPr>
          <p:cNvPr id="18" name="Text 16"/>
          <p:cNvSpPr/>
          <p:nvPr/>
        </p:nvSpPr>
        <p:spPr>
          <a:xfrm>
            <a:off x="731520" y="5522976"/>
            <a:ext cx="10789920" cy="384048"/>
          </a:xfrm>
          <a:prstGeom prst="rect">
            <a:avLst/>
          </a:prstGeom>
          <a:noFill/>
          <a:ln/>
        </p:spPr>
        <p:txBody>
          <a:bodyPr wrap="square" lIns="0" tIns="0" rIns="0" bIns="0" rtlCol="0" anchor="ctr"/>
          <a:lstStyle/>
          <a:p>
            <a:pPr indent="0" marL="0">
              <a:buNone/>
            </a:pPr>
            <a:r>
              <a:rPr lang="en-US" sz="2000" dirty="0">
                <a:solidFill>
                  <a:srgbClr val="5C5C5C"/>
                </a:solidFill>
                <a:latin typeface="Segoe UI" pitchFamily="34" charset="0"/>
                <a:ea typeface="Segoe UI" pitchFamily="34" charset="-122"/>
                <a:cs typeface="Segoe UI" pitchFamily="34" charset="-120"/>
              </a:rPr>
              <a:t>1080 × 1800 here is a scrollable brief—not Aha’s design default.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B11F4B"/>
                </a:solidFill>
                <a:latin typeface="Segoe UI" pitchFamily="34" charset="0"/>
                <a:ea typeface="Segoe UI" pitchFamily="34" charset="-122"/>
                <a:cs typeface="Segoe UI" pitchFamily="34" charset="-120"/>
              </a:rPr>
              <a:t>AHA / 04</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242424"/>
                </a:solidFill>
                <a:latin typeface="Segoe UI" pitchFamily="34" charset="0"/>
                <a:ea typeface="Segoe UI" pitchFamily="34" charset="-122"/>
                <a:cs typeface="Segoe UI" pitchFamily="34" charset="-120"/>
              </a:rPr>
              <a:t>ANC / build 1: opposite pressures cancel</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5C5C5C"/>
                </a:solidFill>
                <a:latin typeface="Segoe UI" pitchFamily="34" charset="0"/>
                <a:ea typeface="Segoe UI" pitchFamily="34" charset="-122"/>
                <a:cs typeface="Segoe UI" pitchFamily="34" charset="-120"/>
              </a:rPr>
              <a:t>Source: examples/anc/projects/html/html/index.html · ideal tone model</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5C5C5C"/>
                </a:solidFill>
                <a:latin typeface="Segoe UI" pitchFamily="34" charset="0"/>
                <a:ea typeface="Segoe UI" pitchFamily="34" charset="-122"/>
                <a:cs typeface="Segoe UI" pitchFamily="34" charset="-120"/>
              </a:rPr>
              <a:t>4</a:t>
            </a:r>
            <a:endParaRPr lang="en-US" sz="1100" dirty="0"/>
          </a:p>
        </p:txBody>
      </p:sp>
      <p:graphicFrame>
        <p:nvGraphicFramePr>
          <p:cNvPr id="6" name="Chart 0" descr=""/>
          <p:cNvGraphicFramePr/>
          <p:nvPr/>
        </p:nvGraphicFramePr>
        <p:xfrm>
          <a:off x="594360" y="1993392"/>
          <a:ext cx="6949440" cy="3429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8138160" y="2240280"/>
            <a:ext cx="3017520" cy="914400"/>
          </a:xfrm>
          <a:prstGeom prst="rect">
            <a:avLst/>
          </a:prstGeom>
          <a:noFill/>
          <a:ln/>
        </p:spPr>
        <p:txBody>
          <a:bodyPr wrap="square" lIns="0" tIns="0" rIns="0" bIns="0" rtlCol="0" anchor="ctr"/>
          <a:lstStyle/>
          <a:p>
            <a:pPr indent="0" marL="0">
              <a:buNone/>
            </a:pPr>
            <a:r>
              <a:rPr lang="en-US" sz="6400" b="1" dirty="0">
                <a:solidFill>
                  <a:srgbClr val="B11F4B"/>
                </a:solidFill>
                <a:latin typeface="Segoe UI" pitchFamily="34" charset="0"/>
                <a:ea typeface="Segoe UI" pitchFamily="34" charset="-122"/>
                <a:cs typeface="Segoe UI" pitchFamily="34" charset="-120"/>
              </a:rPr>
              <a:t>0°</a:t>
            </a:r>
            <a:endParaRPr lang="en-US" sz="6400" dirty="0"/>
          </a:p>
        </p:txBody>
      </p:sp>
      <p:sp>
        <p:nvSpPr>
          <p:cNvPr id="8" name="Text 5"/>
          <p:cNvSpPr/>
          <p:nvPr/>
        </p:nvSpPr>
        <p:spPr>
          <a:xfrm>
            <a:off x="8138160" y="3127248"/>
            <a:ext cx="3200400" cy="502920"/>
          </a:xfrm>
          <a:prstGeom prst="rect">
            <a:avLst/>
          </a:prstGeom>
          <a:noFill/>
          <a:ln/>
        </p:spPr>
        <p:txBody>
          <a:bodyPr wrap="square" lIns="0" tIns="0" rIns="0" bIns="0" rtlCol="0" anchor="ctr"/>
          <a:lstStyle/>
          <a:p>
            <a:pPr indent="0" marL="0">
              <a:buNone/>
            </a:pPr>
            <a:r>
              <a:rPr lang="en-US" sz="2200" dirty="0">
                <a:solidFill>
                  <a:srgbClr val="242424"/>
                </a:solidFill>
                <a:latin typeface="Segoe UI" pitchFamily="34" charset="0"/>
                <a:ea typeface="Segoe UI" pitchFamily="34" charset="-122"/>
                <a:cs typeface="Segoe UI" pitchFamily="34" charset="-120"/>
              </a:rPr>
              <a:t>phase mismatch</a:t>
            </a:r>
            <a:endParaRPr lang="en-US" sz="2200" dirty="0"/>
          </a:p>
        </p:txBody>
      </p:sp>
      <p:sp>
        <p:nvSpPr>
          <p:cNvPr id="9" name="Text 6"/>
          <p:cNvSpPr/>
          <p:nvPr/>
        </p:nvSpPr>
        <p:spPr>
          <a:xfrm>
            <a:off x="8138160" y="3749040"/>
            <a:ext cx="3200400" cy="822960"/>
          </a:xfrm>
          <a:prstGeom prst="rect">
            <a:avLst/>
          </a:prstGeom>
          <a:noFill/>
          <a:ln/>
        </p:spPr>
        <p:txBody>
          <a:bodyPr wrap="square" lIns="0" tIns="0" rIns="0" bIns="0" rtlCol="0" anchor="ctr"/>
          <a:lstStyle/>
          <a:p>
            <a:pPr indent="0" marL="0">
              <a:buNone/>
            </a:pPr>
            <a:r>
              <a:rPr lang="en-US" sz="4800" b="1" dirty="0">
                <a:solidFill>
                  <a:srgbClr val="B11F4B"/>
                </a:solidFill>
                <a:latin typeface="Segoe UI" pitchFamily="34" charset="0"/>
                <a:ea typeface="Segoe UI" pitchFamily="34" charset="-122"/>
                <a:cs typeface="Segoe UI" pitchFamily="34" charset="-120"/>
              </a:rPr>
              <a:t>0.00</a:t>
            </a:r>
            <a:endParaRPr lang="en-US" sz="4800" dirty="0"/>
          </a:p>
        </p:txBody>
      </p:sp>
      <p:sp>
        <p:nvSpPr>
          <p:cNvPr id="10" name="Text 7"/>
          <p:cNvSpPr/>
          <p:nvPr/>
        </p:nvSpPr>
        <p:spPr>
          <a:xfrm>
            <a:off x="8138160" y="4572000"/>
            <a:ext cx="3200400" cy="548640"/>
          </a:xfrm>
          <a:prstGeom prst="rect">
            <a:avLst/>
          </a:prstGeom>
          <a:noFill/>
          <a:ln/>
        </p:spPr>
        <p:txBody>
          <a:bodyPr wrap="square" lIns="0" tIns="0" rIns="0" bIns="0" rtlCol="0" anchor="ctr"/>
          <a:lstStyle/>
          <a:p>
            <a:pPr indent="0" marL="0">
              <a:buNone/>
            </a:pPr>
            <a:r>
              <a:rPr lang="en-US" sz="2200" dirty="0">
                <a:solidFill>
                  <a:srgbClr val="242424"/>
                </a:solidFill>
                <a:latin typeface="Segoe UI" pitchFamily="34" charset="0"/>
                <a:ea typeface="Segoe UI" pitchFamily="34" charset="-122"/>
                <a:cs typeface="Segoe UI" pitchFamily="34" charset="-120"/>
              </a:rPr>
              <a:t>residual peak ratio</a:t>
            </a:r>
            <a:endParaRPr lang="en-US" sz="2200" dirty="0"/>
          </a:p>
        </p:txBody>
      </p:sp>
      <p:sp>
        <p:nvSpPr>
          <p:cNvPr id="11" name="Text 8"/>
          <p:cNvSpPr/>
          <p:nvPr/>
        </p:nvSpPr>
        <p:spPr>
          <a:xfrm>
            <a:off x="731520" y="5641848"/>
            <a:ext cx="10698480" cy="365760"/>
          </a:xfrm>
          <a:prstGeom prst="rect">
            <a:avLst/>
          </a:prstGeom>
          <a:noFill/>
          <a:ln/>
        </p:spPr>
        <p:txBody>
          <a:bodyPr wrap="square" lIns="0" tIns="0" rIns="0" bIns="0" rtlCol="0" anchor="ctr"/>
          <a:lstStyle/>
          <a:p>
            <a:pPr indent="0" marL="0">
              <a:buNone/>
            </a:pPr>
            <a:r>
              <a:rPr lang="en-US" sz="1900" dirty="0">
                <a:solidFill>
                  <a:srgbClr val="5C5C5C"/>
                </a:solidFill>
                <a:latin typeface="Segoe UI" pitchFamily="34" charset="0"/>
                <a:ea typeface="Segoe UI" pitchFamily="34" charset="-122"/>
                <a:cs typeface="Segoe UI" pitchFamily="34" charset="-120"/>
              </a:rPr>
              <a:t>Equal input amplitudes. A model—not headset data or perceived loudness.</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B11F4B"/>
                </a:solidFill>
                <a:latin typeface="Segoe UI" pitchFamily="34" charset="0"/>
                <a:ea typeface="Segoe UI" pitchFamily="34" charset="-122"/>
                <a:cs typeface="Segoe UI" pitchFamily="34" charset="-120"/>
              </a:rPr>
              <a:t>AHA / 05</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242424"/>
                </a:solidFill>
                <a:latin typeface="Segoe UI" pitchFamily="34" charset="0"/>
                <a:ea typeface="Segoe UI" pitchFamily="34" charset="-122"/>
                <a:cs typeface="Segoe UI" pitchFamily="34" charset="-120"/>
              </a:rPr>
              <a:t>ANC / build 2: change phase, reveal a residual</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5C5C5C"/>
                </a:solidFill>
                <a:latin typeface="Segoe UI" pitchFamily="34" charset="0"/>
                <a:ea typeface="Segoe UI" pitchFamily="34" charset="-122"/>
                <a:cs typeface="Segoe UI" pitchFamily="34" charset="-120"/>
              </a:rPr>
              <a:t>Source: examples/anc/projects/html/html/index.html · ideal tone model</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5C5C5C"/>
                </a:solidFill>
                <a:latin typeface="Segoe UI" pitchFamily="34" charset="0"/>
                <a:ea typeface="Segoe UI" pitchFamily="34" charset="-122"/>
                <a:cs typeface="Segoe UI" pitchFamily="34" charset="-120"/>
              </a:rPr>
              <a:t>5</a:t>
            </a:r>
            <a:endParaRPr lang="en-US" sz="1100" dirty="0"/>
          </a:p>
        </p:txBody>
      </p:sp>
      <p:graphicFrame>
        <p:nvGraphicFramePr>
          <p:cNvPr id="6" name="Chart 0" descr=""/>
          <p:cNvGraphicFramePr/>
          <p:nvPr/>
        </p:nvGraphicFramePr>
        <p:xfrm>
          <a:off x="594360" y="1993392"/>
          <a:ext cx="6949440" cy="3429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8138160" y="2240280"/>
            <a:ext cx="3017520" cy="914400"/>
          </a:xfrm>
          <a:prstGeom prst="rect">
            <a:avLst/>
          </a:prstGeom>
          <a:noFill/>
          <a:ln/>
        </p:spPr>
        <p:txBody>
          <a:bodyPr wrap="square" lIns="0" tIns="0" rIns="0" bIns="0" rtlCol="0" anchor="ctr"/>
          <a:lstStyle/>
          <a:p>
            <a:pPr indent="0" marL="0">
              <a:buNone/>
            </a:pPr>
            <a:r>
              <a:rPr lang="en-US" sz="6400" b="1" dirty="0">
                <a:solidFill>
                  <a:srgbClr val="B11F4B"/>
                </a:solidFill>
                <a:latin typeface="Segoe UI" pitchFamily="34" charset="0"/>
                <a:ea typeface="Segoe UI" pitchFamily="34" charset="-122"/>
                <a:cs typeface="Segoe UI" pitchFamily="34" charset="-120"/>
              </a:rPr>
              <a:t>90°</a:t>
            </a:r>
            <a:endParaRPr lang="en-US" sz="6400" dirty="0"/>
          </a:p>
        </p:txBody>
      </p:sp>
      <p:sp>
        <p:nvSpPr>
          <p:cNvPr id="8" name="Text 5"/>
          <p:cNvSpPr/>
          <p:nvPr/>
        </p:nvSpPr>
        <p:spPr>
          <a:xfrm>
            <a:off x="8138160" y="3127248"/>
            <a:ext cx="3200400" cy="502920"/>
          </a:xfrm>
          <a:prstGeom prst="rect">
            <a:avLst/>
          </a:prstGeom>
          <a:noFill/>
          <a:ln/>
        </p:spPr>
        <p:txBody>
          <a:bodyPr wrap="square" lIns="0" tIns="0" rIns="0" bIns="0" rtlCol="0" anchor="ctr"/>
          <a:lstStyle/>
          <a:p>
            <a:pPr indent="0" marL="0">
              <a:buNone/>
            </a:pPr>
            <a:r>
              <a:rPr lang="en-US" sz="2200" dirty="0">
                <a:solidFill>
                  <a:srgbClr val="242424"/>
                </a:solidFill>
                <a:latin typeface="Segoe UI" pitchFamily="34" charset="0"/>
                <a:ea typeface="Segoe UI" pitchFamily="34" charset="-122"/>
                <a:cs typeface="Segoe UI" pitchFamily="34" charset="-120"/>
              </a:rPr>
              <a:t>phase mismatch</a:t>
            </a:r>
            <a:endParaRPr lang="en-US" sz="2200" dirty="0"/>
          </a:p>
        </p:txBody>
      </p:sp>
      <p:sp>
        <p:nvSpPr>
          <p:cNvPr id="9" name="Text 6"/>
          <p:cNvSpPr/>
          <p:nvPr/>
        </p:nvSpPr>
        <p:spPr>
          <a:xfrm>
            <a:off x="8138160" y="3749040"/>
            <a:ext cx="3200400" cy="822960"/>
          </a:xfrm>
          <a:prstGeom prst="rect">
            <a:avLst/>
          </a:prstGeom>
          <a:noFill/>
          <a:ln/>
        </p:spPr>
        <p:txBody>
          <a:bodyPr wrap="square" lIns="0" tIns="0" rIns="0" bIns="0" rtlCol="0" anchor="ctr"/>
          <a:lstStyle/>
          <a:p>
            <a:pPr indent="0" marL="0">
              <a:buNone/>
            </a:pPr>
            <a:r>
              <a:rPr lang="en-US" sz="4800" b="1" dirty="0">
                <a:solidFill>
                  <a:srgbClr val="B11F4B"/>
                </a:solidFill>
                <a:latin typeface="Segoe UI" pitchFamily="34" charset="0"/>
                <a:ea typeface="Segoe UI" pitchFamily="34" charset="-122"/>
                <a:cs typeface="Segoe UI" pitchFamily="34" charset="-120"/>
              </a:rPr>
              <a:t>1.41</a:t>
            </a:r>
            <a:endParaRPr lang="en-US" sz="4800" dirty="0"/>
          </a:p>
        </p:txBody>
      </p:sp>
      <p:sp>
        <p:nvSpPr>
          <p:cNvPr id="10" name="Text 7"/>
          <p:cNvSpPr/>
          <p:nvPr/>
        </p:nvSpPr>
        <p:spPr>
          <a:xfrm>
            <a:off x="8138160" y="4572000"/>
            <a:ext cx="3200400" cy="548640"/>
          </a:xfrm>
          <a:prstGeom prst="rect">
            <a:avLst/>
          </a:prstGeom>
          <a:noFill/>
          <a:ln/>
        </p:spPr>
        <p:txBody>
          <a:bodyPr wrap="square" lIns="0" tIns="0" rIns="0" bIns="0" rtlCol="0" anchor="ctr"/>
          <a:lstStyle/>
          <a:p>
            <a:pPr indent="0" marL="0">
              <a:buNone/>
            </a:pPr>
            <a:r>
              <a:rPr lang="en-US" sz="2200" dirty="0">
                <a:solidFill>
                  <a:srgbClr val="242424"/>
                </a:solidFill>
                <a:latin typeface="Segoe UI" pitchFamily="34" charset="0"/>
                <a:ea typeface="Segoe UI" pitchFamily="34" charset="-122"/>
                <a:cs typeface="Segoe UI" pitchFamily="34" charset="-120"/>
              </a:rPr>
              <a:t>residual peak ratio</a:t>
            </a:r>
            <a:endParaRPr lang="en-US" sz="2200" dirty="0"/>
          </a:p>
        </p:txBody>
      </p:sp>
      <p:sp>
        <p:nvSpPr>
          <p:cNvPr id="11" name="Text 8"/>
          <p:cNvSpPr/>
          <p:nvPr/>
        </p:nvSpPr>
        <p:spPr>
          <a:xfrm>
            <a:off x="731520" y="5641848"/>
            <a:ext cx="10698480" cy="365760"/>
          </a:xfrm>
          <a:prstGeom prst="rect">
            <a:avLst/>
          </a:prstGeom>
          <a:noFill/>
          <a:ln/>
        </p:spPr>
        <p:txBody>
          <a:bodyPr wrap="square" lIns="0" tIns="0" rIns="0" bIns="0" rtlCol="0" anchor="ctr"/>
          <a:lstStyle/>
          <a:p>
            <a:pPr indent="0" marL="0">
              <a:buNone/>
            </a:pPr>
            <a:r>
              <a:rPr lang="en-US" sz="1900" dirty="0">
                <a:solidFill>
                  <a:srgbClr val="5C5C5C"/>
                </a:solidFill>
                <a:latin typeface="Segoe UI" pitchFamily="34" charset="0"/>
                <a:ea typeface="Segoe UI" pitchFamily="34" charset="-122"/>
                <a:cs typeface="Segoe UI" pitchFamily="34" charset="-120"/>
              </a:rPr>
              <a:t>Equal input amplitudes. A model—not headset data or perceived loudness.</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B11F4B"/>
                </a:solidFill>
                <a:latin typeface="Segoe UI" pitchFamily="34" charset="0"/>
                <a:ea typeface="Segoe UI" pitchFamily="34" charset="-122"/>
                <a:cs typeface="Segoe UI" pitchFamily="34" charset="-120"/>
              </a:rPr>
              <a:t>AHA / 06</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242424"/>
                </a:solidFill>
                <a:latin typeface="Segoe UI" pitchFamily="34" charset="0"/>
                <a:ea typeface="Segoe UI" pitchFamily="34" charset="-122"/>
                <a:cs typeface="Segoe UI" pitchFamily="34" charset="-120"/>
              </a:rPr>
              <a:t>Git / build 1: a revert leaves no net change</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5C5C5C"/>
                </a:solidFill>
                <a:latin typeface="Segoe UI" pitchFamily="34" charset="0"/>
                <a:ea typeface="Segoe UI" pitchFamily="34" charset="-122"/>
                <a:cs typeface="Segoe UI" pitchFamily="34" charset="-120"/>
              </a:rPr>
              <a:t>Source: examples/git-merge/projects/html/html/index.html · selected embedded-record lines</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5C5C5C"/>
                </a:solidFill>
                <a:latin typeface="Segoe UI" pitchFamily="34" charset="0"/>
                <a:ea typeface="Segoe UI" pitchFamily="34" charset="-122"/>
                <a:cs typeface="Segoe UI" pitchFamily="34" charset="-120"/>
              </a:rPr>
              <a:t>6</a:t>
            </a:r>
            <a:endParaRPr lang="en-US" sz="1100" dirty="0"/>
          </a:p>
        </p:txBody>
      </p:sp>
      <p:sp>
        <p:nvSpPr>
          <p:cNvPr id="6" name="Shape 4"/>
          <p:cNvSpPr/>
          <p:nvPr/>
        </p:nvSpPr>
        <p:spPr>
          <a:xfrm>
            <a:off x="594360" y="1965960"/>
            <a:ext cx="2688336" cy="1463040"/>
          </a:xfrm>
          <a:prstGeom prst="rect">
            <a:avLst/>
          </a:prstGeom>
          <a:solidFill>
            <a:srgbClr val="FFFFFF"/>
          </a:solidFill>
          <a:ln w="15240">
            <a:solidFill>
              <a:srgbClr val="DEDEDE"/>
            </a:solidFill>
            <a:prstDash val="solid"/>
          </a:ln>
        </p:spPr>
      </p:sp>
      <p:sp>
        <p:nvSpPr>
          <p:cNvPr id="7" name="Text 5"/>
          <p:cNvSpPr/>
          <p:nvPr/>
        </p:nvSpPr>
        <p:spPr>
          <a:xfrm>
            <a:off x="795528" y="2130552"/>
            <a:ext cx="2286000"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Base</a:t>
            </a:r>
            <a:endParaRPr lang="en-US" sz="2400" dirty="0"/>
          </a:p>
        </p:txBody>
      </p:sp>
      <p:sp>
        <p:nvSpPr>
          <p:cNvPr id="8" name="Text 6"/>
          <p:cNvSpPr/>
          <p:nvPr/>
        </p:nvSpPr>
        <p:spPr>
          <a:xfrm>
            <a:off x="795528" y="2679192"/>
            <a:ext cx="2286000" cy="60350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timeout = 30</a:t>
            </a:r>
            <a:endParaRPr lang="en-US" sz="2000" dirty="0"/>
          </a:p>
        </p:txBody>
      </p:sp>
      <p:sp>
        <p:nvSpPr>
          <p:cNvPr id="9" name="Shape 7"/>
          <p:cNvSpPr/>
          <p:nvPr/>
        </p:nvSpPr>
        <p:spPr>
          <a:xfrm>
            <a:off x="3502152" y="1965960"/>
            <a:ext cx="2688336" cy="1463040"/>
          </a:xfrm>
          <a:prstGeom prst="rect">
            <a:avLst/>
          </a:prstGeom>
          <a:solidFill>
            <a:srgbClr val="FFFFFF"/>
          </a:solidFill>
          <a:ln w="15240">
            <a:solidFill>
              <a:srgbClr val="DEDEDE"/>
            </a:solidFill>
            <a:prstDash val="solid"/>
          </a:ln>
        </p:spPr>
      </p:sp>
      <p:sp>
        <p:nvSpPr>
          <p:cNvPr id="10" name="Text 8"/>
          <p:cNvSpPr/>
          <p:nvPr/>
        </p:nvSpPr>
        <p:spPr>
          <a:xfrm>
            <a:off x="3703320" y="2130552"/>
            <a:ext cx="2286000"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Ours · reverted</a:t>
            </a:r>
            <a:endParaRPr lang="en-US" sz="2400" dirty="0"/>
          </a:p>
        </p:txBody>
      </p:sp>
      <p:sp>
        <p:nvSpPr>
          <p:cNvPr id="11" name="Text 9"/>
          <p:cNvSpPr/>
          <p:nvPr/>
        </p:nvSpPr>
        <p:spPr>
          <a:xfrm>
            <a:off x="3703320" y="2679192"/>
            <a:ext cx="2286000" cy="60350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timeout = 30</a:t>
            </a:r>
            <a:endParaRPr lang="en-US" sz="2000" dirty="0"/>
          </a:p>
        </p:txBody>
      </p:sp>
      <p:sp>
        <p:nvSpPr>
          <p:cNvPr id="12" name="Shape 10"/>
          <p:cNvSpPr/>
          <p:nvPr/>
        </p:nvSpPr>
        <p:spPr>
          <a:xfrm>
            <a:off x="6409944" y="1965960"/>
            <a:ext cx="2688336" cy="1463040"/>
          </a:xfrm>
          <a:prstGeom prst="rect">
            <a:avLst/>
          </a:prstGeom>
          <a:solidFill>
            <a:srgbClr val="FFFFFF"/>
          </a:solidFill>
          <a:ln w="15240">
            <a:solidFill>
              <a:srgbClr val="DEDEDE"/>
            </a:solidFill>
            <a:prstDash val="solid"/>
          </a:ln>
        </p:spPr>
      </p:sp>
      <p:sp>
        <p:nvSpPr>
          <p:cNvPr id="13" name="Text 11"/>
          <p:cNvSpPr/>
          <p:nvPr/>
        </p:nvSpPr>
        <p:spPr>
          <a:xfrm>
            <a:off x="6611112" y="2130552"/>
            <a:ext cx="2286000"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Theirs</a:t>
            </a:r>
            <a:endParaRPr lang="en-US" sz="2400" dirty="0"/>
          </a:p>
        </p:txBody>
      </p:sp>
      <p:sp>
        <p:nvSpPr>
          <p:cNvPr id="14" name="Text 12"/>
          <p:cNvSpPr/>
          <p:nvPr/>
        </p:nvSpPr>
        <p:spPr>
          <a:xfrm>
            <a:off x="6611112" y="2679192"/>
            <a:ext cx="2286000" cy="60350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timeout = 60</a:t>
            </a:r>
            <a:endParaRPr lang="en-US" sz="2000" dirty="0"/>
          </a:p>
        </p:txBody>
      </p:sp>
      <p:sp>
        <p:nvSpPr>
          <p:cNvPr id="15" name="Shape 13"/>
          <p:cNvSpPr/>
          <p:nvPr/>
        </p:nvSpPr>
        <p:spPr>
          <a:xfrm>
            <a:off x="9317736" y="1965960"/>
            <a:ext cx="2688336" cy="1463040"/>
          </a:xfrm>
          <a:prstGeom prst="rect">
            <a:avLst/>
          </a:prstGeom>
          <a:solidFill>
            <a:srgbClr val="F7E8ED"/>
          </a:solidFill>
          <a:ln w="15240">
            <a:solidFill>
              <a:srgbClr val="B11F4B"/>
            </a:solidFill>
            <a:prstDash val="solid"/>
          </a:ln>
        </p:spPr>
      </p:sp>
      <p:sp>
        <p:nvSpPr>
          <p:cNvPr id="16" name="Text 14"/>
          <p:cNvSpPr/>
          <p:nvPr/>
        </p:nvSpPr>
        <p:spPr>
          <a:xfrm>
            <a:off x="9518904" y="2130552"/>
            <a:ext cx="2286000" cy="420624"/>
          </a:xfrm>
          <a:prstGeom prst="rect">
            <a:avLst/>
          </a:prstGeom>
          <a:noFill/>
          <a:ln/>
        </p:spPr>
        <p:txBody>
          <a:bodyPr wrap="square" lIns="0" tIns="0" rIns="0" bIns="0" rtlCol="0" anchor="ctr"/>
          <a:lstStyle/>
          <a:p>
            <a:pPr indent="0" marL="0">
              <a:buNone/>
            </a:pPr>
            <a:r>
              <a:rPr lang="en-US" sz="2400" b="1" dirty="0">
                <a:solidFill>
                  <a:srgbClr val="B11F4B"/>
                </a:solidFill>
                <a:latin typeface="Segoe UI" pitchFamily="34" charset="0"/>
                <a:ea typeface="Segoe UI" pitchFamily="34" charset="-122"/>
                <a:cs typeface="Segoe UI" pitchFamily="34" charset="-120"/>
              </a:rPr>
              <a:t>Result</a:t>
            </a:r>
            <a:endParaRPr lang="en-US" sz="2400" dirty="0"/>
          </a:p>
        </p:txBody>
      </p:sp>
      <p:sp>
        <p:nvSpPr>
          <p:cNvPr id="17" name="Text 15"/>
          <p:cNvSpPr/>
          <p:nvPr/>
        </p:nvSpPr>
        <p:spPr>
          <a:xfrm>
            <a:off x="9518904" y="2679192"/>
            <a:ext cx="2286000" cy="60350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timeout = 60</a:t>
            </a:r>
            <a:endParaRPr lang="en-US" sz="2000" dirty="0"/>
          </a:p>
        </p:txBody>
      </p:sp>
      <p:sp>
        <p:nvSpPr>
          <p:cNvPr id="18" name="Shape 16"/>
          <p:cNvSpPr/>
          <p:nvPr/>
        </p:nvSpPr>
        <p:spPr>
          <a:xfrm>
            <a:off x="1920240" y="4005072"/>
            <a:ext cx="2651760" cy="0"/>
          </a:xfrm>
          <a:prstGeom prst="line">
            <a:avLst/>
          </a:prstGeom>
          <a:noFill/>
          <a:ln w="30480">
            <a:solidFill>
              <a:srgbClr val="5C5C5C"/>
            </a:solidFill>
            <a:prstDash val="solid"/>
            <a:headEnd type="none"/>
            <a:tailEnd type="triangle"/>
          </a:ln>
        </p:spPr>
      </p:sp>
      <p:sp>
        <p:nvSpPr>
          <p:cNvPr id="19" name="Shape 17"/>
          <p:cNvSpPr/>
          <p:nvPr/>
        </p:nvSpPr>
        <p:spPr>
          <a:xfrm>
            <a:off x="1920240" y="4005072"/>
            <a:ext cx="2651760" cy="1005840"/>
          </a:xfrm>
          <a:prstGeom prst="line">
            <a:avLst/>
          </a:prstGeom>
          <a:noFill/>
          <a:ln w="30480">
            <a:solidFill>
              <a:srgbClr val="5C5C5C"/>
            </a:solidFill>
            <a:prstDash val="solid"/>
            <a:headEnd type="none"/>
            <a:tailEnd type="triangle"/>
          </a:ln>
        </p:spPr>
      </p:sp>
      <p:sp>
        <p:nvSpPr>
          <p:cNvPr id="20" name="Text 18"/>
          <p:cNvSpPr/>
          <p:nvPr/>
        </p:nvSpPr>
        <p:spPr>
          <a:xfrm>
            <a:off x="685800" y="3739896"/>
            <a:ext cx="1005840" cy="365760"/>
          </a:xfrm>
          <a:prstGeom prst="rect">
            <a:avLst/>
          </a:prstGeom>
          <a:noFill/>
          <a:ln/>
        </p:spPr>
        <p:txBody>
          <a:bodyPr wrap="square" lIns="0" tIns="0" rIns="0" bIns="0" rtlCol="0" anchor="ctr"/>
          <a:lstStyle/>
          <a:p>
            <a:pPr indent="0" marL="0">
              <a:buNone/>
            </a:pPr>
            <a:r>
              <a:rPr lang="en-US" sz="1900" dirty="0">
                <a:solidFill>
                  <a:srgbClr val="242424"/>
                </a:solidFill>
                <a:latin typeface="Segoe UI" pitchFamily="34" charset="0"/>
                <a:ea typeface="Segoe UI" pitchFamily="34" charset="-122"/>
                <a:cs typeface="Segoe UI" pitchFamily="34" charset="-120"/>
              </a:rPr>
              <a:t>BASE</a:t>
            </a:r>
            <a:endParaRPr lang="en-US" sz="1900" dirty="0"/>
          </a:p>
        </p:txBody>
      </p:sp>
      <p:sp>
        <p:nvSpPr>
          <p:cNvPr id="21" name="Text 19"/>
          <p:cNvSpPr/>
          <p:nvPr/>
        </p:nvSpPr>
        <p:spPr>
          <a:xfrm>
            <a:off x="4663440" y="3712464"/>
            <a:ext cx="1645920" cy="411480"/>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OURS</a:t>
            </a:r>
            <a:endParaRPr lang="en-US" sz="2000" dirty="0"/>
          </a:p>
        </p:txBody>
      </p:sp>
      <p:sp>
        <p:nvSpPr>
          <p:cNvPr id="22" name="Text 20"/>
          <p:cNvSpPr/>
          <p:nvPr/>
        </p:nvSpPr>
        <p:spPr>
          <a:xfrm>
            <a:off x="4663440" y="4736592"/>
            <a:ext cx="1645920" cy="411480"/>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THEIRS</a:t>
            </a:r>
            <a:endParaRPr lang="en-US" sz="2000" dirty="0"/>
          </a:p>
        </p:txBody>
      </p:sp>
      <p:sp>
        <p:nvSpPr>
          <p:cNvPr id="23" name="Shape 21"/>
          <p:cNvSpPr/>
          <p:nvPr/>
        </p:nvSpPr>
        <p:spPr>
          <a:xfrm>
            <a:off x="6217920" y="4005072"/>
            <a:ext cx="2834640" cy="521208"/>
          </a:xfrm>
          <a:prstGeom prst="line">
            <a:avLst/>
          </a:prstGeom>
          <a:noFill/>
          <a:ln w="30480">
            <a:solidFill>
              <a:srgbClr val="B11F4B"/>
            </a:solidFill>
            <a:prstDash val="solid"/>
            <a:headEnd type="none"/>
            <a:tailEnd type="triangle"/>
          </a:ln>
        </p:spPr>
      </p:sp>
      <p:sp>
        <p:nvSpPr>
          <p:cNvPr id="24" name="Shape 22"/>
          <p:cNvSpPr/>
          <p:nvPr/>
        </p:nvSpPr>
        <p:spPr>
          <a:xfrm flipV="1">
            <a:off x="6217920" y="4526280"/>
            <a:ext cx="2834640" cy="484632"/>
          </a:xfrm>
          <a:prstGeom prst="line">
            <a:avLst/>
          </a:prstGeom>
          <a:noFill/>
          <a:ln w="30480">
            <a:solidFill>
              <a:srgbClr val="B11F4B"/>
            </a:solidFill>
            <a:prstDash val="solid"/>
            <a:headEnd type="none"/>
            <a:tailEnd type="triangle"/>
          </a:ln>
        </p:spPr>
      </p:sp>
      <p:sp>
        <p:nvSpPr>
          <p:cNvPr id="25" name="Shape 23"/>
          <p:cNvSpPr/>
          <p:nvPr/>
        </p:nvSpPr>
        <p:spPr>
          <a:xfrm>
            <a:off x="9052560" y="4023360"/>
            <a:ext cx="2423160" cy="1005840"/>
          </a:xfrm>
          <a:prstGeom prst="rect">
            <a:avLst/>
          </a:prstGeom>
          <a:solidFill>
            <a:srgbClr val="F7E8ED"/>
          </a:solidFill>
          <a:ln w="15240">
            <a:solidFill>
              <a:srgbClr val="B11F4B"/>
            </a:solidFill>
            <a:prstDash val="solid"/>
          </a:ln>
        </p:spPr>
      </p:sp>
      <p:sp>
        <p:nvSpPr>
          <p:cNvPr id="26" name="Text 24"/>
          <p:cNvSpPr/>
          <p:nvPr/>
        </p:nvSpPr>
        <p:spPr>
          <a:xfrm>
            <a:off x="9253728" y="4187952"/>
            <a:ext cx="2020824" cy="420624"/>
          </a:xfrm>
          <a:prstGeom prst="rect">
            <a:avLst/>
          </a:prstGeom>
          <a:noFill/>
          <a:ln/>
        </p:spPr>
        <p:txBody>
          <a:bodyPr wrap="square" lIns="0" tIns="0" rIns="0" bIns="0" rtlCol="0" anchor="ctr"/>
          <a:lstStyle/>
          <a:p>
            <a:pPr indent="0" marL="0">
              <a:buNone/>
            </a:pPr>
            <a:r>
              <a:rPr lang="en-US" sz="2400" b="1" dirty="0">
                <a:solidFill>
                  <a:srgbClr val="B11F4B"/>
                </a:solidFill>
                <a:latin typeface="Segoe UI" pitchFamily="34" charset="0"/>
                <a:ea typeface="Segoe UI" pitchFamily="34" charset="-122"/>
                <a:cs typeface="Segoe UI" pitchFamily="34" charset="-120"/>
              </a:rPr>
              <a:t>Merge · HEAD</a:t>
            </a:r>
            <a:endParaRPr lang="en-US" sz="2400" dirty="0"/>
          </a:p>
        </p:txBody>
      </p:sp>
      <p:sp>
        <p:nvSpPr>
          <p:cNvPr id="27" name="Text 25"/>
          <p:cNvSpPr/>
          <p:nvPr/>
        </p:nvSpPr>
        <p:spPr>
          <a:xfrm>
            <a:off x="685800" y="5605272"/>
            <a:ext cx="10789920" cy="384048"/>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Ours equals base; the record retains their change. History is not a vote.</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B11F4B"/>
                </a:solidFill>
                <a:latin typeface="Segoe UI" pitchFamily="34" charset="0"/>
                <a:ea typeface="Segoe UI" pitchFamily="34" charset="-122"/>
                <a:cs typeface="Segoe UI" pitchFamily="34" charset="-120"/>
              </a:rPr>
              <a:t>AHA / 07</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242424"/>
                </a:solidFill>
                <a:latin typeface="Segoe UI" pitchFamily="34" charset="0"/>
                <a:ea typeface="Segoe UI" pitchFamily="34" charset="-122"/>
                <a:cs typeface="Segoe UI" pitchFamily="34" charset="-120"/>
              </a:rPr>
              <a:t>Git / build 2: two replacements leave a conflict</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5C5C5C"/>
                </a:solidFill>
                <a:latin typeface="Segoe UI" pitchFamily="34" charset="0"/>
                <a:ea typeface="Segoe UI" pitchFamily="34" charset="-122"/>
                <a:cs typeface="Segoe UI" pitchFamily="34" charset="-120"/>
              </a:rPr>
              <a:t>Source: examples/git-merge/projects/html/html/index.html · selected embedded-record lines</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5C5C5C"/>
                </a:solidFill>
                <a:latin typeface="Segoe UI" pitchFamily="34" charset="0"/>
                <a:ea typeface="Segoe UI" pitchFamily="34" charset="-122"/>
                <a:cs typeface="Segoe UI" pitchFamily="34" charset="-120"/>
              </a:rPr>
              <a:t>7</a:t>
            </a:r>
            <a:endParaRPr lang="en-US" sz="1100" dirty="0"/>
          </a:p>
        </p:txBody>
      </p:sp>
      <p:sp>
        <p:nvSpPr>
          <p:cNvPr id="6" name="Shape 4"/>
          <p:cNvSpPr/>
          <p:nvPr/>
        </p:nvSpPr>
        <p:spPr>
          <a:xfrm>
            <a:off x="594360" y="1965960"/>
            <a:ext cx="2688336" cy="1463040"/>
          </a:xfrm>
          <a:prstGeom prst="rect">
            <a:avLst/>
          </a:prstGeom>
          <a:solidFill>
            <a:srgbClr val="FFFFFF"/>
          </a:solidFill>
          <a:ln w="15240">
            <a:solidFill>
              <a:srgbClr val="DEDEDE"/>
            </a:solidFill>
            <a:prstDash val="solid"/>
          </a:ln>
        </p:spPr>
      </p:sp>
      <p:sp>
        <p:nvSpPr>
          <p:cNvPr id="7" name="Text 5"/>
          <p:cNvSpPr/>
          <p:nvPr/>
        </p:nvSpPr>
        <p:spPr>
          <a:xfrm>
            <a:off x="795528" y="2130552"/>
            <a:ext cx="2286000"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Base</a:t>
            </a:r>
            <a:endParaRPr lang="en-US" sz="2400" dirty="0"/>
          </a:p>
        </p:txBody>
      </p:sp>
      <p:sp>
        <p:nvSpPr>
          <p:cNvPr id="8" name="Text 6"/>
          <p:cNvSpPr/>
          <p:nvPr/>
        </p:nvSpPr>
        <p:spPr>
          <a:xfrm>
            <a:off x="795528" y="2679192"/>
            <a:ext cx="2286000" cy="60350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timeout = 30</a:t>
            </a:r>
            <a:endParaRPr lang="en-US" sz="2000" dirty="0"/>
          </a:p>
        </p:txBody>
      </p:sp>
      <p:sp>
        <p:nvSpPr>
          <p:cNvPr id="9" name="Shape 7"/>
          <p:cNvSpPr/>
          <p:nvPr/>
        </p:nvSpPr>
        <p:spPr>
          <a:xfrm>
            <a:off x="3502152" y="1965960"/>
            <a:ext cx="2688336" cy="1463040"/>
          </a:xfrm>
          <a:prstGeom prst="rect">
            <a:avLst/>
          </a:prstGeom>
          <a:solidFill>
            <a:srgbClr val="FFFFFF"/>
          </a:solidFill>
          <a:ln w="15240">
            <a:solidFill>
              <a:srgbClr val="DEDEDE"/>
            </a:solidFill>
            <a:prstDash val="solid"/>
          </a:ln>
        </p:spPr>
      </p:sp>
      <p:sp>
        <p:nvSpPr>
          <p:cNvPr id="10" name="Text 8"/>
          <p:cNvSpPr/>
          <p:nvPr/>
        </p:nvSpPr>
        <p:spPr>
          <a:xfrm>
            <a:off x="3703320" y="2130552"/>
            <a:ext cx="2286000"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Ours</a:t>
            </a:r>
            <a:endParaRPr lang="en-US" sz="2400" dirty="0"/>
          </a:p>
        </p:txBody>
      </p:sp>
      <p:sp>
        <p:nvSpPr>
          <p:cNvPr id="11" name="Text 9"/>
          <p:cNvSpPr/>
          <p:nvPr/>
        </p:nvSpPr>
        <p:spPr>
          <a:xfrm>
            <a:off x="3703320" y="2679192"/>
            <a:ext cx="2286000" cy="60350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timeout = 60</a:t>
            </a:r>
            <a:endParaRPr lang="en-US" sz="2000" dirty="0"/>
          </a:p>
        </p:txBody>
      </p:sp>
      <p:sp>
        <p:nvSpPr>
          <p:cNvPr id="12" name="Shape 10"/>
          <p:cNvSpPr/>
          <p:nvPr/>
        </p:nvSpPr>
        <p:spPr>
          <a:xfrm>
            <a:off x="6409944" y="1965960"/>
            <a:ext cx="2688336" cy="1463040"/>
          </a:xfrm>
          <a:prstGeom prst="rect">
            <a:avLst/>
          </a:prstGeom>
          <a:solidFill>
            <a:srgbClr val="FFFFFF"/>
          </a:solidFill>
          <a:ln w="15240">
            <a:solidFill>
              <a:srgbClr val="DEDEDE"/>
            </a:solidFill>
            <a:prstDash val="solid"/>
          </a:ln>
        </p:spPr>
      </p:sp>
      <p:sp>
        <p:nvSpPr>
          <p:cNvPr id="13" name="Text 11"/>
          <p:cNvSpPr/>
          <p:nvPr/>
        </p:nvSpPr>
        <p:spPr>
          <a:xfrm>
            <a:off x="6611112" y="2130552"/>
            <a:ext cx="2286000"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Theirs</a:t>
            </a:r>
            <a:endParaRPr lang="en-US" sz="2400" dirty="0"/>
          </a:p>
        </p:txBody>
      </p:sp>
      <p:sp>
        <p:nvSpPr>
          <p:cNvPr id="14" name="Text 12"/>
          <p:cNvSpPr/>
          <p:nvPr/>
        </p:nvSpPr>
        <p:spPr>
          <a:xfrm>
            <a:off x="6611112" y="2679192"/>
            <a:ext cx="2286000" cy="60350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timeout = 90</a:t>
            </a:r>
            <a:endParaRPr lang="en-US" sz="2000" dirty="0"/>
          </a:p>
        </p:txBody>
      </p:sp>
      <p:sp>
        <p:nvSpPr>
          <p:cNvPr id="15" name="Shape 13"/>
          <p:cNvSpPr/>
          <p:nvPr/>
        </p:nvSpPr>
        <p:spPr>
          <a:xfrm>
            <a:off x="9317736" y="1965960"/>
            <a:ext cx="2688336" cy="1463040"/>
          </a:xfrm>
          <a:prstGeom prst="rect">
            <a:avLst/>
          </a:prstGeom>
          <a:solidFill>
            <a:srgbClr val="F7E8ED"/>
          </a:solidFill>
          <a:ln w="15240">
            <a:solidFill>
              <a:srgbClr val="B11F4B"/>
            </a:solidFill>
            <a:prstDash val="solid"/>
          </a:ln>
        </p:spPr>
      </p:sp>
      <p:sp>
        <p:nvSpPr>
          <p:cNvPr id="16" name="Text 14"/>
          <p:cNvSpPr/>
          <p:nvPr/>
        </p:nvSpPr>
        <p:spPr>
          <a:xfrm>
            <a:off x="9518904" y="2130552"/>
            <a:ext cx="2286000" cy="420624"/>
          </a:xfrm>
          <a:prstGeom prst="rect">
            <a:avLst/>
          </a:prstGeom>
          <a:noFill/>
          <a:ln/>
        </p:spPr>
        <p:txBody>
          <a:bodyPr wrap="square" lIns="0" tIns="0" rIns="0" bIns="0" rtlCol="0" anchor="ctr"/>
          <a:lstStyle/>
          <a:p>
            <a:pPr indent="0" marL="0">
              <a:buNone/>
            </a:pPr>
            <a:r>
              <a:rPr lang="en-US" sz="2400" b="1" dirty="0">
                <a:solidFill>
                  <a:srgbClr val="B11F4B"/>
                </a:solidFill>
                <a:latin typeface="Segoe UI" pitchFamily="34" charset="0"/>
                <a:ea typeface="Segoe UI" pitchFamily="34" charset="-122"/>
                <a:cs typeface="Segoe UI" pitchFamily="34" charset="-120"/>
              </a:rPr>
              <a:t>Working file</a:t>
            </a:r>
            <a:endParaRPr lang="en-US" sz="2400" dirty="0"/>
          </a:p>
        </p:txBody>
      </p:sp>
      <p:sp>
        <p:nvSpPr>
          <p:cNvPr id="17" name="Text 15"/>
          <p:cNvSpPr/>
          <p:nvPr/>
        </p:nvSpPr>
        <p:spPr>
          <a:xfrm>
            <a:off x="9518904" y="2679192"/>
            <a:ext cx="2286000" cy="60350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diff3 markers:</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60 / 30 / 90</a:t>
            </a:r>
            <a:endParaRPr lang="en-US" sz="2000" dirty="0"/>
          </a:p>
        </p:txBody>
      </p:sp>
      <p:sp>
        <p:nvSpPr>
          <p:cNvPr id="18" name="Shape 16"/>
          <p:cNvSpPr/>
          <p:nvPr/>
        </p:nvSpPr>
        <p:spPr>
          <a:xfrm>
            <a:off x="1920240" y="4005072"/>
            <a:ext cx="2651760" cy="0"/>
          </a:xfrm>
          <a:prstGeom prst="line">
            <a:avLst/>
          </a:prstGeom>
          <a:noFill/>
          <a:ln w="30480">
            <a:solidFill>
              <a:srgbClr val="5C5C5C"/>
            </a:solidFill>
            <a:prstDash val="solid"/>
            <a:headEnd type="none"/>
            <a:tailEnd type="triangle"/>
          </a:ln>
        </p:spPr>
      </p:sp>
      <p:sp>
        <p:nvSpPr>
          <p:cNvPr id="19" name="Shape 17"/>
          <p:cNvSpPr/>
          <p:nvPr/>
        </p:nvSpPr>
        <p:spPr>
          <a:xfrm>
            <a:off x="1920240" y="4005072"/>
            <a:ext cx="2651760" cy="1005840"/>
          </a:xfrm>
          <a:prstGeom prst="line">
            <a:avLst/>
          </a:prstGeom>
          <a:noFill/>
          <a:ln w="30480">
            <a:solidFill>
              <a:srgbClr val="5C5C5C"/>
            </a:solidFill>
            <a:prstDash val="solid"/>
            <a:headEnd type="none"/>
            <a:tailEnd type="triangle"/>
          </a:ln>
        </p:spPr>
      </p:sp>
      <p:sp>
        <p:nvSpPr>
          <p:cNvPr id="20" name="Text 18"/>
          <p:cNvSpPr/>
          <p:nvPr/>
        </p:nvSpPr>
        <p:spPr>
          <a:xfrm>
            <a:off x="685800" y="3739896"/>
            <a:ext cx="1005840" cy="365760"/>
          </a:xfrm>
          <a:prstGeom prst="rect">
            <a:avLst/>
          </a:prstGeom>
          <a:noFill/>
          <a:ln/>
        </p:spPr>
        <p:txBody>
          <a:bodyPr wrap="square" lIns="0" tIns="0" rIns="0" bIns="0" rtlCol="0" anchor="ctr"/>
          <a:lstStyle/>
          <a:p>
            <a:pPr indent="0" marL="0">
              <a:buNone/>
            </a:pPr>
            <a:r>
              <a:rPr lang="en-US" sz="1900" dirty="0">
                <a:solidFill>
                  <a:srgbClr val="242424"/>
                </a:solidFill>
                <a:latin typeface="Segoe UI" pitchFamily="34" charset="0"/>
                <a:ea typeface="Segoe UI" pitchFamily="34" charset="-122"/>
                <a:cs typeface="Segoe UI" pitchFamily="34" charset="-120"/>
              </a:rPr>
              <a:t>BASE</a:t>
            </a:r>
            <a:endParaRPr lang="en-US" sz="1900" dirty="0"/>
          </a:p>
        </p:txBody>
      </p:sp>
      <p:sp>
        <p:nvSpPr>
          <p:cNvPr id="21" name="Text 19"/>
          <p:cNvSpPr/>
          <p:nvPr/>
        </p:nvSpPr>
        <p:spPr>
          <a:xfrm>
            <a:off x="4663440" y="3712464"/>
            <a:ext cx="1645920" cy="411480"/>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OURS</a:t>
            </a:r>
            <a:endParaRPr lang="en-US" sz="2000" dirty="0"/>
          </a:p>
        </p:txBody>
      </p:sp>
      <p:sp>
        <p:nvSpPr>
          <p:cNvPr id="22" name="Text 20"/>
          <p:cNvSpPr/>
          <p:nvPr/>
        </p:nvSpPr>
        <p:spPr>
          <a:xfrm>
            <a:off x="4663440" y="4736592"/>
            <a:ext cx="1645920" cy="411480"/>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THEIRS</a:t>
            </a:r>
            <a:endParaRPr lang="en-US" sz="2000" dirty="0"/>
          </a:p>
        </p:txBody>
      </p:sp>
      <p:sp>
        <p:nvSpPr>
          <p:cNvPr id="23" name="Text 21"/>
          <p:cNvSpPr/>
          <p:nvPr/>
        </p:nvSpPr>
        <p:spPr>
          <a:xfrm>
            <a:off x="7589520" y="3904488"/>
            <a:ext cx="3749040" cy="1005840"/>
          </a:xfrm>
          <a:prstGeom prst="rect">
            <a:avLst/>
          </a:prstGeom>
          <a:noFill/>
          <a:ln/>
        </p:spPr>
        <p:txBody>
          <a:bodyPr wrap="square" lIns="0" tIns="0" rIns="0" bIns="0" rtlCol="0" anchor="ctr"/>
          <a:lstStyle/>
          <a:p>
            <a:pPr indent="0" marL="0">
              <a:buNone/>
            </a:pPr>
            <a:r>
              <a:rPr lang="en-US" sz="2600" b="1" dirty="0">
                <a:solidFill>
                  <a:srgbClr val="B11F4B"/>
                </a:solidFill>
                <a:latin typeface="Segoe UI" pitchFamily="34" charset="0"/>
                <a:ea typeface="Segoe UI" pitchFamily="34" charset="-122"/>
                <a:cs typeface="Segoe UI" pitchFamily="34" charset="-120"/>
              </a:rPr>
              <a:t>No merge commit.</a:t>
            </a:r>
            <a:endParaRPr lang="en-US" sz="2600" dirty="0"/>
          </a:p>
          <a:p>
            <a:pPr indent="0" marL="0">
              <a:buNone/>
            </a:pPr>
            <a:r>
              <a:rPr lang="en-US" sz="2600" b="1" dirty="0">
                <a:solidFill>
                  <a:srgbClr val="B11F4B"/>
                </a:solidFill>
                <a:latin typeface="Segoe UI" pitchFamily="34" charset="0"/>
                <a:ea typeface="Segoe UI" pitchFamily="34" charset="-122"/>
                <a:cs typeface="Segoe UI" pitchFamily="34" charset="-120"/>
              </a:rPr>
              <a:t>HEAD stays at ours.</a:t>
            </a:r>
            <a:endParaRPr lang="en-US" sz="2600" dirty="0"/>
          </a:p>
        </p:txBody>
      </p:sp>
      <p:sp>
        <p:nvSpPr>
          <p:cNvPr id="24" name="Text 22"/>
          <p:cNvSpPr/>
          <p:nvPr/>
        </p:nvSpPr>
        <p:spPr>
          <a:xfrm>
            <a:off x="685800" y="5605272"/>
            <a:ext cx="10789920" cy="384048"/>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Button selects stored conflict state; it does not compute a new merge.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B11F4B"/>
                </a:solidFill>
                <a:latin typeface="Segoe UI" pitchFamily="34" charset="0"/>
                <a:ea typeface="Segoe UI" pitchFamily="34" charset="-122"/>
                <a:cs typeface="Segoe UI" pitchFamily="34" charset="-120"/>
              </a:rPr>
              <a:t>AHA / 08</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242424"/>
                </a:solidFill>
                <a:latin typeface="Segoe UI" pitchFamily="34" charset="0"/>
                <a:ea typeface="Segoe UI" pitchFamily="34" charset="-122"/>
                <a:cs typeface="Segoe UI" pitchFamily="34" charset="-120"/>
              </a:rPr>
              <a:t>A structural check cannot judge the explanation</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5C5C5C"/>
                </a:solidFill>
                <a:latin typeface="Segoe UI" pitchFamily="34" charset="0"/>
                <a:ea typeface="Segoe UI" pitchFamily="34" charset="-122"/>
                <a:cs typeface="Segoe UI" pitchFamily="34" charset="-120"/>
              </a:rPr>
              <a:t>Sources: src/artifacts/project.ts; src/artifacts/render.ts; artifact-qa.md</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5C5C5C"/>
                </a:solidFill>
                <a:latin typeface="Segoe UI" pitchFamily="34" charset="0"/>
                <a:ea typeface="Segoe UI" pitchFamily="34" charset="-122"/>
                <a:cs typeface="Segoe UI" pitchFamily="34" charset="-120"/>
              </a:rPr>
              <a:t>8</a:t>
            </a:r>
            <a:endParaRPr lang="en-US" sz="1100" dirty="0"/>
          </a:p>
        </p:txBody>
      </p:sp>
      <p:sp>
        <p:nvSpPr>
          <p:cNvPr id="6" name="Shape 4"/>
          <p:cNvSpPr/>
          <p:nvPr/>
        </p:nvSpPr>
        <p:spPr>
          <a:xfrm>
            <a:off x="640080" y="1993392"/>
            <a:ext cx="5212080" cy="3246120"/>
          </a:xfrm>
          <a:prstGeom prst="rect">
            <a:avLst/>
          </a:prstGeom>
          <a:solidFill>
            <a:srgbClr val="F7E8ED"/>
          </a:solidFill>
          <a:ln w="15240">
            <a:solidFill>
              <a:srgbClr val="B11F4B"/>
            </a:solidFill>
            <a:prstDash val="solid"/>
          </a:ln>
        </p:spPr>
      </p:sp>
      <p:sp>
        <p:nvSpPr>
          <p:cNvPr id="7" name="Text 5"/>
          <p:cNvSpPr/>
          <p:nvPr/>
        </p:nvSpPr>
        <p:spPr>
          <a:xfrm>
            <a:off x="841248" y="2157984"/>
            <a:ext cx="4809744" cy="420624"/>
          </a:xfrm>
          <a:prstGeom prst="rect">
            <a:avLst/>
          </a:prstGeom>
          <a:noFill/>
          <a:ln/>
        </p:spPr>
        <p:txBody>
          <a:bodyPr wrap="square" lIns="0" tIns="0" rIns="0" bIns="0" rtlCol="0" anchor="ctr"/>
          <a:lstStyle/>
          <a:p>
            <a:pPr indent="0" marL="0">
              <a:buNone/>
            </a:pPr>
            <a:r>
              <a:rPr lang="en-US" sz="2400" b="1" dirty="0">
                <a:solidFill>
                  <a:srgbClr val="B11F4B"/>
                </a:solidFill>
                <a:latin typeface="Segoe UI" pitchFamily="34" charset="0"/>
                <a:ea typeface="Segoe UI" pitchFamily="34" charset="-122"/>
                <a:cs typeface="Segoe UI" pitchFamily="34" charset="-120"/>
              </a:rPr>
              <a:t>Runtime checks</a:t>
            </a:r>
            <a:endParaRPr lang="en-US" sz="2400" dirty="0"/>
          </a:p>
        </p:txBody>
      </p:sp>
      <p:sp>
        <p:nvSpPr>
          <p:cNvPr id="8" name="Text 6"/>
          <p:cNvSpPr/>
          <p:nvPr/>
        </p:nvSpPr>
        <p:spPr>
          <a:xfrm>
            <a:off x="841248" y="2706624"/>
            <a:ext cx="4809744" cy="238658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Known claim IDs</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Research / source identity</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Resource paths and output hashes</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Declared coverage</a:t>
            </a:r>
            <a:endParaRPr lang="en-US" sz="2000" dirty="0"/>
          </a:p>
        </p:txBody>
      </p:sp>
      <p:sp>
        <p:nvSpPr>
          <p:cNvPr id="9" name="Shape 7"/>
          <p:cNvSpPr/>
          <p:nvPr/>
        </p:nvSpPr>
        <p:spPr>
          <a:xfrm>
            <a:off x="6309360" y="1993392"/>
            <a:ext cx="5212080" cy="3246120"/>
          </a:xfrm>
          <a:prstGeom prst="rect">
            <a:avLst/>
          </a:prstGeom>
          <a:solidFill>
            <a:srgbClr val="FFFFFF"/>
          </a:solidFill>
          <a:ln w="15240">
            <a:solidFill>
              <a:srgbClr val="DEDEDE"/>
            </a:solidFill>
            <a:prstDash val="solid"/>
          </a:ln>
        </p:spPr>
      </p:sp>
      <p:sp>
        <p:nvSpPr>
          <p:cNvPr id="10" name="Text 8"/>
          <p:cNvSpPr/>
          <p:nvPr/>
        </p:nvSpPr>
        <p:spPr>
          <a:xfrm>
            <a:off x="6510528" y="2157984"/>
            <a:ext cx="4809744"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Host and reviewer judge</a:t>
            </a:r>
            <a:endParaRPr lang="en-US" sz="2400" dirty="0"/>
          </a:p>
        </p:txBody>
      </p:sp>
      <p:sp>
        <p:nvSpPr>
          <p:cNvPr id="11" name="Text 9"/>
          <p:cNvSpPr/>
          <p:nvPr/>
        </p:nvSpPr>
        <p:spPr>
          <a:xfrm>
            <a:off x="6510528" y="2706624"/>
            <a:ext cx="4809744" cy="238658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Does evidence support the claim?</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Do objects and arrows explain it?</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Is the language clear?</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Can a reader use the real output?</a:t>
            </a:r>
            <a:endParaRPr lang="en-US" sz="2000" dirty="0"/>
          </a:p>
        </p:txBody>
      </p:sp>
      <p:sp>
        <p:nvSpPr>
          <p:cNvPr id="12" name="Text 10"/>
          <p:cNvSpPr/>
          <p:nvPr/>
        </p:nvSpPr>
        <p:spPr>
          <a:xfrm>
            <a:off x="731520" y="5513832"/>
            <a:ext cx="10789920" cy="484632"/>
          </a:xfrm>
          <a:prstGeom prst="rect">
            <a:avLst/>
          </a:prstGeom>
          <a:noFill/>
          <a:ln/>
        </p:spPr>
        <p:txBody>
          <a:bodyPr wrap="square" lIns="0" tIns="0" rIns="0" bIns="0" rtlCol="0" anchor="ctr"/>
          <a:lstStyle/>
          <a:p>
            <a:pPr indent="0" marL="0">
              <a:buNone/>
            </a:pPr>
            <a:r>
              <a:rPr lang="en-US" sz="1900" dirty="0">
                <a:solidFill>
                  <a:srgbClr val="5C5C5C"/>
                </a:solidFill>
                <a:latin typeface="Segoe UI" pitchFamily="34" charset="0"/>
                <a:ea typeface="Segoe UI" pitchFamily="34" charset="-122"/>
                <a:cs typeface="Segoe UI" pitchFamily="34" charset="-120"/>
              </a:rPr>
              <a:t>PPTX Node authoring has host privileges. “--allow-code” is permission, not a sandbox.</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F"/>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B11F4B"/>
                </a:solidFill>
                <a:latin typeface="Segoe UI" pitchFamily="34" charset="0"/>
                <a:ea typeface="Segoe UI" pitchFamily="34" charset="-122"/>
                <a:cs typeface="Segoe UI" pitchFamily="34" charset="-120"/>
              </a:rPr>
              <a:t>AHA / 09</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242424"/>
                </a:solidFill>
                <a:latin typeface="Segoe UI" pitchFamily="34" charset="0"/>
                <a:ea typeface="Segoe UI" pitchFamily="34" charset="-122"/>
                <a:cs typeface="Segoe UI" pitchFamily="34" charset="-120"/>
              </a:rPr>
              <a:t>Video binds narration to a changing visual source</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5C5C5C"/>
                </a:solidFill>
                <a:latin typeface="Segoe UI" pitchFamily="34" charset="0"/>
                <a:ea typeface="Segoe UI" pitchFamily="34" charset="-122"/>
                <a:cs typeface="Segoe UI" pitchFamily="34" charset="-120"/>
              </a:rPr>
              <a:t>Sources: src/media/plan.ts; src/media/video.ts · not Remotion</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5C5C5C"/>
                </a:solidFill>
                <a:latin typeface="Segoe UI" pitchFamily="34" charset="0"/>
                <a:ea typeface="Segoe UI" pitchFamily="34" charset="-122"/>
                <a:cs typeface="Segoe UI" pitchFamily="34" charset="-120"/>
              </a:rPr>
              <a:t>9</a:t>
            </a:r>
            <a:endParaRPr lang="en-US" sz="1100" dirty="0"/>
          </a:p>
        </p:txBody>
      </p:sp>
      <p:sp>
        <p:nvSpPr>
          <p:cNvPr id="6" name="Shape 4"/>
          <p:cNvSpPr/>
          <p:nvPr/>
        </p:nvSpPr>
        <p:spPr>
          <a:xfrm>
            <a:off x="640080" y="2103120"/>
            <a:ext cx="3200400" cy="2103120"/>
          </a:xfrm>
          <a:prstGeom prst="rect">
            <a:avLst/>
          </a:prstGeom>
          <a:solidFill>
            <a:srgbClr val="F7E8ED"/>
          </a:solidFill>
          <a:ln w="15240">
            <a:solidFill>
              <a:srgbClr val="B11F4B"/>
            </a:solidFill>
            <a:prstDash val="solid"/>
          </a:ln>
        </p:spPr>
      </p:sp>
      <p:sp>
        <p:nvSpPr>
          <p:cNvPr id="7" name="Text 5"/>
          <p:cNvSpPr/>
          <p:nvPr/>
        </p:nvSpPr>
        <p:spPr>
          <a:xfrm>
            <a:off x="841248" y="2267712"/>
            <a:ext cx="2798064" cy="420624"/>
          </a:xfrm>
          <a:prstGeom prst="rect">
            <a:avLst/>
          </a:prstGeom>
          <a:noFill/>
          <a:ln/>
        </p:spPr>
        <p:txBody>
          <a:bodyPr wrap="square" lIns="0" tIns="0" rIns="0" bIns="0" rtlCol="0" anchor="ctr"/>
          <a:lstStyle/>
          <a:p>
            <a:pPr indent="0" marL="0">
              <a:buNone/>
            </a:pPr>
            <a:r>
              <a:rPr lang="en-US" sz="2400" b="1" dirty="0">
                <a:solidFill>
                  <a:srgbClr val="B11F4B"/>
                </a:solidFill>
                <a:latin typeface="Segoe UI" pitchFamily="34" charset="0"/>
                <a:ea typeface="Segoe UI" pitchFamily="34" charset="-122"/>
                <a:cs typeface="Segoe UI" pitchFamily="34" charset="-120"/>
              </a:rPr>
              <a:t>Approved plan</a:t>
            </a:r>
            <a:endParaRPr lang="en-US" sz="2400" dirty="0"/>
          </a:p>
        </p:txBody>
      </p:sp>
      <p:sp>
        <p:nvSpPr>
          <p:cNvPr id="8" name="Text 6"/>
          <p:cNvSpPr/>
          <p:nvPr/>
        </p:nvSpPr>
        <p:spPr>
          <a:xfrm>
            <a:off x="841248" y="2816352"/>
            <a:ext cx="2798064" cy="124358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Text + voice + rate</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Research + source identity</a:t>
            </a:r>
            <a:endParaRPr lang="en-US" sz="2000" dirty="0"/>
          </a:p>
        </p:txBody>
      </p:sp>
      <p:sp>
        <p:nvSpPr>
          <p:cNvPr id="9" name="Shape 7"/>
          <p:cNvSpPr/>
          <p:nvPr/>
        </p:nvSpPr>
        <p:spPr>
          <a:xfrm>
            <a:off x="4480560" y="2103120"/>
            <a:ext cx="3200400" cy="2103120"/>
          </a:xfrm>
          <a:prstGeom prst="rect">
            <a:avLst/>
          </a:prstGeom>
          <a:solidFill>
            <a:srgbClr val="FFFFFF"/>
          </a:solidFill>
          <a:ln w="15240">
            <a:solidFill>
              <a:srgbClr val="DEDEDE"/>
            </a:solidFill>
            <a:prstDash val="solid"/>
          </a:ln>
        </p:spPr>
      </p:sp>
      <p:sp>
        <p:nvSpPr>
          <p:cNvPr id="10" name="Text 8"/>
          <p:cNvSpPr/>
          <p:nvPr/>
        </p:nvSpPr>
        <p:spPr>
          <a:xfrm>
            <a:off x="4681728" y="2267712"/>
            <a:ext cx="2798064"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Measured speech</a:t>
            </a:r>
            <a:endParaRPr lang="en-US" sz="2400" dirty="0"/>
          </a:p>
        </p:txBody>
      </p:sp>
      <p:sp>
        <p:nvSpPr>
          <p:cNvPr id="11" name="Text 9"/>
          <p:cNvSpPr/>
          <p:nvPr/>
        </p:nvSpPr>
        <p:spPr>
          <a:xfrm>
            <a:off x="4681728" y="2816352"/>
            <a:ext cx="2798064" cy="124358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Segment duration → frames</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Current plan/audio binding</a:t>
            </a:r>
            <a:endParaRPr lang="en-US" sz="2000" dirty="0"/>
          </a:p>
        </p:txBody>
      </p:sp>
      <p:sp>
        <p:nvSpPr>
          <p:cNvPr id="12" name="Shape 10"/>
          <p:cNvSpPr/>
          <p:nvPr/>
        </p:nvSpPr>
        <p:spPr>
          <a:xfrm>
            <a:off x="8321040" y="2103120"/>
            <a:ext cx="3200400" cy="2103120"/>
          </a:xfrm>
          <a:prstGeom prst="rect">
            <a:avLst/>
          </a:prstGeom>
          <a:solidFill>
            <a:srgbClr val="FFFFFF"/>
          </a:solidFill>
          <a:ln w="15240">
            <a:solidFill>
              <a:srgbClr val="DEDEDE"/>
            </a:solidFill>
            <a:prstDash val="solid"/>
          </a:ln>
        </p:spPr>
      </p:sp>
      <p:sp>
        <p:nvSpPr>
          <p:cNvPr id="13" name="Text 11"/>
          <p:cNvSpPr/>
          <p:nvPr/>
        </p:nvSpPr>
        <p:spPr>
          <a:xfrm>
            <a:off x="8522208" y="2267712"/>
            <a:ext cx="2798064" cy="420624"/>
          </a:xfrm>
          <a:prstGeom prst="rect">
            <a:avLst/>
          </a:prstGeom>
          <a:noFill/>
          <a:ln/>
        </p:spPr>
        <p:txBody>
          <a:bodyPr wrap="square" lIns="0" tIns="0" rIns="0" bIns="0" rtlCol="0" anchor="ctr"/>
          <a:lstStyle/>
          <a:p>
            <a:pPr indent="0" marL="0">
              <a:buNone/>
            </a:pPr>
            <a:r>
              <a:rPr lang="en-US" sz="2400" b="1" dirty="0">
                <a:solidFill>
                  <a:srgbClr val="242424"/>
                </a:solidFill>
                <a:latin typeface="Segoe UI" pitchFamily="34" charset="0"/>
                <a:ea typeface="Segoe UI" pitchFamily="34" charset="-122"/>
                <a:cs typeface="Segoe UI" pitchFamily="34" charset="-120"/>
              </a:rPr>
              <a:t>Frame callback</a:t>
            </a:r>
            <a:endParaRPr lang="en-US" sz="2400" dirty="0"/>
          </a:p>
        </p:txBody>
      </p:sp>
      <p:sp>
        <p:nvSpPr>
          <p:cNvPr id="14" name="Text 12"/>
          <p:cNvSpPr/>
          <p:nvPr/>
        </p:nvSpPr>
        <p:spPr>
          <a:xfrm>
            <a:off x="8522208" y="2816352"/>
            <a:ext cx="2798064" cy="1243584"/>
          </a:xfrm>
          <a:prstGeom prst="rect">
            <a:avLst/>
          </a:prstGeom>
          <a:noFill/>
          <a:ln/>
        </p:spPr>
        <p:txBody>
          <a:bodyPr wrap="square" lIns="0" tIns="0" rIns="0" bIns="0" rtlCol="0" anchor="ctr"/>
          <a:lstStyle/>
          <a:p>
            <a:pPr indent="0" marL="0">
              <a:buNone/>
            </a:pPr>
            <a:r>
              <a:rPr lang="en-US" sz="2000" dirty="0">
                <a:solidFill>
                  <a:srgbClr val="242424"/>
                </a:solidFill>
                <a:latin typeface="Segoe UI" pitchFamily="34" charset="0"/>
                <a:ea typeface="Segoe UI" pitchFamily="34" charset="-122"/>
                <a:cs typeface="Segoe UI" pitchFamily="34" charset="-120"/>
              </a:rPr>
              <a:t>State from frame inputs</a:t>
            </a:r>
            <a:endParaRPr lang="en-US" sz="2000" dirty="0"/>
          </a:p>
          <a:p>
            <a:pPr indent="0" marL="0">
              <a:buNone/>
            </a:pPr>
            <a:r>
              <a:rPr lang="en-US" sz="2000" dirty="0">
                <a:solidFill>
                  <a:srgbClr val="242424"/>
                </a:solidFill>
                <a:latin typeface="Segoe UI" pitchFamily="34" charset="0"/>
                <a:ea typeface="Segoe UI" pitchFamily="34" charset="-122"/>
                <a:cs typeface="Segoe UI" pitchFamily="34" charset="-120"/>
              </a:rPr>
              <a:t>Browser → FFmpeg</a:t>
            </a:r>
            <a:endParaRPr lang="en-US" sz="2000" dirty="0"/>
          </a:p>
        </p:txBody>
      </p:sp>
      <p:sp>
        <p:nvSpPr>
          <p:cNvPr id="15" name="Shape 13"/>
          <p:cNvSpPr/>
          <p:nvPr/>
        </p:nvSpPr>
        <p:spPr>
          <a:xfrm>
            <a:off x="3858768" y="3154680"/>
            <a:ext cx="576072" cy="0"/>
          </a:xfrm>
          <a:prstGeom prst="line">
            <a:avLst/>
          </a:prstGeom>
          <a:noFill/>
          <a:ln w="30480">
            <a:solidFill>
              <a:srgbClr val="5C5C5C"/>
            </a:solidFill>
            <a:prstDash val="solid"/>
            <a:headEnd type="none"/>
            <a:tailEnd type="triangle"/>
          </a:ln>
        </p:spPr>
      </p:sp>
      <p:sp>
        <p:nvSpPr>
          <p:cNvPr id="16" name="Shape 14"/>
          <p:cNvSpPr/>
          <p:nvPr/>
        </p:nvSpPr>
        <p:spPr>
          <a:xfrm>
            <a:off x="7699248" y="3154680"/>
            <a:ext cx="576072" cy="0"/>
          </a:xfrm>
          <a:prstGeom prst="line">
            <a:avLst/>
          </a:prstGeom>
          <a:noFill/>
          <a:ln w="30480">
            <a:solidFill>
              <a:srgbClr val="5C5C5C"/>
            </a:solidFill>
            <a:prstDash val="solid"/>
            <a:headEnd type="none"/>
            <a:tailEnd type="triangle"/>
          </a:ln>
        </p:spPr>
      </p:sp>
      <p:sp>
        <p:nvSpPr>
          <p:cNvPr id="17" name="Text 15"/>
          <p:cNvSpPr/>
          <p:nvPr/>
        </p:nvSpPr>
        <p:spPr>
          <a:xfrm>
            <a:off x="731520" y="4572000"/>
            <a:ext cx="10789920" cy="594360"/>
          </a:xfrm>
          <a:prstGeom prst="rect">
            <a:avLst/>
          </a:prstGeom>
          <a:noFill/>
          <a:ln/>
        </p:spPr>
        <p:txBody>
          <a:bodyPr wrap="square" lIns="0" tIns="0" rIns="0" bIns="0" rtlCol="0" anchor="ctr"/>
          <a:lstStyle/>
          <a:p>
            <a:pPr indent="0" marL="0">
              <a:buNone/>
            </a:pPr>
            <a:r>
              <a:rPr lang="en-US" sz="2700" b="1" dirty="0">
                <a:solidFill>
                  <a:srgbClr val="B11F4B"/>
                </a:solidFill>
                <a:latin typeface="Segoe UI" pitchFamily="34" charset="0"/>
                <a:ea typeface="Segoe UI" pitchFamily="34" charset="-122"/>
                <a:cs typeface="Segoe UI" pitchFamily="34" charset="-120"/>
              </a:rPr>
              <a:t>1280 × 720 · 30 fps · H.264/AAC · segment-level captions</a:t>
            </a:r>
            <a:endParaRPr lang="en-US" sz="2700" dirty="0"/>
          </a:p>
        </p:txBody>
      </p:sp>
      <p:sp>
        <p:nvSpPr>
          <p:cNvPr id="18" name="Text 16"/>
          <p:cNvSpPr/>
          <p:nvPr/>
        </p:nvSpPr>
        <p:spPr>
          <a:xfrm>
            <a:off x="731520" y="5394960"/>
            <a:ext cx="10789920" cy="502920"/>
          </a:xfrm>
          <a:prstGeom prst="rect">
            <a:avLst/>
          </a:prstGeom>
          <a:noFill/>
          <a:ln/>
        </p:spPr>
        <p:txBody>
          <a:bodyPr wrap="square" lIns="0" tIns="0" rIns="0" bIns="0" rtlCol="0" anchor="ctr"/>
          <a:lstStyle/>
          <a:p>
            <a:pPr indent="0" marL="0">
              <a:buNone/>
            </a:pPr>
            <a:r>
              <a:rPr lang="en-US" sz="2100" dirty="0">
                <a:solidFill>
                  <a:srgbClr val="242424"/>
                </a:solidFill>
                <a:latin typeface="Segoe UI" pitchFamily="34" charset="0"/>
                <a:ea typeface="Segoe UI" pitchFamily="34" charset="-122"/>
                <a:cs typeface="Segoe UI" pitchFamily="34" charset="-120"/>
              </a:rPr>
              <a:t>External speech consent is separate. A source edit invalidates the old plan/audio binding.</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92929"/>
        </a:solidFill>
      </p:bgPr>
    </p:bg>
    <p:spTree>
      <p:nvGrpSpPr>
        <p:cNvPr id="1" name=""/>
        <p:cNvGrpSpPr/>
        <p:nvPr/>
      </p:nvGrpSpPr>
      <p:grpSpPr>
        <a:xfrm>
          <a:off x="0" y="0"/>
          <a:ext cx="0" cy="0"/>
          <a:chOff x="0" y="0"/>
          <a:chExt cx="0" cy="0"/>
        </a:xfrm>
      </p:grpSpPr>
      <p:sp>
        <p:nvSpPr>
          <p:cNvPr id="2" name="Text 0"/>
          <p:cNvSpPr/>
          <p:nvPr/>
        </p:nvSpPr>
        <p:spPr>
          <a:xfrm>
            <a:off x="548640" y="256032"/>
            <a:ext cx="4572000" cy="274320"/>
          </a:xfrm>
          <a:prstGeom prst="rect">
            <a:avLst/>
          </a:prstGeom>
          <a:noFill/>
          <a:ln/>
        </p:spPr>
        <p:txBody>
          <a:bodyPr wrap="square" lIns="0" tIns="0" rIns="0" bIns="0" rtlCol="0" anchor="ctr"/>
          <a:lstStyle/>
          <a:p>
            <a:pPr indent="0" marL="0">
              <a:buNone/>
            </a:pPr>
            <a:r>
              <a:rPr lang="en-US" sz="1200" b="1" dirty="0">
                <a:solidFill>
                  <a:srgbClr val="FD8EA1"/>
                </a:solidFill>
                <a:latin typeface="Segoe UI" pitchFamily="34" charset="0"/>
                <a:ea typeface="Segoe UI" pitchFamily="34" charset="-122"/>
                <a:cs typeface="Segoe UI" pitchFamily="34" charset="-120"/>
              </a:rPr>
              <a:t>AHA / 10</a:t>
            </a:r>
            <a:endParaRPr lang="en-US" sz="1200" dirty="0"/>
          </a:p>
        </p:txBody>
      </p:sp>
      <p:sp>
        <p:nvSpPr>
          <p:cNvPr id="3" name="Text 1"/>
          <p:cNvSpPr/>
          <p:nvPr/>
        </p:nvSpPr>
        <p:spPr>
          <a:xfrm>
            <a:off x="548640" y="777240"/>
            <a:ext cx="11064240" cy="960120"/>
          </a:xfrm>
          <a:prstGeom prst="rect">
            <a:avLst/>
          </a:prstGeom>
          <a:noFill/>
          <a:ln/>
        </p:spPr>
        <p:txBody>
          <a:bodyPr wrap="square" lIns="0" tIns="0" rIns="0" bIns="0" rtlCol="0" anchor="ctr"/>
          <a:lstStyle/>
          <a:p>
            <a:pPr indent="0" marL="0">
              <a:buNone/>
            </a:pPr>
            <a:r>
              <a:rPr lang="en-US" sz="3600" b="1" dirty="0">
                <a:solidFill>
                  <a:srgbClr val="DEDEDE"/>
                </a:solidFill>
                <a:latin typeface="Segoe UI" pitchFamily="34" charset="0"/>
                <a:ea typeface="Segoe UI" pitchFamily="34" charset="-122"/>
                <a:cs typeface="Segoe UI" pitchFamily="34" charset="-120"/>
              </a:rPr>
              <a:t>Preserve evidence. Design relationships. Inspect results.</a:t>
            </a:r>
            <a:endParaRPr lang="en-US" sz="3600" dirty="0"/>
          </a:p>
        </p:txBody>
      </p:sp>
      <p:sp>
        <p:nvSpPr>
          <p:cNvPr id="4" name="Text 2"/>
          <p:cNvSpPr/>
          <p:nvPr/>
        </p:nvSpPr>
        <p:spPr>
          <a:xfrm>
            <a:off x="548640" y="6254496"/>
            <a:ext cx="10789920" cy="292608"/>
          </a:xfrm>
          <a:prstGeom prst="rect">
            <a:avLst/>
          </a:prstGeom>
          <a:noFill/>
          <a:ln/>
        </p:spPr>
        <p:txBody>
          <a:bodyPr wrap="square" lIns="0" tIns="0" rIns="0" bIns="0" rtlCol="0" anchor="ctr"/>
          <a:lstStyle/>
          <a:p>
            <a:pPr indent="0" marL="0">
              <a:buNone/>
            </a:pPr>
            <a:r>
              <a:rPr lang="en-US" sz="1000" dirty="0">
                <a:solidFill>
                  <a:srgbClr val="DEDEDE"/>
                </a:solidFill>
                <a:latin typeface="Segoe UI" pitchFamily="34" charset="0"/>
                <a:ea typeface="Segoe UI" pitchFamily="34" charset="-122"/>
                <a:cs typeface="Segoe UI" pitchFamily="34" charset="-120"/>
              </a:rPr>
              <a:t>Source: Aha 31ff1331 · structural checks do not establish understanding</a:t>
            </a:r>
            <a:endParaRPr lang="en-US" sz="1000" dirty="0"/>
          </a:p>
        </p:txBody>
      </p:sp>
      <p:sp>
        <p:nvSpPr>
          <p:cNvPr id="5" name="Text 3"/>
          <p:cNvSpPr/>
          <p:nvPr/>
        </p:nvSpPr>
        <p:spPr>
          <a:xfrm>
            <a:off x="11155680" y="6254496"/>
            <a:ext cx="457200" cy="292608"/>
          </a:xfrm>
          <a:prstGeom prst="rect">
            <a:avLst/>
          </a:prstGeom>
          <a:noFill/>
          <a:ln/>
        </p:spPr>
        <p:txBody>
          <a:bodyPr wrap="square" lIns="0" tIns="0" rIns="0" bIns="0" rtlCol="0" anchor="ctr"/>
          <a:lstStyle/>
          <a:p>
            <a:pPr indent="0" marL="0">
              <a:buNone/>
            </a:pPr>
            <a:r>
              <a:rPr lang="en-US" sz="1100" dirty="0">
                <a:solidFill>
                  <a:srgbClr val="DEDEDE"/>
                </a:solidFill>
                <a:latin typeface="Segoe UI" pitchFamily="34" charset="0"/>
                <a:ea typeface="Segoe UI" pitchFamily="34" charset="-122"/>
                <a:cs typeface="Segoe UI" pitchFamily="34" charset="-120"/>
              </a:rPr>
              <a:t>10</a:t>
            </a:r>
            <a:endParaRPr lang="en-US" sz="1100" dirty="0"/>
          </a:p>
        </p:txBody>
      </p:sp>
      <p:sp>
        <p:nvSpPr>
          <p:cNvPr id="6" name="Text 4"/>
          <p:cNvSpPr/>
          <p:nvPr/>
        </p:nvSpPr>
        <p:spPr>
          <a:xfrm>
            <a:off x="731520" y="2057400"/>
            <a:ext cx="2468880" cy="457200"/>
          </a:xfrm>
          <a:prstGeom prst="rect">
            <a:avLst/>
          </a:prstGeom>
          <a:noFill/>
          <a:ln/>
        </p:spPr>
        <p:txBody>
          <a:bodyPr wrap="square" lIns="0" tIns="0" rIns="0" bIns="0" rtlCol="0" anchor="ctr"/>
          <a:lstStyle/>
          <a:p>
            <a:pPr indent="0" marL="0">
              <a:buNone/>
            </a:pPr>
            <a:r>
              <a:rPr lang="en-US" sz="2000" b="1" dirty="0">
                <a:solidFill>
                  <a:srgbClr val="FD8EA1"/>
                </a:solidFill>
                <a:latin typeface="Segoe UI" pitchFamily="34" charset="0"/>
                <a:ea typeface="Segoe UI" pitchFamily="34" charset="-122"/>
                <a:cs typeface="Segoe UI" pitchFamily="34" charset="-120"/>
              </a:rPr>
              <a:t>RESEARCH</a:t>
            </a:r>
            <a:endParaRPr lang="en-US" sz="2000" dirty="0"/>
          </a:p>
        </p:txBody>
      </p:sp>
      <p:sp>
        <p:nvSpPr>
          <p:cNvPr id="7" name="Text 5"/>
          <p:cNvSpPr/>
          <p:nvPr/>
        </p:nvSpPr>
        <p:spPr>
          <a:xfrm>
            <a:off x="3429000" y="2011680"/>
            <a:ext cx="7498080" cy="640080"/>
          </a:xfrm>
          <a:prstGeom prst="rect">
            <a:avLst/>
          </a:prstGeom>
          <a:noFill/>
          <a:ln/>
        </p:spPr>
        <p:txBody>
          <a:bodyPr wrap="square" lIns="0" tIns="0" rIns="0" bIns="0" rtlCol="0" anchor="ctr"/>
          <a:lstStyle/>
          <a:p>
            <a:pPr indent="0" marL="0">
              <a:buNone/>
            </a:pPr>
            <a:r>
              <a:rPr lang="en-US" sz="2900" dirty="0">
                <a:solidFill>
                  <a:srgbClr val="DEDEDE"/>
                </a:solidFill>
                <a:latin typeface="Segoe UI" pitchFamily="34" charset="0"/>
                <a:ea typeface="Segoe UI" pitchFamily="34" charset="-122"/>
                <a:cs typeface="Segoe UI" pitchFamily="34" charset="-120"/>
              </a:rPr>
              <a:t>Is the answer supported?</a:t>
            </a:r>
            <a:endParaRPr lang="en-US" sz="2900" dirty="0"/>
          </a:p>
        </p:txBody>
      </p:sp>
      <p:sp>
        <p:nvSpPr>
          <p:cNvPr id="8" name="Text 6"/>
          <p:cNvSpPr/>
          <p:nvPr/>
        </p:nvSpPr>
        <p:spPr>
          <a:xfrm>
            <a:off x="731520" y="3108960"/>
            <a:ext cx="2468880" cy="457200"/>
          </a:xfrm>
          <a:prstGeom prst="rect">
            <a:avLst/>
          </a:prstGeom>
          <a:noFill/>
          <a:ln/>
        </p:spPr>
        <p:txBody>
          <a:bodyPr wrap="square" lIns="0" tIns="0" rIns="0" bIns="0" rtlCol="0" anchor="ctr"/>
          <a:lstStyle/>
          <a:p>
            <a:pPr indent="0" marL="0">
              <a:buNone/>
            </a:pPr>
            <a:r>
              <a:rPr lang="en-US" sz="2000" b="1" dirty="0">
                <a:solidFill>
                  <a:srgbClr val="FD8EA1"/>
                </a:solidFill>
                <a:latin typeface="Segoe UI" pitchFamily="34" charset="0"/>
                <a:ea typeface="Segoe UI" pitchFamily="34" charset="-122"/>
                <a:cs typeface="Segoe UI" pitchFamily="34" charset="-120"/>
              </a:rPr>
              <a:t>AUTHOR</a:t>
            </a:r>
            <a:endParaRPr lang="en-US" sz="2000" dirty="0"/>
          </a:p>
        </p:txBody>
      </p:sp>
      <p:sp>
        <p:nvSpPr>
          <p:cNvPr id="9" name="Text 7"/>
          <p:cNvSpPr/>
          <p:nvPr/>
        </p:nvSpPr>
        <p:spPr>
          <a:xfrm>
            <a:off x="3429000" y="3063240"/>
            <a:ext cx="7498080" cy="640080"/>
          </a:xfrm>
          <a:prstGeom prst="rect">
            <a:avLst/>
          </a:prstGeom>
          <a:noFill/>
          <a:ln/>
        </p:spPr>
        <p:txBody>
          <a:bodyPr wrap="square" lIns="0" tIns="0" rIns="0" bIns="0" rtlCol="0" anchor="ctr"/>
          <a:lstStyle/>
          <a:p>
            <a:pPr indent="0" marL="0">
              <a:buNone/>
            </a:pPr>
            <a:r>
              <a:rPr lang="en-US" sz="2900" dirty="0">
                <a:solidFill>
                  <a:srgbClr val="DEDEDE"/>
                </a:solidFill>
                <a:latin typeface="Segoe UI" pitchFamily="34" charset="0"/>
                <a:ea typeface="Segoe UI" pitchFamily="34" charset="-122"/>
                <a:cs typeface="Segoe UI" pitchFamily="34" charset="-120"/>
              </a:rPr>
              <a:t>Does this medium explain it?</a:t>
            </a:r>
            <a:endParaRPr lang="en-US" sz="2900" dirty="0"/>
          </a:p>
        </p:txBody>
      </p:sp>
      <p:sp>
        <p:nvSpPr>
          <p:cNvPr id="10" name="Text 8"/>
          <p:cNvSpPr/>
          <p:nvPr/>
        </p:nvSpPr>
        <p:spPr>
          <a:xfrm>
            <a:off x="731520" y="4160520"/>
            <a:ext cx="2468880" cy="457200"/>
          </a:xfrm>
          <a:prstGeom prst="rect">
            <a:avLst/>
          </a:prstGeom>
          <a:noFill/>
          <a:ln/>
        </p:spPr>
        <p:txBody>
          <a:bodyPr wrap="square" lIns="0" tIns="0" rIns="0" bIns="0" rtlCol="0" anchor="ctr"/>
          <a:lstStyle/>
          <a:p>
            <a:pPr indent="0" marL="0">
              <a:buNone/>
            </a:pPr>
            <a:r>
              <a:rPr lang="en-US" sz="2000" b="1" dirty="0">
                <a:solidFill>
                  <a:srgbClr val="FD8EA1"/>
                </a:solidFill>
                <a:latin typeface="Segoe UI" pitchFamily="34" charset="0"/>
                <a:ea typeface="Segoe UI" pitchFamily="34" charset="-122"/>
                <a:cs typeface="Segoe UI" pitchFamily="34" charset="-120"/>
              </a:rPr>
              <a:t>REVIEW</a:t>
            </a:r>
            <a:endParaRPr lang="en-US" sz="2000" dirty="0"/>
          </a:p>
        </p:txBody>
      </p:sp>
      <p:sp>
        <p:nvSpPr>
          <p:cNvPr id="11" name="Text 9"/>
          <p:cNvSpPr/>
          <p:nvPr/>
        </p:nvSpPr>
        <p:spPr>
          <a:xfrm>
            <a:off x="3429000" y="4114800"/>
            <a:ext cx="7498080" cy="640080"/>
          </a:xfrm>
          <a:prstGeom prst="rect">
            <a:avLst/>
          </a:prstGeom>
          <a:noFill/>
          <a:ln/>
        </p:spPr>
        <p:txBody>
          <a:bodyPr wrap="square" lIns="0" tIns="0" rIns="0" bIns="0" rtlCol="0" anchor="ctr"/>
          <a:lstStyle/>
          <a:p>
            <a:pPr indent="0" marL="0">
              <a:buNone/>
            </a:pPr>
            <a:r>
              <a:rPr lang="en-US" sz="2900" dirty="0">
                <a:solidFill>
                  <a:srgbClr val="DEDEDE"/>
                </a:solidFill>
                <a:latin typeface="Segoe UI" pitchFamily="34" charset="0"/>
                <a:ea typeface="Segoe UI" pitchFamily="34" charset="-122"/>
                <a:cs typeface="Segoe UI" pitchFamily="34" charset="-120"/>
              </a:rPr>
              <a:t>Does the real output work?</a:t>
            </a:r>
            <a:endParaRPr lang="en-US" sz="2900" dirty="0"/>
          </a:p>
        </p:txBody>
      </p:sp>
      <p:sp>
        <p:nvSpPr>
          <p:cNvPr id="12" name="Text 10"/>
          <p:cNvSpPr/>
          <p:nvPr/>
        </p:nvSpPr>
        <p:spPr>
          <a:xfrm>
            <a:off x="731520" y="5513832"/>
            <a:ext cx="10789920" cy="438912"/>
          </a:xfrm>
          <a:prstGeom prst="rect">
            <a:avLst/>
          </a:prstGeom>
          <a:noFill/>
          <a:ln/>
        </p:spPr>
        <p:txBody>
          <a:bodyPr wrap="square" lIns="0" tIns="0" rIns="0" bIns="0" rtlCol="0" anchor="ctr"/>
          <a:lstStyle/>
          <a:p>
            <a:pPr indent="0" marL="0">
              <a:buNone/>
            </a:pPr>
            <a:r>
              <a:rPr lang="en-US" sz="2300" dirty="0">
                <a:solidFill>
                  <a:srgbClr val="FD8EA1"/>
                </a:solidFill>
                <a:latin typeface="Segoe UI" pitchFamily="34" charset="0"/>
                <a:ea typeface="Segoe UI" pitchFamily="34" charset="-122"/>
                <a:cs typeface="Segoe UI" pitchFamily="34" charset="-120"/>
              </a:rPr>
              <a:t>Two skills support the process. Neither replaces its judgments.</a:t>
            </a:r>
            <a:endParaRPr lang="en-US" sz="2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Aha: from evidence to editable explanation</dc:title>
  <dc:subject>A source-grounded introduction to two portable skills</dc:subject>
  <dc:creator>Aha example refresh · original native authoring</dc:creator>
  <cp:lastModifiedBy>Aha example refresh · original native authoring</cp:lastModifiedBy>
  <cp:revision>1</cp:revision>
  <dcterms:created xsi:type="dcterms:W3CDTF">2026-09-16T06:27:01Z</dcterms:created>
  <dcterms:modified xsi:type="dcterms:W3CDTF">2026-09-16T06:27:01Z</dcterms:modified>
</cp:coreProperties>
</file>